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74" r:id="rId4"/>
    <p:sldId id="260" r:id="rId5"/>
    <p:sldId id="275" r:id="rId6"/>
    <p:sldId id="276" r:id="rId7"/>
    <p:sldId id="265" r:id="rId8"/>
    <p:sldId id="266" r:id="rId9"/>
    <p:sldId id="267" r:id="rId10"/>
    <p:sldId id="273" r:id="rId11"/>
    <p:sldId id="269" r:id="rId12"/>
    <p:sldId id="270" r:id="rId13"/>
    <p:sldId id="272"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CBCBCB"/>
    <a:srgbClr val="D68910"/>
    <a:srgbClr val="E8C0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850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today I want to walk you through 'Attention Is All You Need', the 2017 NeurIPS paper from Vaswani and colleagues at Google that introduced the Transformer.
I picked this paper because, even though it's a machine translation paper on its face, it's arguably the single most influential architecture paper of the last decade — it's the backbone of BERT and GPT on the language side, and, since this is a computer vision interview, it's also the direct ancestor of Vision Transformers, CLIP, and SAM. So understanding this paper deeply is really understanding the shared foundation of modern language and vision models.
My plan is to build up intuition first — why the field needed this, what attention actually means — before we touch any equations, and then go block by block through the architecture, and finish with how it connects directly to computer vision.
A question I sometimes get here: 'Why read a 2017 NLP paper for a vision role?' My answer: because the Vision Transformer paper explicitly reuses this encoder unchanged — you can't really understand ViT, or CLIP, or SAM's image encoder, without understanding this paper first.
Let's start with the problem this paper was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Transformers, sequence modeling meant RNNs and LSTMs — you all know these well from the deep learning side. They read a sentence one token at a time, and each hidden state depends on the previous one. That recurrence was actually the whole point — it's how they captured order and context.
But that same recurrence is also their biggest weakness, for three concrete reasons. First, sequential computation: you literally cannot compute hidden state 50 before hidden state 49 is done, so you can't parallelize across time steps even with a huge GPU sitting idle. Second, long-range dependencies: information from early in the sentence has to survive many sequential transformations to influence something much later, and gradients tend to vanish over that many steps — that's why LSTMs needed gates in the first place, and even they struggle past a few dozen tokens. Third, all of this makes training slow, which becomes a real bottleneck once you want to scale up to internet-size corpora.
The diagram on the right makes this concrete: to connect 'it' back to 'animal' ten words earlier, information has to pass through every single intermediate step.
Likely question: 'Didn't attention mechanisms already exist before this paper?' Suggested answer: yes — Bahdanau attention (2014) added attention on top of an RNN encoder-decoder. This paper's radical move was asking: what if we removed the recurrence entirely and used attention as the only mechanism?
That question is exactly where we're headed next — what is attention, really?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2E2A7-99E5-FE31-69D0-6AE815288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85587-AD10-7739-8E70-FD1194924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98CED-DF2A-A69E-17F1-925D0015B897}"/>
              </a:ext>
            </a:extLst>
          </p:cNvPr>
          <p:cNvSpPr>
            <a:spLocks noGrp="1"/>
          </p:cNvSpPr>
          <p:nvPr>
            <p:ph type="body" idx="1"/>
          </p:nvPr>
        </p:nvSpPr>
        <p:spPr/>
        <p:txBody>
          <a:bodyPr/>
          <a:lstStyle/>
          <a:p>
            <a:r>
              <a:rPr lang="en-US" dirty="0"/>
              <a:t>Let's build intuition with a sentence: 'The animal didn't cross the street because it was too tired.' When you read the word 'it', you instantly know it refers to 'animal', not 'street', even though grammatically either is possible.
Attention formalizes exactly that instinct. For every word, we let the model look at every other word in the sentence and assign a learned weight to how relevant each one is. In the diagram, the tall amber bar over 'animal' represents a high attention weight from the word 'it' — the model has learned that 'tired' is a property much more likely to describe an animal than a street.
The key shift in mindset: attention isn't a fixed rule, it's learned. During training, the model discovers which words should attend to which other words in order to make good predictions.
Common question: 'Is this the same attention used in earlier seq2seq models?' Suggested answer: same core idea — compatibility scores turned into a weighted sum — but this paper is the first to make attention the entire mechanism, rather than a helper bolted onto an RNN.
Next, let's see what happens when we apply this idea not just between encoder and decoder, but within a single sequence — that's self-attention.</a:t>
            </a:r>
          </a:p>
        </p:txBody>
      </p:sp>
      <p:sp>
        <p:nvSpPr>
          <p:cNvPr id="4" name="Slide Number Placeholder 3">
            <a:extLst>
              <a:ext uri="{FF2B5EF4-FFF2-40B4-BE49-F238E27FC236}">
                <a16:creationId xmlns:a16="http://schemas.microsoft.com/office/drawing/2014/main" id="{5DBD3432-69F1-1640-3092-4C779D3A09B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70040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 I want you to have this mental map before we zoom into any single block. It's an encoder-decoder architecture, the same high-level shape as classic seq2seq models, but every recurrent layer has been replaced by self-attention plus a feed-forward network.
On the left, the encoder stack takes the whole input sentence at once, embeds it, adds positional information, and runs it through 6 identical layers of self-attention and feed-forward processing. On the right, the decoder does something similar but adds a third sub-layer — encoder-decoder attention — so it can look back at the encoder's output while generating. The decoder also generates one token at a time, feeding its own previous output back in, which is why it's called autoregressive.
The amber-highlighted blocks are the attention layers — that's the mechanism doing all the real relational reasoning. Everything else — embeddings, normalization, feed-forward — exists to support that mechanism.
Anticipated question: 'Why 6 layers specifically?' Suggested answer: it's an empirical choice the authors tuned — Table 3 in the paper shows deeper isn't always better and there's a trade-off with training time; 6 was a sweet spot for their datasets.
Let's open up the encoder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F7EB-B194-E533-E471-2FE222C60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7BE23-6C9E-CE68-5097-9DD1E18FD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58C7A-0947-F6C3-3789-17BC42FCF91E}"/>
              </a:ext>
            </a:extLst>
          </p:cNvPr>
          <p:cNvSpPr>
            <a:spLocks noGrp="1"/>
          </p:cNvSpPr>
          <p:nvPr>
            <p:ph type="body" idx="1"/>
          </p:nvPr>
        </p:nvSpPr>
        <p:spPr/>
        <p:txBody>
          <a:bodyPr/>
          <a:lstStyle/>
          <a:p>
            <a:r>
              <a:rPr lang="en-US" dirty="0"/>
              <a:t>Let's go block by block, and for each one I'll answer 'why does this exist'.
Input embedding turns each token into a 512-dimensional vector — standard practice, nets need numbers not words. Positional encoding is added right after, because without recurrence the model has zero information about word order otherwise — we'll dedicate a full slide to this shortly. Multi-head self-attention is the heart of the layer: every token gathers context from every other token. Then we have a residual connection, x plus Sublayer(x), which matters a lot in a 6-layer-deep stack — it gives gradients a direct path backward and prevents them from vanishing, exactly the same motivation as ResNets in vision. Layer normalization re-scales activations after that addition, which stabilizes and speeds up training. And finally a position-wise feed-forward network — two linear layers with a ReLU in between, applied independently to each token — which gives the model extra non-linear capacity per token after the attention step has mixed information across tokens.
The recipe at the bottom — LayerNorm(x + Sublayer(x)) — is applied after both the attention sub-layer and the feed-forward sub-layer, and this whole block is stacked 6 times.
Likely question: 'Why residual connections specifically, rather than just going deeper?' Suggested answer: without them, gradients would have to backpropagate through 6 attention and 6 feed-forward transformations unassisted, which is exactly the vanishing-gradient problem that made very deep networks hard to train before residual connections became standard.
Now let's look at the decoder, which reuses this structure but adds one important twist.</a:t>
            </a:r>
          </a:p>
        </p:txBody>
      </p:sp>
      <p:sp>
        <p:nvSpPr>
          <p:cNvPr id="4" name="Slide Number Placeholder 3">
            <a:extLst>
              <a:ext uri="{FF2B5EF4-FFF2-40B4-BE49-F238E27FC236}">
                <a16:creationId xmlns:a16="http://schemas.microsoft.com/office/drawing/2014/main" id="{3E264189-204D-7AFB-2AB8-ECD710F551D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13823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1683A-1BDF-CA34-4E8A-CDF11B2C9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4277D-A1BE-531A-6FDF-A3F99939D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E6E9F4-DC54-A03D-564E-4478EA4A9706}"/>
              </a:ext>
            </a:extLst>
          </p:cNvPr>
          <p:cNvSpPr>
            <a:spLocks noGrp="1"/>
          </p:cNvSpPr>
          <p:nvPr>
            <p:ph type="body" idx="1"/>
          </p:nvPr>
        </p:nvSpPr>
        <p:spPr/>
        <p:txBody>
          <a:bodyPr/>
          <a:lstStyle/>
          <a:p>
            <a:r>
              <a:rPr lang="en-US" dirty="0"/>
              <a:t>Query, Key, Value trips people up the first time, so let's ground it with an analogy before touching any math. Think of searching a library: you type a query — what you want. Every book has a key — essentially its index label. You compare your query against every key to get a relevance score, and then you actually read the value — the book's content — weighted by how relevant it was.
In the Transformer, every token produces all three of these: a query vector (what am I looking for), a key vector (what do I offer as a match target), and a value vector (what information do I actually contribute). Critically, these are three different learned projections of the same input — not three different inputs.
In practice we don't do this one token at a time — we stack every token's embedding into a matrix X and multiply by three learned weight matrices to get Q, K, and V all at once. Those weight matrices are what training actually learns — the model discovers what makes a useful query, key, and value for the task.
Likely question: 'Why do we need three separate projections instead of just using the embedding directly?' Suggested answer: it decouples 'what I'm asking about' from 'what I offer as a match' from 'what content I actually carry' — that separation gives the model much more flexibility than reusing the same vector for all three roles.
With Q, K, and V defined, we're ready for the actual attention formula — scaled dot-product attention.</a:t>
            </a:r>
          </a:p>
        </p:txBody>
      </p:sp>
      <p:sp>
        <p:nvSpPr>
          <p:cNvPr id="4" name="Slide Number Placeholder 3">
            <a:extLst>
              <a:ext uri="{FF2B5EF4-FFF2-40B4-BE49-F238E27FC236}">
                <a16:creationId xmlns:a16="http://schemas.microsoft.com/office/drawing/2014/main" id="{69B8473C-8C22-5EFF-3851-E07A959498B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58774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attention head has a real limitation: it produces exactly one weighted average per token, computed one particular way. Averaging is inherently a blending operation, so a single head has to compromise if it needs to track multiple distinct relationships at once — say, grammatical agreement and coreference and topical similarity all at the same time.
The fix is multi-head attention: instead of one attention function operating on the full 512-dimensional Q, K, V, the authors project queries, keys and values h=8 different times, into 8 smaller, independently-learned subspaces, and run scaled dot-product attention on each one in parallel. Each head only has dk = dv = 64 dimensions — that's 512 divided by 8 — so despite having 8 heads, the total computation stays comparable to a single full-size head.
Empirically this matters: Table 3 in the paper shows single-head attention is about 0.9 BLEU worse than the best multi-head configuration, and quality also drops if you use too many heads with too little dimension per head.
After running the 8 heads, we concatenate their outputs side by side and pass the result through one more learned linear layer, WO, which mixes information across heads into the final output.
Likely question: 'What do different heads actually learn?' Suggested answer: the appendix visualizations in the paper show some heads specializing in syntactic relationships, others in coreference-like patterns — different heads genuinely learn to attend to different types of structure.
We've now covered how attention finds relationships between tokens. But attention alone can't tell tokens apart by position — that's our next topic.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subtlety that's easy to miss: self-attention, as we've described it, is actually permutation-invariant — if you shuffled the input tokens, the set of pairwise attention computations would be identical, just relabeled. But word order obviously carries meaning, so we need to inject it somehow.
The paper's solution: at the very bottom of the encoder and decoder, before any attention happens, add a positional encoding vector directly to each token's embedding. They use fixed sine and cosine functions at different frequencies for each embedding dimension, rather than learning the position embeddings — shown in the two-line formula on the left. Each dimension of the positional vector is a sinusoid with a different wavelength, and those wavelengths form a geometric progression from 2π up to 10000 times 2π, so low-index dimensions oscillate quickly and encode fine position detail, while high-index dimensions oscillate slowly and encode coarse position detail — that's what the colored waves in the diagram represent.
Why sinusoids and not just learned position embeddings? Two reasons the paper gives: this fixed form lets the model represent a relative shift, position pos+k, as a linear function of position pos, which the authors hypothesized would make it easy for the model to learn to attend by relative position; and because it's a closed-form function rather than a lookup table, it can in principle generalize to sequence lengths longer than anything seen in training. Table 3 row (E) confirms learned positional embeddings perform nearly identically, so it's really a practical choice, not a huge quality difference.
Likely question: 'Doesn't this feel a bit arbitrary?' Fair pushback — the honest answer is that it's an engineering choice validated empirically; many later Transformer variants use different positional schemes, like relative position encodings or rotary embeddings, that build on this same core idea.
With the full mechanism covered, let's step back and compare this whole approach against the RNNs it replaced.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the comparison precise, because this table — taken directly from the paper's Section 4 — is the crux of the argument for why Transformers train faster.
Per-layer complexity: recurrent layers cost O(n·d²), self-attention costs O(n²·d). Whether self-attention is actually cheaper depends on whether n or d is bigger — and for typical sentence-length sequences using subword tokenization, n is usually smaller than d, so self-attention often wins on raw compute too, not just parallelism.
Sequential operations: this is the real story. Recurrent networks require O(n) sequential steps that cannot be parallelized within a training example — you must finish step t before starting t+1. Self-attention requires O(1) sequential steps — every position can be computed simultaneously. This is why Transformers train so much faster on modern hardware, even though the total FLOP count isn't dramatically different.
Maximum path length: O(n) for recurrence versus O(1) for self-attention, which is the direct fix for the long-range dependency problem we opened the whole talk with.
I've also added qualitative rows on interpretability, since attention weights can literally be visualized as a heatmap over the input, which the paper does in its appendix, unlike an RNN's opaque hidden state.
Anticipated question: 'Is self-attention always faster in practice?' Suggested answer: not for very long sequences — the paper itself notes that beyond a certain length, the O(n²) term dominates, which is exactly why they mention restricted/local attention as a future direction, an idea that later efficient-attention research picked up.
Theory is convincing, but let's check what actually happened when they trained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5FBEA-0B61-CFD3-67FD-BFF4F2042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1AC8-0E47-B967-A6E5-29FE003F3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54111-A3E4-3159-B04C-130390EE27D0}"/>
              </a:ext>
            </a:extLst>
          </p:cNvPr>
          <p:cNvSpPr>
            <a:spLocks noGrp="1"/>
          </p:cNvSpPr>
          <p:nvPr>
            <p:ph type="body" idx="1"/>
          </p:nvPr>
        </p:nvSpPr>
        <p:spPr/>
        <p:txBody>
          <a:bodyPr/>
          <a:lstStyle/>
          <a:p>
            <a:r>
              <a:rPr lang="en-US" dirty="0"/>
              <a:t>Let's make the comparison precise, because this table — taken directly from the paper's Section 4 — is the crux of the argument for why Transformers train faster.
Per-layer complexity: recurrent layers cost O(n·d²), self-attention costs O(n²·d). Whether self-attention is actually cheaper depends on whether n or d is bigger — and for typical sentence-length sequences using subword tokenization, n is usually smaller than d, so self-attention often wins on raw compute too, not just parallelism.
Sequential operations: this is the real story. Recurrent networks require O(n) sequential steps that cannot be parallelized within a training example — you must finish step t before starting t+1. Self-attention requires O(1) sequential steps — every position can be computed simultaneously. This is why Transformers train so much faster on modern hardware, even though the total FLOP count isn't dramatically different.
Maximum path length: O(n) for recurrence versus O(1) for self-attention, which is the direct fix for the long-range dependency problem we opened the whole talk with.
I've also added qualitative rows on interpretability, since attention weights can literally be visualized as a heatmap over the input, which the paper does in its appendix, unlike an RNN's opaque hidden state.
Anticipated question: 'Is self-attention always faster in practice?' Suggested answer: not for very long sequences — the paper itself notes that beyond a certain length, the O(n²) term dominates, which is exactly why they mention restricted/local attention as a future direction, an idea that later efficient-attention research picked up.
Theory is convincing, but let's check what actually happened when they trained it.</a:t>
            </a:r>
          </a:p>
        </p:txBody>
      </p:sp>
      <p:sp>
        <p:nvSpPr>
          <p:cNvPr id="4" name="Slide Number Placeholder 3">
            <a:extLst>
              <a:ext uri="{FF2B5EF4-FFF2-40B4-BE49-F238E27FC236}">
                <a16:creationId xmlns:a16="http://schemas.microsoft.com/office/drawing/2014/main" id="{DFEC7360-C05D-8304-76D5-C8DB850E72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88720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most want to nail for a computer vision interview, because it's the bridge between everything we just covered and the vision models you'll actually be working with.
The key realization behind Vision Transformer, from Dosovitskiy and colleagues in 2021, is that nothing about self-attention is language-specific — it just operates on a sequence of vectors. So ViT asks: what if an image's 'words' were small patches of pixels?
Walking through the pipeline on the right: you start with an input image, split it into fixed-size patches — for example 16-by-16 pixels, hence the paper's title. Each patch is flattened into a vector and passed through a linear projection to get a patch embedding, exactly analogous to word embeddings. Positional embeddings are added, for the same reason as in this paper — attention has no inherent notion of spatial order, so a patch's position in the image has to be injected explicitly. A learnable [CLS] token is prepended to the sequence — borrowed from BERT — which acts as a summary representation of the whole image. All of this is fed through a Transformer encoder that is architecturally identical to the encoder in this paper: multi-head self-attention, add-and-norm, feed-forward, stacked N times. Finally, the [CLS] token's output representation goes through an MLP head to produce a classification.
Why does this matter for computer vision specifically? CNNs bake in strong assumptions — locality and translation invariance — directly into the convolution operation. ViT throws that inductive bias away and lets the model learn spatial relationships purely from data via attention. That's a trade-off: ViT typically needs more training data to match CNN performance on small datasets, but it scales significantly better with more data and compute — which is exactly the strength we highlighted earlier in this paper.
Likely question: 'Where else does this show up in vision?' Suggested answer: CLIP uses a Vision-Transformer-style image encoder aligned with a text encoder for zero-shot classification, and SAM (Segment Anything) uses a Vision Transformer backbone as its image encoder too — both are downstream descendants of this exact architecture.
Let's step back now and weigh the overall strengths of this approach.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things I'd want an interviewer to know I really understand about why this paper mattered.
First, simplicity — they deliberately stripped out recurrence and convolutions and showed attention alone is enough. Second, parallelism — because there's no step-by-step dependency, the whole sequence trains at once on a GPU. Third, it scales beautifully — bigger models, more data, more compute, and it just keeps getting better, which is exactly the property that led to today's large language models. Fourth, long-range dependencies are no longer a problem — O(1) path length means a word at position 1 and a word at position 1000 are equally easy to relate. Fifth, the empirical results were state of the art at a fraction of the cost. And sixth — this is really the big one — it's the direct architectural ancestor of BERT, GPT, Vision Transformers, CLIP, and SAM. Almost everything in modern AI traces back to this one idea.
Possible interviewer question: 'Which of these do you think mattered most for the field?' Suggested answer: probably parallelizable training combined with scalability — that combination is what made training much larger models economically feasible, which unlocked the scaling laws behind GPT-style models.
Nothing is free, though — let's look at the trade-offs.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paper's real contribution wasn't just a better translation score. It replaced recurrence with attention and made training fully parallelizable, which unlocked much larger models. It introduced self-attention as a general-purpose building block that doesn't care about modality — that's precisely why it works for text and for image patches. It's the direct ancestor of the LLM era through BERT and GPT, of modern computer vision through Vision Transformers, and of today's multimodal systems like CLIP and SAM.
If I had to summarize it in one line for an interview: this paper gave AI a single, scalable mechanism general enough to unify language, vision, and multimodal learning — and that's why, almost a decade later, we're still building on it directly.
Likely closing question: 'If you had to pick one idea from this paper to explain to a non-technical person, what would it be?' Suggested answer: scaled dot-product self-attention — the idea that a model can learn, for every piece of input, exactly how much attention to pay to every other piece, all at once, rather than reading things one at a time.
Happy to go deeper on any specific section — the math, the ViT connection, or the training details.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lumMod val="25000"/>
          </a:schemeClr>
        </a:solidFill>
        <a:effectLst/>
      </p:bgPr>
    </p:bg>
    <p:spTree>
      <p:nvGrpSpPr>
        <p:cNvPr id="1" name=""/>
        <p:cNvGrpSpPr/>
        <p:nvPr/>
      </p:nvGrpSpPr>
      <p:grpSpPr>
        <a:xfrm>
          <a:off x="0" y="0"/>
          <a:ext cx="0" cy="0"/>
          <a:chOff x="0" y="0"/>
          <a:chExt cx="0" cy="0"/>
        </a:xfrm>
      </p:grpSpPr>
      <p:sp>
        <p:nvSpPr>
          <p:cNvPr id="2" name="Text 0"/>
          <p:cNvSpPr/>
          <p:nvPr/>
        </p:nvSpPr>
        <p:spPr>
          <a:xfrm>
            <a:off x="548640" y="1508760"/>
            <a:ext cx="9144000" cy="320040"/>
          </a:xfrm>
          <a:prstGeom prst="rect">
            <a:avLst/>
          </a:prstGeom>
          <a:noFill/>
          <a:ln/>
        </p:spPr>
        <p:txBody>
          <a:bodyPr wrap="square" lIns="0" tIns="0" rIns="0" bIns="0" rtlCol="0" anchor="ctr"/>
          <a:lstStyle/>
          <a:p>
            <a:pPr marL="0" indent="0">
              <a:buNone/>
            </a:pPr>
            <a:r>
              <a:rPr lang="en-US" sz="1300" b="1" kern="0" spc="200" dirty="0">
                <a:solidFill>
                  <a:srgbClr val="D68910"/>
                </a:solidFill>
                <a:latin typeface="Calibri" pitchFamily="34" charset="0"/>
                <a:ea typeface="Calibri" pitchFamily="34" charset="-122"/>
                <a:cs typeface="Calibri" pitchFamily="34" charset="-120"/>
              </a:rPr>
              <a:t>NEURIPS 2017  ·  GOOGLE BRAIN / GOOGLE RESEARCH</a:t>
            </a:r>
            <a:endParaRPr lang="en-US" sz="1300" dirty="0"/>
          </a:p>
        </p:txBody>
      </p:sp>
      <p:sp>
        <p:nvSpPr>
          <p:cNvPr id="3" name="Text 1"/>
          <p:cNvSpPr/>
          <p:nvPr/>
        </p:nvSpPr>
        <p:spPr>
          <a:xfrm>
            <a:off x="548640" y="1874520"/>
            <a:ext cx="10515600" cy="118872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Attention Is All You Need</a:t>
            </a:r>
            <a:endParaRPr lang="en-US" sz="5000" dirty="0"/>
          </a:p>
        </p:txBody>
      </p:sp>
      <p:sp>
        <p:nvSpPr>
          <p:cNvPr id="4" name="Text 2"/>
          <p:cNvSpPr/>
          <p:nvPr/>
        </p:nvSpPr>
        <p:spPr>
          <a:xfrm>
            <a:off x="548640" y="3063240"/>
            <a:ext cx="9601200" cy="365760"/>
          </a:xfrm>
          <a:prstGeom prst="rect">
            <a:avLst/>
          </a:prstGeom>
          <a:noFill/>
          <a:ln/>
        </p:spPr>
        <p:txBody>
          <a:bodyPr wrap="square" lIns="0" tIns="0" rIns="0" bIns="0" rtlCol="0" anchor="ctr"/>
          <a:lstStyle/>
          <a:p>
            <a:pPr marL="0" indent="0">
              <a:buNone/>
            </a:pPr>
            <a:r>
              <a:rPr lang="en-US" sz="1500" i="1" dirty="0">
                <a:solidFill>
                  <a:schemeClr val="bg1"/>
                </a:solidFill>
                <a:latin typeface="Calibri" pitchFamily="34" charset="0"/>
                <a:ea typeface="Calibri" pitchFamily="34" charset="-122"/>
                <a:cs typeface="Calibri" pitchFamily="34" charset="-120"/>
              </a:rPr>
              <a:t>2017 Called….it Changed AI Forever </a:t>
            </a:r>
            <a:endParaRPr lang="en-US" sz="1500" dirty="0">
              <a:solidFill>
                <a:schemeClr val="bg1"/>
              </a:solidFill>
            </a:endParaRPr>
          </a:p>
        </p:txBody>
      </p:sp>
      <p:sp>
        <p:nvSpPr>
          <p:cNvPr id="5" name="Shape 3"/>
          <p:cNvSpPr/>
          <p:nvPr/>
        </p:nvSpPr>
        <p:spPr>
          <a:xfrm>
            <a:off x="548640" y="3657600"/>
            <a:ext cx="2926080" cy="0"/>
          </a:xfrm>
          <a:prstGeom prst="line">
            <a:avLst/>
          </a:prstGeom>
          <a:noFill/>
          <a:ln w="19050">
            <a:solidFill>
              <a:schemeClr val="accent2"/>
            </a:solidFill>
            <a:prstDash val="solid"/>
          </a:ln>
        </p:spPr>
      </p:sp>
      <p:sp>
        <p:nvSpPr>
          <p:cNvPr id="6" name="Text 4"/>
          <p:cNvSpPr/>
          <p:nvPr/>
        </p:nvSpPr>
        <p:spPr>
          <a:xfrm>
            <a:off x="548640" y="3886200"/>
            <a:ext cx="9418320" cy="822960"/>
          </a:xfrm>
          <a:prstGeom prst="rect">
            <a:avLst/>
          </a:prstGeom>
          <a:noFill/>
          <a:ln/>
        </p:spPr>
        <p:txBody>
          <a:bodyPr wrap="square" lIns="0" tIns="0" rIns="0" bIns="0" rtlCol="0" anchor="ctr"/>
          <a:lstStyle/>
          <a:p>
            <a:pPr marL="0" indent="0">
              <a:lnSpc>
                <a:spcPct val="120000"/>
              </a:lnSpc>
              <a:buNone/>
            </a:pPr>
            <a:r>
              <a:rPr lang="en-US" sz="1600" i="1" dirty="0">
                <a:solidFill>
                  <a:srgbClr val="FFFFFF"/>
                </a:solidFill>
                <a:latin typeface="Calibri" pitchFamily="34" charset="0"/>
                <a:ea typeface="Calibri" pitchFamily="34" charset="-122"/>
                <a:cs typeface="Calibri" pitchFamily="34" charset="-120"/>
              </a:rPr>
              <a:t>The paper that deleted recurrence from sequence modeling — and became the architecture behind BERT, GPT, and Vision Transformers.</a:t>
            </a:r>
            <a:endParaRPr lang="en-US" sz="1600" dirty="0"/>
          </a:p>
        </p:txBody>
      </p:sp>
      <p:sp>
        <p:nvSpPr>
          <p:cNvPr id="14" name="Text 4">
            <a:extLst>
              <a:ext uri="{FF2B5EF4-FFF2-40B4-BE49-F238E27FC236}">
                <a16:creationId xmlns:a16="http://schemas.microsoft.com/office/drawing/2014/main" id="{5C81570C-D073-7F89-F25C-B484C8687388}"/>
              </a:ext>
            </a:extLst>
          </p:cNvPr>
          <p:cNvSpPr/>
          <p:nvPr/>
        </p:nvSpPr>
        <p:spPr>
          <a:xfrm>
            <a:off x="10393679" y="5713396"/>
            <a:ext cx="1503145" cy="822960"/>
          </a:xfrm>
          <a:prstGeom prst="rect">
            <a:avLst/>
          </a:prstGeom>
          <a:noFill/>
          <a:ln/>
        </p:spPr>
        <p:txBody>
          <a:bodyPr wrap="square" lIns="0" tIns="0" rIns="0" bIns="0" rtlCol="0" anchor="ctr"/>
          <a:lstStyle/>
          <a:p>
            <a:pPr marL="0" indent="0">
              <a:lnSpc>
                <a:spcPct val="120000"/>
              </a:lnSpc>
              <a:buNone/>
            </a:pPr>
            <a:r>
              <a:rPr lang="en-US" sz="1600" dirty="0">
                <a:solidFill>
                  <a:schemeClr val="bg1"/>
                </a:solidFill>
              </a:rPr>
              <a:t>V. Hemavardhan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Why did we need something new?</a:t>
            </a:r>
            <a:endParaRPr lang="en-US" sz="3200" dirty="0"/>
          </a:p>
        </p:txBody>
      </p:sp>
      <p:sp>
        <p:nvSpPr>
          <p:cNvPr id="4" name="Text 2"/>
          <p:cNvSpPr/>
          <p:nvPr/>
        </p:nvSpPr>
        <p:spPr>
          <a:xfrm>
            <a:off x="624315" y="1511795"/>
            <a:ext cx="5029200" cy="173736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600" dirty="0">
                <a:solidFill>
                  <a:srgbClr val="1C2833"/>
                </a:solidFill>
                <a:latin typeface="Calibri" pitchFamily="34" charset="0"/>
                <a:ea typeface="Calibri" pitchFamily="34" charset="-122"/>
                <a:cs typeface="Calibri" pitchFamily="34" charset="-120"/>
              </a:rPr>
              <a:t>Before 2017, sequence modeling meant RNNs / LSTMs.</a:t>
            </a:r>
            <a:endParaRPr lang="en-US" sz="1600" dirty="0"/>
          </a:p>
          <a:p>
            <a:pPr marL="177800" indent="-177800">
              <a:lnSpc>
                <a:spcPct val="108000"/>
              </a:lnSpc>
              <a:spcAft>
                <a:spcPts val="1000"/>
              </a:spcAft>
              <a:buSzPct val="100000"/>
              <a:buChar char="•"/>
            </a:pPr>
            <a:r>
              <a:rPr lang="en-US" sz="1600" dirty="0">
                <a:solidFill>
                  <a:srgbClr val="1C2833"/>
                </a:solidFill>
                <a:latin typeface="Calibri" pitchFamily="34" charset="0"/>
                <a:ea typeface="Calibri" pitchFamily="34" charset="-122"/>
                <a:cs typeface="Calibri" pitchFamily="34" charset="-120"/>
              </a:rPr>
              <a:t>They process a sentence one token at a time, left to right.</a:t>
            </a:r>
            <a:endParaRPr lang="en-US" sz="1600" dirty="0"/>
          </a:p>
          <a:p>
            <a:pPr marL="177800" indent="-177800">
              <a:lnSpc>
                <a:spcPct val="108000"/>
              </a:lnSpc>
              <a:spcAft>
                <a:spcPts val="1000"/>
              </a:spcAft>
              <a:buSzPct val="100000"/>
              <a:buChar char="•"/>
            </a:pPr>
            <a:r>
              <a:rPr lang="en-US" sz="1600" dirty="0">
                <a:solidFill>
                  <a:srgbClr val="1C2833"/>
                </a:solidFill>
                <a:latin typeface="Calibri" pitchFamily="34" charset="0"/>
                <a:ea typeface="Calibri" pitchFamily="34" charset="-122"/>
                <a:cs typeface="Calibri" pitchFamily="34" charset="-120"/>
              </a:rPr>
              <a:t>Each hidden state depends on the one before it — inherently sequential.</a:t>
            </a:r>
            <a:endParaRPr lang="en-US" sz="1600" dirty="0"/>
          </a:p>
        </p:txBody>
      </p:sp>
      <p:sp>
        <p:nvSpPr>
          <p:cNvPr id="6" name="Text 4"/>
          <p:cNvSpPr/>
          <p:nvPr/>
        </p:nvSpPr>
        <p:spPr>
          <a:xfrm>
            <a:off x="755800" y="3487687"/>
            <a:ext cx="4663440" cy="274320"/>
          </a:xfrm>
          <a:prstGeom prst="rect">
            <a:avLst/>
          </a:prstGeom>
          <a:noFill/>
          <a:ln/>
        </p:spPr>
        <p:txBody>
          <a:bodyPr wrap="square" lIns="0" tIns="0" rIns="0" bIns="0" rtlCol="0" anchor="ctr"/>
          <a:lstStyle/>
          <a:p>
            <a:pPr marL="0" indent="0">
              <a:buNone/>
            </a:pPr>
            <a:r>
              <a:rPr lang="en-US" sz="1600" b="1" dirty="0">
                <a:solidFill>
                  <a:srgbClr val="1C2833"/>
                </a:solidFill>
                <a:latin typeface="Calibri" pitchFamily="34" charset="0"/>
                <a:ea typeface="Calibri" pitchFamily="34" charset="-122"/>
                <a:cs typeface="Calibri" pitchFamily="34" charset="-120"/>
              </a:rPr>
              <a:t>This creates three concrete problems:</a:t>
            </a:r>
            <a:endParaRPr lang="en-US" sz="1600" dirty="0"/>
          </a:p>
        </p:txBody>
      </p:sp>
      <p:sp>
        <p:nvSpPr>
          <p:cNvPr id="7" name="Text 5"/>
          <p:cNvSpPr/>
          <p:nvPr/>
        </p:nvSpPr>
        <p:spPr>
          <a:xfrm>
            <a:off x="821069" y="3807727"/>
            <a:ext cx="4663440" cy="1005840"/>
          </a:xfrm>
          <a:prstGeom prst="rect">
            <a:avLst/>
          </a:prstGeom>
          <a:noFill/>
          <a:ln/>
        </p:spPr>
        <p:txBody>
          <a:bodyPr wrap="square" lIns="0" tIns="0" rIns="0" bIns="0" rtlCol="0" anchor="t"/>
          <a:lstStyle/>
          <a:p>
            <a:pPr marL="342900" indent="-342900">
              <a:lnSpc>
                <a:spcPct val="108000"/>
              </a:lnSpc>
              <a:spcAft>
                <a:spcPts val="1000"/>
              </a:spcAft>
              <a:buSzPct val="100000"/>
              <a:buChar char="•"/>
            </a:pPr>
            <a:r>
              <a:rPr lang="en-US" sz="1600" dirty="0">
                <a:solidFill>
                  <a:srgbClr val="1C2833"/>
                </a:solidFill>
                <a:latin typeface="Calibri" pitchFamily="34" charset="0"/>
                <a:ea typeface="Calibri" pitchFamily="34" charset="-122"/>
                <a:cs typeface="Calibri" pitchFamily="34" charset="-120"/>
              </a:rPr>
              <a:t>Sequential computation — can't parallelize across time steps, even on a GPU.</a:t>
            </a:r>
            <a:endParaRPr lang="en-US" sz="1600" dirty="0"/>
          </a:p>
          <a:p>
            <a:pPr marL="342900" indent="-342900">
              <a:lnSpc>
                <a:spcPct val="108000"/>
              </a:lnSpc>
              <a:spcAft>
                <a:spcPts val="1000"/>
              </a:spcAft>
              <a:buSzPct val="100000"/>
              <a:buChar char="•"/>
            </a:pPr>
            <a:r>
              <a:rPr lang="en-US" sz="1600" dirty="0">
                <a:solidFill>
                  <a:srgbClr val="1C2833"/>
                </a:solidFill>
                <a:latin typeface="Calibri" pitchFamily="34" charset="0"/>
                <a:ea typeface="Calibri" pitchFamily="34" charset="-122"/>
                <a:cs typeface="Calibri" pitchFamily="34" charset="-120"/>
              </a:rPr>
              <a:t>Long-range dependency loss — signal from token 1 has to survive 50 steps to reach token 50.</a:t>
            </a:r>
            <a:endParaRPr lang="en-US" sz="1600" dirty="0"/>
          </a:p>
          <a:p>
            <a:pPr marL="342900" indent="-342900">
              <a:lnSpc>
                <a:spcPct val="108000"/>
              </a:lnSpc>
              <a:spcAft>
                <a:spcPts val="1000"/>
              </a:spcAft>
              <a:buSzPct val="100000"/>
              <a:buChar char="•"/>
            </a:pPr>
            <a:r>
              <a:rPr lang="en-US" sz="1600" dirty="0">
                <a:solidFill>
                  <a:srgbClr val="1C2833"/>
                </a:solidFill>
                <a:latin typeface="Calibri" pitchFamily="34" charset="0"/>
                <a:ea typeface="Calibri" pitchFamily="34" charset="-122"/>
                <a:cs typeface="Calibri" pitchFamily="34" charset="-120"/>
              </a:rPr>
              <a:t>Slow training — large models on large corpora become impractically slow.</a:t>
            </a:r>
            <a:endParaRPr lang="en-US" sz="1600" dirty="0"/>
          </a:p>
        </p:txBody>
      </p:sp>
      <p:sp>
        <p:nvSpPr>
          <p:cNvPr id="8" name="Text 6"/>
          <p:cNvSpPr/>
          <p:nvPr/>
        </p:nvSpPr>
        <p:spPr>
          <a:xfrm>
            <a:off x="6290493" y="1419686"/>
            <a:ext cx="4846320" cy="274320"/>
          </a:xfrm>
          <a:prstGeom prst="rect">
            <a:avLst/>
          </a:prstGeom>
          <a:noFill/>
          <a:ln/>
        </p:spPr>
        <p:txBody>
          <a:bodyPr wrap="square" lIns="0" tIns="0" rIns="0" bIns="0" rtlCol="0" anchor="ctr"/>
          <a:lstStyle/>
          <a:p>
            <a:pPr marL="0" indent="0">
              <a:buNone/>
            </a:pPr>
            <a:r>
              <a:rPr lang="en-US" sz="1200" b="1" dirty="0">
                <a:solidFill>
                  <a:srgbClr val="5A6570"/>
                </a:solidFill>
                <a:latin typeface="Calibri" pitchFamily="34" charset="0"/>
                <a:ea typeface="Calibri" pitchFamily="34" charset="-122"/>
                <a:cs typeface="Calibri" pitchFamily="34" charset="-120"/>
              </a:rPr>
              <a:t>How an RNN reads a sentence</a:t>
            </a:r>
            <a:endParaRPr lang="en-US" sz="1200" dirty="0"/>
          </a:p>
        </p:txBody>
      </p:sp>
      <p:sp>
        <p:nvSpPr>
          <p:cNvPr id="9" name="Shape 7"/>
          <p:cNvSpPr/>
          <p:nvPr/>
        </p:nvSpPr>
        <p:spPr>
          <a:xfrm>
            <a:off x="6240201" y="1721438"/>
            <a:ext cx="868680" cy="685800"/>
          </a:xfrm>
          <a:prstGeom prst="roundRect">
            <a:avLst>
              <a:gd name="adj" fmla="val 8000"/>
            </a:avLst>
          </a:prstGeom>
          <a:solidFill>
            <a:srgbClr val="FAFAFA"/>
          </a:solidFill>
          <a:ln w="12700">
            <a:solidFill>
              <a:srgbClr val="D5D8DC"/>
            </a:solidFill>
            <a:prstDash val="solid"/>
          </a:ln>
        </p:spPr>
      </p:sp>
      <p:sp>
        <p:nvSpPr>
          <p:cNvPr id="10" name="Text 8"/>
          <p:cNvSpPr/>
          <p:nvPr/>
        </p:nvSpPr>
        <p:spPr>
          <a:xfrm>
            <a:off x="6240201" y="1721438"/>
            <a:ext cx="868680" cy="68580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The</a:t>
            </a:r>
            <a:endParaRPr lang="en-US" sz="1200" dirty="0"/>
          </a:p>
        </p:txBody>
      </p:sp>
      <p:sp>
        <p:nvSpPr>
          <p:cNvPr id="11" name="Text 9"/>
          <p:cNvSpPr/>
          <p:nvPr/>
        </p:nvSpPr>
        <p:spPr>
          <a:xfrm>
            <a:off x="6240201" y="2452958"/>
            <a:ext cx="868680" cy="228600"/>
          </a:xfrm>
          <a:prstGeom prst="rect">
            <a:avLst/>
          </a:prstGeom>
          <a:noFill/>
          <a:ln/>
        </p:spPr>
        <p:txBody>
          <a:bodyPr wrap="square" lIns="0" tIns="0" rIns="0" bIns="0" rtlCol="0" anchor="ctr"/>
          <a:lstStyle/>
          <a:p>
            <a:pPr marL="0" indent="0" algn="ctr">
              <a:buNone/>
            </a:pPr>
            <a:r>
              <a:rPr lang="en-US" sz="1200" i="1" dirty="0">
                <a:solidFill>
                  <a:srgbClr val="5D7A9C"/>
                </a:solidFill>
                <a:latin typeface="Calibri" pitchFamily="34" charset="0"/>
                <a:ea typeface="Calibri" pitchFamily="34" charset="-122"/>
                <a:cs typeface="Calibri" pitchFamily="34" charset="-120"/>
              </a:rPr>
              <a:t>h1</a:t>
            </a:r>
            <a:endParaRPr lang="en-US" sz="1200" dirty="0"/>
          </a:p>
        </p:txBody>
      </p:sp>
      <p:sp>
        <p:nvSpPr>
          <p:cNvPr id="12" name="Shape 10"/>
          <p:cNvSpPr/>
          <p:nvPr/>
        </p:nvSpPr>
        <p:spPr>
          <a:xfrm>
            <a:off x="7136313" y="2009474"/>
            <a:ext cx="201168" cy="109728"/>
          </a:xfrm>
          <a:prstGeom prst="rightArrow">
            <a:avLst/>
          </a:prstGeom>
          <a:solidFill>
            <a:srgbClr val="5D7A9C"/>
          </a:solidFill>
          <a:ln/>
        </p:spPr>
      </p:sp>
      <p:sp>
        <p:nvSpPr>
          <p:cNvPr id="13" name="Shape 11"/>
          <p:cNvSpPr/>
          <p:nvPr/>
        </p:nvSpPr>
        <p:spPr>
          <a:xfrm>
            <a:off x="7364913" y="1721438"/>
            <a:ext cx="868680" cy="685800"/>
          </a:xfrm>
          <a:prstGeom prst="roundRect">
            <a:avLst>
              <a:gd name="adj" fmla="val 8000"/>
            </a:avLst>
          </a:prstGeom>
          <a:solidFill>
            <a:srgbClr val="FAFAFA"/>
          </a:solidFill>
          <a:ln w="12700">
            <a:solidFill>
              <a:srgbClr val="D5D8DC"/>
            </a:solidFill>
            <a:prstDash val="solid"/>
          </a:ln>
        </p:spPr>
      </p:sp>
      <p:sp>
        <p:nvSpPr>
          <p:cNvPr id="14" name="Text 12"/>
          <p:cNvSpPr/>
          <p:nvPr/>
        </p:nvSpPr>
        <p:spPr>
          <a:xfrm>
            <a:off x="7364913" y="1721438"/>
            <a:ext cx="868680" cy="68580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animal</a:t>
            </a:r>
            <a:endParaRPr lang="en-US" sz="1200" dirty="0"/>
          </a:p>
        </p:txBody>
      </p:sp>
      <p:sp>
        <p:nvSpPr>
          <p:cNvPr id="15" name="Text 13"/>
          <p:cNvSpPr/>
          <p:nvPr/>
        </p:nvSpPr>
        <p:spPr>
          <a:xfrm>
            <a:off x="7364913" y="2452958"/>
            <a:ext cx="868680" cy="228600"/>
          </a:xfrm>
          <a:prstGeom prst="rect">
            <a:avLst/>
          </a:prstGeom>
          <a:noFill/>
          <a:ln/>
        </p:spPr>
        <p:txBody>
          <a:bodyPr wrap="square" lIns="0" tIns="0" rIns="0" bIns="0" rtlCol="0" anchor="ctr"/>
          <a:lstStyle/>
          <a:p>
            <a:pPr marL="0" indent="0" algn="ctr">
              <a:buNone/>
            </a:pPr>
            <a:r>
              <a:rPr lang="en-US" sz="1200" i="1" dirty="0">
                <a:solidFill>
                  <a:srgbClr val="5D7A9C"/>
                </a:solidFill>
                <a:latin typeface="Calibri" pitchFamily="34" charset="0"/>
                <a:ea typeface="Calibri" pitchFamily="34" charset="-122"/>
                <a:cs typeface="Calibri" pitchFamily="34" charset="-120"/>
              </a:rPr>
              <a:t>h2</a:t>
            </a:r>
            <a:endParaRPr lang="en-US" sz="1200" dirty="0"/>
          </a:p>
        </p:txBody>
      </p:sp>
      <p:sp>
        <p:nvSpPr>
          <p:cNvPr id="16" name="Shape 14"/>
          <p:cNvSpPr/>
          <p:nvPr/>
        </p:nvSpPr>
        <p:spPr>
          <a:xfrm>
            <a:off x="8261025" y="2009474"/>
            <a:ext cx="201168" cy="109728"/>
          </a:xfrm>
          <a:prstGeom prst="rightArrow">
            <a:avLst/>
          </a:prstGeom>
          <a:solidFill>
            <a:srgbClr val="5D7A9C"/>
          </a:solidFill>
          <a:ln/>
        </p:spPr>
      </p:sp>
      <p:sp>
        <p:nvSpPr>
          <p:cNvPr id="17" name="Shape 15"/>
          <p:cNvSpPr/>
          <p:nvPr/>
        </p:nvSpPr>
        <p:spPr>
          <a:xfrm>
            <a:off x="8489625" y="1721438"/>
            <a:ext cx="868680" cy="685800"/>
          </a:xfrm>
          <a:prstGeom prst="roundRect">
            <a:avLst>
              <a:gd name="adj" fmla="val 8000"/>
            </a:avLst>
          </a:prstGeom>
          <a:solidFill>
            <a:srgbClr val="FAFAFA"/>
          </a:solidFill>
          <a:ln w="12700">
            <a:solidFill>
              <a:srgbClr val="D5D8DC"/>
            </a:solidFill>
            <a:prstDash val="solid"/>
          </a:ln>
        </p:spPr>
      </p:sp>
      <p:sp>
        <p:nvSpPr>
          <p:cNvPr id="18" name="Text 16"/>
          <p:cNvSpPr/>
          <p:nvPr/>
        </p:nvSpPr>
        <p:spPr>
          <a:xfrm>
            <a:off x="8489625" y="1721438"/>
            <a:ext cx="868680" cy="68580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was</a:t>
            </a:r>
            <a:endParaRPr lang="en-US" sz="1200" dirty="0"/>
          </a:p>
        </p:txBody>
      </p:sp>
      <p:sp>
        <p:nvSpPr>
          <p:cNvPr id="19" name="Text 17"/>
          <p:cNvSpPr/>
          <p:nvPr/>
        </p:nvSpPr>
        <p:spPr>
          <a:xfrm>
            <a:off x="8489625" y="2452958"/>
            <a:ext cx="868680" cy="228600"/>
          </a:xfrm>
          <a:prstGeom prst="rect">
            <a:avLst/>
          </a:prstGeom>
          <a:noFill/>
          <a:ln/>
        </p:spPr>
        <p:txBody>
          <a:bodyPr wrap="square" lIns="0" tIns="0" rIns="0" bIns="0" rtlCol="0" anchor="ctr"/>
          <a:lstStyle/>
          <a:p>
            <a:pPr marL="0" indent="0" algn="ctr">
              <a:buNone/>
            </a:pPr>
            <a:r>
              <a:rPr lang="en-US" sz="1200" i="1" dirty="0">
                <a:solidFill>
                  <a:srgbClr val="5D7A9C"/>
                </a:solidFill>
                <a:latin typeface="Calibri" pitchFamily="34" charset="0"/>
                <a:ea typeface="Calibri" pitchFamily="34" charset="-122"/>
                <a:cs typeface="Calibri" pitchFamily="34" charset="-120"/>
              </a:rPr>
              <a:t>h3</a:t>
            </a:r>
            <a:endParaRPr lang="en-US" sz="1200" dirty="0"/>
          </a:p>
        </p:txBody>
      </p:sp>
      <p:sp>
        <p:nvSpPr>
          <p:cNvPr id="20" name="Shape 18"/>
          <p:cNvSpPr/>
          <p:nvPr/>
        </p:nvSpPr>
        <p:spPr>
          <a:xfrm>
            <a:off x="9385737" y="2009474"/>
            <a:ext cx="201168" cy="109728"/>
          </a:xfrm>
          <a:prstGeom prst="rightArrow">
            <a:avLst/>
          </a:prstGeom>
          <a:solidFill>
            <a:srgbClr val="5D7A9C"/>
          </a:solidFill>
          <a:ln/>
        </p:spPr>
      </p:sp>
      <p:sp>
        <p:nvSpPr>
          <p:cNvPr id="21" name="Shape 19"/>
          <p:cNvSpPr/>
          <p:nvPr/>
        </p:nvSpPr>
        <p:spPr>
          <a:xfrm>
            <a:off x="9614337" y="1721438"/>
            <a:ext cx="868680" cy="685800"/>
          </a:xfrm>
          <a:prstGeom prst="roundRect">
            <a:avLst>
              <a:gd name="adj" fmla="val 8000"/>
            </a:avLst>
          </a:prstGeom>
          <a:solidFill>
            <a:srgbClr val="FAFAFA"/>
          </a:solidFill>
          <a:ln w="12700">
            <a:solidFill>
              <a:srgbClr val="D5D8DC"/>
            </a:solidFill>
            <a:prstDash val="solid"/>
          </a:ln>
        </p:spPr>
      </p:sp>
      <p:sp>
        <p:nvSpPr>
          <p:cNvPr id="22" name="Text 20"/>
          <p:cNvSpPr/>
          <p:nvPr/>
        </p:nvSpPr>
        <p:spPr>
          <a:xfrm>
            <a:off x="9614337" y="1721438"/>
            <a:ext cx="868680" cy="68580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9614337" y="2452958"/>
            <a:ext cx="868680" cy="228600"/>
          </a:xfrm>
          <a:prstGeom prst="rect">
            <a:avLst/>
          </a:prstGeom>
          <a:noFill/>
          <a:ln/>
        </p:spPr>
        <p:txBody>
          <a:bodyPr wrap="square" lIns="0" tIns="0" rIns="0" bIns="0" rtlCol="0" anchor="ctr"/>
          <a:lstStyle/>
          <a:p>
            <a:pPr marL="0" indent="0" algn="ctr">
              <a:buNone/>
            </a:pPr>
            <a:r>
              <a:rPr lang="en-US" sz="1200" i="1" dirty="0">
                <a:solidFill>
                  <a:srgbClr val="5D7A9C"/>
                </a:solidFill>
                <a:latin typeface="Calibri" pitchFamily="34" charset="0"/>
                <a:ea typeface="Calibri" pitchFamily="34" charset="-122"/>
                <a:cs typeface="Calibri" pitchFamily="34" charset="-120"/>
              </a:rPr>
              <a:t>h4</a:t>
            </a:r>
            <a:endParaRPr lang="en-US" sz="1200" dirty="0"/>
          </a:p>
        </p:txBody>
      </p:sp>
      <p:sp>
        <p:nvSpPr>
          <p:cNvPr id="24" name="Shape 22"/>
          <p:cNvSpPr/>
          <p:nvPr/>
        </p:nvSpPr>
        <p:spPr>
          <a:xfrm>
            <a:off x="10510449" y="2009474"/>
            <a:ext cx="201168" cy="109728"/>
          </a:xfrm>
          <a:prstGeom prst="rightArrow">
            <a:avLst/>
          </a:prstGeom>
          <a:solidFill>
            <a:srgbClr val="5D7A9C"/>
          </a:solidFill>
          <a:ln/>
        </p:spPr>
      </p:sp>
      <p:sp>
        <p:nvSpPr>
          <p:cNvPr id="25" name="Shape 23"/>
          <p:cNvSpPr/>
          <p:nvPr/>
        </p:nvSpPr>
        <p:spPr>
          <a:xfrm>
            <a:off x="10739049" y="1721438"/>
            <a:ext cx="868680" cy="685800"/>
          </a:xfrm>
          <a:prstGeom prst="roundRect">
            <a:avLst>
              <a:gd name="adj" fmla="val 8000"/>
            </a:avLst>
          </a:prstGeom>
          <a:solidFill>
            <a:srgbClr val="FDF2E3"/>
          </a:solidFill>
          <a:ln w="12700">
            <a:solidFill>
              <a:srgbClr val="D68910"/>
            </a:solidFill>
            <a:prstDash val="solid"/>
          </a:ln>
        </p:spPr>
      </p:sp>
      <p:sp>
        <p:nvSpPr>
          <p:cNvPr id="26" name="Text 24"/>
          <p:cNvSpPr/>
          <p:nvPr/>
        </p:nvSpPr>
        <p:spPr>
          <a:xfrm>
            <a:off x="10739049" y="1721438"/>
            <a:ext cx="868680" cy="68580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tired</a:t>
            </a:r>
            <a:endParaRPr lang="en-US" sz="1200" dirty="0"/>
          </a:p>
        </p:txBody>
      </p:sp>
      <p:sp>
        <p:nvSpPr>
          <p:cNvPr id="27" name="Text 25"/>
          <p:cNvSpPr/>
          <p:nvPr/>
        </p:nvSpPr>
        <p:spPr>
          <a:xfrm>
            <a:off x="10739049" y="2452958"/>
            <a:ext cx="868680" cy="228600"/>
          </a:xfrm>
          <a:prstGeom prst="rect">
            <a:avLst/>
          </a:prstGeom>
          <a:noFill/>
          <a:ln/>
        </p:spPr>
        <p:txBody>
          <a:bodyPr wrap="square" lIns="0" tIns="0" rIns="0" bIns="0" rtlCol="0" anchor="ctr"/>
          <a:lstStyle/>
          <a:p>
            <a:pPr marL="0" indent="0" algn="ctr">
              <a:buNone/>
            </a:pPr>
            <a:r>
              <a:rPr lang="en-US" sz="1200" i="1" dirty="0">
                <a:solidFill>
                  <a:srgbClr val="5D7A9C"/>
                </a:solidFill>
                <a:latin typeface="Calibri" pitchFamily="34" charset="0"/>
                <a:ea typeface="Calibri" pitchFamily="34" charset="-122"/>
                <a:cs typeface="Calibri" pitchFamily="34" charset="-120"/>
              </a:rPr>
              <a:t>h5</a:t>
            </a:r>
            <a:endParaRPr lang="en-US" sz="1200" dirty="0"/>
          </a:p>
        </p:txBody>
      </p:sp>
      <p:sp>
        <p:nvSpPr>
          <p:cNvPr id="28" name="Text 26"/>
          <p:cNvSpPr/>
          <p:nvPr/>
        </p:nvSpPr>
        <p:spPr>
          <a:xfrm>
            <a:off x="6240201" y="2681558"/>
            <a:ext cx="4846320" cy="320040"/>
          </a:xfrm>
          <a:prstGeom prst="rect">
            <a:avLst/>
          </a:prstGeom>
          <a:noFill/>
          <a:ln/>
        </p:spPr>
        <p:txBody>
          <a:bodyPr wrap="square" lIns="0" tIns="0" rIns="0" bIns="0" rtlCol="0" anchor="ctr"/>
          <a:lstStyle/>
          <a:p>
            <a:pPr marL="0" indent="0">
              <a:buNone/>
            </a:pPr>
            <a:r>
              <a:rPr lang="en-US" sz="1200" i="1" dirty="0">
                <a:solidFill>
                  <a:srgbClr val="5A6570"/>
                </a:solidFill>
                <a:latin typeface="Calibri" pitchFamily="34" charset="0"/>
                <a:ea typeface="Calibri" pitchFamily="34" charset="-122"/>
                <a:cs typeface="Calibri" pitchFamily="34" charset="-120"/>
              </a:rPr>
              <a:t>Step 5 must wait for steps 1–4 to finish — one at a time.</a:t>
            </a:r>
            <a:endParaRPr lang="en-US" sz="1200" dirty="0"/>
          </a:p>
        </p:txBody>
      </p:sp>
      <p:sp>
        <p:nvSpPr>
          <p:cNvPr id="29" name="Text 27"/>
          <p:cNvSpPr/>
          <p:nvPr/>
        </p:nvSpPr>
        <p:spPr>
          <a:xfrm>
            <a:off x="6240201" y="3037858"/>
            <a:ext cx="4846320" cy="274320"/>
          </a:xfrm>
          <a:prstGeom prst="rect">
            <a:avLst/>
          </a:prstGeom>
          <a:noFill/>
          <a:ln/>
        </p:spPr>
        <p:txBody>
          <a:bodyPr wrap="square" lIns="0" tIns="0" rIns="0" bIns="0" rtlCol="0" anchor="ctr"/>
          <a:lstStyle/>
          <a:p>
            <a:pPr marL="0" indent="0">
              <a:buNone/>
            </a:pPr>
            <a:r>
              <a:rPr lang="en-US" sz="1200" b="1" dirty="0">
                <a:latin typeface="Calibri" pitchFamily="34" charset="0"/>
                <a:ea typeface="Calibri" pitchFamily="34" charset="-122"/>
                <a:cs typeface="Calibri" pitchFamily="34" charset="-120"/>
              </a:rPr>
              <a:t>The long-range dependency problem</a:t>
            </a:r>
            <a:endParaRPr lang="en-US" sz="1200" dirty="0"/>
          </a:p>
        </p:txBody>
      </p:sp>
      <p:sp>
        <p:nvSpPr>
          <p:cNvPr id="30" name="Text 28"/>
          <p:cNvSpPr/>
          <p:nvPr/>
        </p:nvSpPr>
        <p:spPr>
          <a:xfrm>
            <a:off x="6240201"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The</a:t>
            </a:r>
            <a:endParaRPr lang="en-US" sz="1200" dirty="0"/>
          </a:p>
        </p:txBody>
      </p:sp>
      <p:sp>
        <p:nvSpPr>
          <p:cNvPr id="31" name="Text 29"/>
          <p:cNvSpPr/>
          <p:nvPr/>
        </p:nvSpPr>
        <p:spPr>
          <a:xfrm>
            <a:off x="6631186" y="3412131"/>
            <a:ext cx="438912" cy="320040"/>
          </a:xfrm>
          <a:prstGeom prst="rect">
            <a:avLst/>
          </a:prstGeom>
          <a:noFill/>
          <a:ln/>
        </p:spPr>
        <p:txBody>
          <a:bodyPr wrap="square" lIns="0" tIns="0" rIns="0" bIns="0" rtlCol="0" anchor="ctr"/>
          <a:lstStyle/>
          <a:p>
            <a:pPr marL="0" indent="0" algn="ctr">
              <a:buNone/>
            </a:pPr>
            <a:r>
              <a:rPr lang="en-US" sz="1200" b="1" dirty="0">
                <a:solidFill>
                  <a:srgbClr val="D68910"/>
                </a:solidFill>
                <a:latin typeface="Calibri" pitchFamily="34" charset="0"/>
                <a:ea typeface="Calibri" pitchFamily="34" charset="-122"/>
                <a:cs typeface="Calibri" pitchFamily="34" charset="-120"/>
              </a:rPr>
              <a:t>animal</a:t>
            </a:r>
            <a:endParaRPr lang="en-US" sz="1200" dirty="0"/>
          </a:p>
        </p:txBody>
      </p:sp>
      <p:sp>
        <p:nvSpPr>
          <p:cNvPr id="32" name="Text 30"/>
          <p:cNvSpPr/>
          <p:nvPr/>
        </p:nvSpPr>
        <p:spPr>
          <a:xfrm>
            <a:off x="7118025"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didn't</a:t>
            </a:r>
            <a:endParaRPr lang="en-US" sz="1200" dirty="0"/>
          </a:p>
        </p:txBody>
      </p:sp>
      <p:sp>
        <p:nvSpPr>
          <p:cNvPr id="33" name="Text 31"/>
          <p:cNvSpPr/>
          <p:nvPr/>
        </p:nvSpPr>
        <p:spPr>
          <a:xfrm>
            <a:off x="7556937"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cross</a:t>
            </a:r>
            <a:endParaRPr lang="en-US" sz="1200" dirty="0"/>
          </a:p>
        </p:txBody>
      </p:sp>
      <p:sp>
        <p:nvSpPr>
          <p:cNvPr id="34" name="Text 32"/>
          <p:cNvSpPr/>
          <p:nvPr/>
        </p:nvSpPr>
        <p:spPr>
          <a:xfrm>
            <a:off x="7995849"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the</a:t>
            </a:r>
            <a:endParaRPr lang="en-US" sz="1200" dirty="0"/>
          </a:p>
        </p:txBody>
      </p:sp>
      <p:sp>
        <p:nvSpPr>
          <p:cNvPr id="35" name="Text 33"/>
          <p:cNvSpPr/>
          <p:nvPr/>
        </p:nvSpPr>
        <p:spPr>
          <a:xfrm>
            <a:off x="8434761"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street</a:t>
            </a:r>
            <a:endParaRPr lang="en-US" sz="1200" dirty="0"/>
          </a:p>
        </p:txBody>
      </p:sp>
      <p:sp>
        <p:nvSpPr>
          <p:cNvPr id="36" name="Text 34"/>
          <p:cNvSpPr/>
          <p:nvPr/>
        </p:nvSpPr>
        <p:spPr>
          <a:xfrm>
            <a:off x="8873673" y="3403618"/>
            <a:ext cx="6492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because</a:t>
            </a:r>
            <a:endParaRPr lang="en-US" sz="1200" dirty="0"/>
          </a:p>
        </p:txBody>
      </p:sp>
      <p:sp>
        <p:nvSpPr>
          <p:cNvPr id="37" name="Text 35"/>
          <p:cNvSpPr/>
          <p:nvPr/>
        </p:nvSpPr>
        <p:spPr>
          <a:xfrm>
            <a:off x="9541185" y="3403618"/>
            <a:ext cx="420624" cy="320040"/>
          </a:xfrm>
          <a:prstGeom prst="rect">
            <a:avLst/>
          </a:prstGeom>
          <a:noFill/>
          <a:ln/>
        </p:spPr>
        <p:txBody>
          <a:bodyPr wrap="square" lIns="0" tIns="0" rIns="0" bIns="0" rtlCol="0" anchor="ctr"/>
          <a:lstStyle/>
          <a:p>
            <a:pPr marL="0" indent="0" algn="ctr">
              <a:buNone/>
            </a:pPr>
            <a:r>
              <a:rPr lang="en-US" sz="1200" b="1" dirty="0">
                <a:solidFill>
                  <a:srgbClr val="D68910"/>
                </a:solidFill>
                <a:latin typeface="Calibri" pitchFamily="34" charset="0"/>
                <a:ea typeface="Calibri" pitchFamily="34" charset="-122"/>
                <a:cs typeface="Calibri" pitchFamily="34" charset="-120"/>
              </a:rPr>
              <a:t>it</a:t>
            </a:r>
            <a:endParaRPr lang="en-US" sz="1200" dirty="0"/>
          </a:p>
        </p:txBody>
      </p:sp>
      <p:sp>
        <p:nvSpPr>
          <p:cNvPr id="38" name="Text 36"/>
          <p:cNvSpPr/>
          <p:nvPr/>
        </p:nvSpPr>
        <p:spPr>
          <a:xfrm>
            <a:off x="9980097"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was</a:t>
            </a:r>
            <a:endParaRPr lang="en-US" sz="1200" dirty="0"/>
          </a:p>
        </p:txBody>
      </p:sp>
      <p:sp>
        <p:nvSpPr>
          <p:cNvPr id="39" name="Text 37"/>
          <p:cNvSpPr/>
          <p:nvPr/>
        </p:nvSpPr>
        <p:spPr>
          <a:xfrm>
            <a:off x="10419009" y="3403618"/>
            <a:ext cx="420624" cy="320040"/>
          </a:xfrm>
          <a:prstGeom prst="rect">
            <a:avLst/>
          </a:prstGeom>
          <a:noFill/>
          <a:ln/>
        </p:spPr>
        <p:txBody>
          <a:bodyPr wrap="square" lIns="0" tIns="0" rIns="0" bIns="0" rtlCol="0" anchor="ctr"/>
          <a:lstStyle/>
          <a:p>
            <a:pPr marL="0" indent="0" algn="ctr">
              <a:buNone/>
            </a:pPr>
            <a:r>
              <a:rPr lang="en-US" sz="1200" dirty="0">
                <a:solidFill>
                  <a:srgbClr val="1C2833"/>
                </a:solidFill>
                <a:latin typeface="Calibri" pitchFamily="34" charset="0"/>
                <a:ea typeface="Calibri" pitchFamily="34" charset="-122"/>
                <a:cs typeface="Calibri" pitchFamily="34" charset="-120"/>
              </a:rPr>
              <a:t>tired</a:t>
            </a:r>
            <a:endParaRPr lang="en-US" sz="1200" dirty="0"/>
          </a:p>
        </p:txBody>
      </p:sp>
      <p:sp>
        <p:nvSpPr>
          <p:cNvPr id="40" name="Shape 38"/>
          <p:cNvSpPr/>
          <p:nvPr/>
        </p:nvSpPr>
        <p:spPr>
          <a:xfrm>
            <a:off x="6803030" y="3694886"/>
            <a:ext cx="2961710" cy="320040"/>
          </a:xfrm>
          <a:prstGeom prst="bentConnector2">
            <a:avLst/>
          </a:prstGeom>
          <a:noFill/>
          <a:ln w="19050">
            <a:solidFill>
              <a:srgbClr val="D68910"/>
            </a:solidFill>
            <a:prstDash val="solid"/>
            <a:tailEnd type="triangle"/>
          </a:ln>
        </p:spPr>
      </p:sp>
      <p:sp>
        <p:nvSpPr>
          <p:cNvPr id="41" name="Text 39"/>
          <p:cNvSpPr/>
          <p:nvPr/>
        </p:nvSpPr>
        <p:spPr>
          <a:xfrm>
            <a:off x="8041569" y="3937676"/>
            <a:ext cx="4937760" cy="365760"/>
          </a:xfrm>
          <a:prstGeom prst="rect">
            <a:avLst/>
          </a:prstGeom>
          <a:noFill/>
          <a:ln/>
        </p:spPr>
        <p:txBody>
          <a:bodyPr wrap="square" lIns="0" tIns="0" rIns="0" bIns="0" rtlCol="0" anchor="ctr"/>
          <a:lstStyle/>
          <a:p>
            <a:pPr marL="0" indent="0">
              <a:buNone/>
            </a:pPr>
            <a:r>
              <a:rPr lang="en-US" sz="1150" b="1" i="1" dirty="0">
                <a:latin typeface="Calibri" pitchFamily="34" charset="0"/>
                <a:ea typeface="Calibri" pitchFamily="34" charset="-122"/>
                <a:cs typeface="Calibri" pitchFamily="34" charset="-120"/>
              </a:rPr>
              <a:t>11 sequential steps for ‘it’ to connect back to ‘animal’.</a:t>
            </a:r>
            <a:endParaRPr lang="en-US" sz="1150" b="1" dirty="0"/>
          </a:p>
        </p:txBody>
      </p:sp>
      <p:pic>
        <p:nvPicPr>
          <p:cNvPr id="44" name="Picture 43" descr="&quot;drake&quot; Meme Templates - Imgflip">
            <a:extLst>
              <a:ext uri="{FF2B5EF4-FFF2-40B4-BE49-F238E27FC236}">
                <a16:creationId xmlns:a16="http://schemas.microsoft.com/office/drawing/2014/main" id="{BD9E5431-B545-8168-C3FA-AF5B7A783A70}"/>
              </a:ext>
            </a:extLst>
          </p:cNvPr>
          <p:cNvPicPr>
            <a:picLocks noChangeAspect="1"/>
          </p:cNvPicPr>
          <p:nvPr/>
        </p:nvPicPr>
        <p:blipFill>
          <a:blip r:embed="rId3"/>
          <a:stretch>
            <a:fillRect/>
          </a:stretch>
        </p:blipFill>
        <p:spPr>
          <a:xfrm>
            <a:off x="7136313" y="4411295"/>
            <a:ext cx="2690563" cy="2154097"/>
          </a:xfrm>
          <a:prstGeom prst="rect">
            <a:avLst/>
          </a:prstGeom>
        </p:spPr>
      </p:pic>
      <p:sp>
        <p:nvSpPr>
          <p:cNvPr id="46" name="TextBox 45">
            <a:extLst>
              <a:ext uri="{FF2B5EF4-FFF2-40B4-BE49-F238E27FC236}">
                <a16:creationId xmlns:a16="http://schemas.microsoft.com/office/drawing/2014/main" id="{B2307428-5CFA-DA7A-EBF9-BD18BAEF3E97}"/>
              </a:ext>
            </a:extLst>
          </p:cNvPr>
          <p:cNvSpPr txBox="1"/>
          <p:nvPr/>
        </p:nvSpPr>
        <p:spPr>
          <a:xfrm>
            <a:off x="8548673" y="4607765"/>
            <a:ext cx="1278203" cy="646331"/>
          </a:xfrm>
          <a:prstGeom prst="rect">
            <a:avLst/>
          </a:prstGeom>
          <a:noFill/>
        </p:spPr>
        <p:txBody>
          <a:bodyPr wrap="square">
            <a:spAutoFit/>
          </a:bodyPr>
          <a:lstStyle/>
          <a:p>
            <a:r>
              <a:rPr lang="en-IN" sz="1200" dirty="0"/>
              <a:t>Reading one word at a time (RNN)</a:t>
            </a:r>
          </a:p>
        </p:txBody>
      </p:sp>
      <p:sp>
        <p:nvSpPr>
          <p:cNvPr id="48" name="TextBox 47">
            <a:extLst>
              <a:ext uri="{FF2B5EF4-FFF2-40B4-BE49-F238E27FC236}">
                <a16:creationId xmlns:a16="http://schemas.microsoft.com/office/drawing/2014/main" id="{B835BE4E-2C99-FA42-112B-8AACEF7D2655}"/>
              </a:ext>
            </a:extLst>
          </p:cNvPr>
          <p:cNvSpPr txBox="1"/>
          <p:nvPr/>
        </p:nvSpPr>
        <p:spPr>
          <a:xfrm>
            <a:off x="8434391" y="5710676"/>
            <a:ext cx="1520993" cy="646331"/>
          </a:xfrm>
          <a:prstGeom prst="rect">
            <a:avLst/>
          </a:prstGeom>
          <a:noFill/>
        </p:spPr>
        <p:txBody>
          <a:bodyPr wrap="square">
            <a:spAutoFit/>
          </a:bodyPr>
          <a:lstStyle/>
          <a:p>
            <a:r>
              <a:rPr lang="en-IN" sz="1200" dirty="0"/>
              <a:t>Looking at everything together (Transformer)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DA9D85-5061-DCF0-0B56-B1F1B1896A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8E7F90-6866-4DCC-45E6-791162D8C5A9}"/>
              </a:ext>
            </a:extLst>
          </p:cNvPr>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CORE IDEA</a:t>
            </a:r>
            <a:endParaRPr lang="en-US" sz="1200" dirty="0"/>
          </a:p>
        </p:txBody>
      </p:sp>
      <p:sp>
        <p:nvSpPr>
          <p:cNvPr id="3" name="Text 1">
            <a:extLst>
              <a:ext uri="{FF2B5EF4-FFF2-40B4-BE49-F238E27FC236}">
                <a16:creationId xmlns:a16="http://schemas.microsoft.com/office/drawing/2014/main" id="{AB28672D-7EB0-54A6-3554-B9608EA5A30F}"/>
              </a:ext>
            </a:extLst>
          </p:cNvPr>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Attention                                         </a:t>
            </a:r>
            <a:r>
              <a:rPr lang="en-US" sz="3200" b="1" dirty="0">
                <a:solidFill>
                  <a:srgbClr val="1C2833"/>
                </a:solidFill>
                <a:latin typeface="Cambria" pitchFamily="34" charset="0"/>
                <a:ea typeface="Cambria" pitchFamily="34" charset="-122"/>
                <a:cs typeface="Cambria" pitchFamily="34" charset="-120"/>
                <a:sym typeface="Wingdings" panose="05000000000000000000" pitchFamily="2" charset="2"/>
              </a:rPr>
              <a:t>                             Self-Attention </a:t>
            </a:r>
            <a:endParaRPr lang="en-US" sz="3200" dirty="0"/>
          </a:p>
        </p:txBody>
      </p:sp>
      <p:sp>
        <p:nvSpPr>
          <p:cNvPr id="4" name="Text 2">
            <a:extLst>
              <a:ext uri="{FF2B5EF4-FFF2-40B4-BE49-F238E27FC236}">
                <a16:creationId xmlns:a16="http://schemas.microsoft.com/office/drawing/2014/main" id="{6BFF8865-369A-8DA6-9322-3CC2D57D9263}"/>
              </a:ext>
            </a:extLst>
          </p:cNvPr>
          <p:cNvSpPr/>
          <p:nvPr/>
        </p:nvSpPr>
        <p:spPr>
          <a:xfrm>
            <a:off x="548640" y="1417320"/>
            <a:ext cx="3869741" cy="502920"/>
          </a:xfrm>
          <a:prstGeom prst="rect">
            <a:avLst/>
          </a:prstGeom>
          <a:noFill/>
          <a:ln/>
        </p:spPr>
        <p:txBody>
          <a:bodyPr wrap="square" lIns="0" tIns="0" rIns="0" bIns="0" rtlCol="0" anchor="ctr"/>
          <a:lstStyle/>
          <a:p>
            <a:pPr marL="0" indent="0">
              <a:buNone/>
            </a:pPr>
            <a:r>
              <a:rPr lang="en-US" sz="2000" i="1" dirty="0">
                <a:solidFill>
                  <a:srgbClr val="1C2833"/>
                </a:solidFill>
                <a:latin typeface="Cambria" pitchFamily="34" charset="0"/>
                <a:ea typeface="Cambria" pitchFamily="34" charset="-122"/>
                <a:cs typeface="Cambria" pitchFamily="34" charset="-120"/>
              </a:rPr>
              <a:t>“The animal didn’t cross the street because it was too tired.”</a:t>
            </a:r>
            <a:endParaRPr lang="en-US" sz="2000" dirty="0"/>
          </a:p>
        </p:txBody>
      </p:sp>
      <p:sp>
        <p:nvSpPr>
          <p:cNvPr id="5" name="Text 3">
            <a:extLst>
              <a:ext uri="{FF2B5EF4-FFF2-40B4-BE49-F238E27FC236}">
                <a16:creationId xmlns:a16="http://schemas.microsoft.com/office/drawing/2014/main" id="{7BF64BBD-D6A5-3A53-D07B-79613C93C67C}"/>
              </a:ext>
            </a:extLst>
          </p:cNvPr>
          <p:cNvSpPr/>
          <p:nvPr/>
        </p:nvSpPr>
        <p:spPr>
          <a:xfrm>
            <a:off x="537318" y="2060719"/>
            <a:ext cx="4487560" cy="393486"/>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When you read the word “it”, your brain doesn't treat every other word equally — it instantly focuses on “animal”.</a:t>
            </a:r>
            <a:endParaRPr lang="en-US" sz="1400" b="1" dirty="0"/>
          </a:p>
        </p:txBody>
      </p:sp>
      <p:sp>
        <p:nvSpPr>
          <p:cNvPr id="6" name="Shape 4">
            <a:extLst>
              <a:ext uri="{FF2B5EF4-FFF2-40B4-BE49-F238E27FC236}">
                <a16:creationId xmlns:a16="http://schemas.microsoft.com/office/drawing/2014/main" id="{72FC172A-FE1E-D9B2-527E-DD06AE4D3B82}"/>
              </a:ext>
            </a:extLst>
          </p:cNvPr>
          <p:cNvSpPr/>
          <p:nvPr/>
        </p:nvSpPr>
        <p:spPr>
          <a:xfrm>
            <a:off x="627777" y="3751104"/>
            <a:ext cx="606497" cy="57519"/>
          </a:xfrm>
          <a:prstGeom prst="rect">
            <a:avLst/>
          </a:prstGeom>
          <a:solidFill>
            <a:srgbClr val="E8C078"/>
          </a:solidFill>
          <a:ln/>
        </p:spPr>
      </p:sp>
      <p:sp>
        <p:nvSpPr>
          <p:cNvPr id="7" name="Text 5">
            <a:extLst>
              <a:ext uri="{FF2B5EF4-FFF2-40B4-BE49-F238E27FC236}">
                <a16:creationId xmlns:a16="http://schemas.microsoft.com/office/drawing/2014/main" id="{11205B72-CE36-20E8-5545-FB6E418379FA}"/>
              </a:ext>
            </a:extLst>
          </p:cNvPr>
          <p:cNvSpPr/>
          <p:nvPr/>
        </p:nvSpPr>
        <p:spPr>
          <a:xfrm>
            <a:off x="627777" y="3884569"/>
            <a:ext cx="606497" cy="502920"/>
          </a:xfrm>
          <a:prstGeom prst="rect">
            <a:avLst/>
          </a:prstGeom>
          <a:noFill/>
          <a:ln/>
        </p:spPr>
        <p:txBody>
          <a:bodyPr wrap="square" lIns="0" tIns="0" rIns="0" bIns="0" rtlCol="0" anchor="ctr"/>
          <a:lstStyle/>
          <a:p>
            <a:pPr marL="0" indent="0" algn="ctr">
              <a:buNone/>
            </a:pPr>
            <a:r>
              <a:rPr lang="en-US" sz="1250" dirty="0">
                <a:solidFill>
                  <a:srgbClr val="1C2833"/>
                </a:solidFill>
                <a:latin typeface="Calibri" pitchFamily="34" charset="0"/>
                <a:ea typeface="Calibri" pitchFamily="34" charset="-122"/>
                <a:cs typeface="Calibri" pitchFamily="34" charset="-120"/>
              </a:rPr>
              <a:t>The</a:t>
            </a:r>
            <a:endParaRPr lang="en-US" sz="1250" dirty="0"/>
          </a:p>
        </p:txBody>
      </p:sp>
      <p:sp>
        <p:nvSpPr>
          <p:cNvPr id="8" name="Shape 6">
            <a:extLst>
              <a:ext uri="{FF2B5EF4-FFF2-40B4-BE49-F238E27FC236}">
                <a16:creationId xmlns:a16="http://schemas.microsoft.com/office/drawing/2014/main" id="{9E07FC64-6839-F221-BE95-B5A36CBA42AD}"/>
              </a:ext>
            </a:extLst>
          </p:cNvPr>
          <p:cNvSpPr/>
          <p:nvPr/>
        </p:nvSpPr>
        <p:spPr>
          <a:xfrm>
            <a:off x="1423803" y="2632011"/>
            <a:ext cx="606497" cy="1188720"/>
          </a:xfrm>
          <a:prstGeom prst="rect">
            <a:avLst/>
          </a:prstGeom>
          <a:solidFill>
            <a:srgbClr val="D68910"/>
          </a:solidFill>
          <a:ln/>
        </p:spPr>
        <p:txBody>
          <a:bodyPr/>
          <a:lstStyle/>
          <a:p>
            <a:endParaRPr lang="en-IN" dirty="0"/>
          </a:p>
        </p:txBody>
      </p:sp>
      <p:sp>
        <p:nvSpPr>
          <p:cNvPr id="9" name="Text 7">
            <a:extLst>
              <a:ext uri="{FF2B5EF4-FFF2-40B4-BE49-F238E27FC236}">
                <a16:creationId xmlns:a16="http://schemas.microsoft.com/office/drawing/2014/main" id="{64D193FB-CA02-06D5-A9A9-66D52EC29958}"/>
              </a:ext>
            </a:extLst>
          </p:cNvPr>
          <p:cNvSpPr/>
          <p:nvPr/>
        </p:nvSpPr>
        <p:spPr>
          <a:xfrm>
            <a:off x="1423803" y="3881775"/>
            <a:ext cx="606497" cy="502920"/>
          </a:xfrm>
          <a:prstGeom prst="rect">
            <a:avLst/>
          </a:prstGeom>
          <a:noFill/>
          <a:ln/>
        </p:spPr>
        <p:txBody>
          <a:bodyPr wrap="square" lIns="0" tIns="0" rIns="0" bIns="0" rtlCol="0" anchor="ctr"/>
          <a:lstStyle/>
          <a:p>
            <a:pPr marL="0" indent="0" algn="ctr">
              <a:buNone/>
            </a:pPr>
            <a:r>
              <a:rPr lang="en-US" sz="1250" dirty="0">
                <a:solidFill>
                  <a:srgbClr val="1C2833"/>
                </a:solidFill>
                <a:latin typeface="Calibri" pitchFamily="34" charset="0"/>
                <a:ea typeface="Calibri" pitchFamily="34" charset="-122"/>
                <a:cs typeface="Calibri" pitchFamily="34" charset="-120"/>
              </a:rPr>
              <a:t>animal</a:t>
            </a:r>
            <a:endParaRPr lang="en-US" sz="1250" dirty="0"/>
          </a:p>
        </p:txBody>
      </p:sp>
      <p:sp>
        <p:nvSpPr>
          <p:cNvPr id="10" name="Shape 8">
            <a:extLst>
              <a:ext uri="{FF2B5EF4-FFF2-40B4-BE49-F238E27FC236}">
                <a16:creationId xmlns:a16="http://schemas.microsoft.com/office/drawing/2014/main" id="{B413C6A1-28E8-E1DC-B347-F3FF9C9DE5BB}"/>
              </a:ext>
            </a:extLst>
          </p:cNvPr>
          <p:cNvSpPr/>
          <p:nvPr/>
        </p:nvSpPr>
        <p:spPr>
          <a:xfrm>
            <a:off x="2219829" y="3712758"/>
            <a:ext cx="606497" cy="95865"/>
          </a:xfrm>
          <a:prstGeom prst="rect">
            <a:avLst/>
          </a:prstGeom>
          <a:solidFill>
            <a:srgbClr val="E8C078"/>
          </a:solidFill>
          <a:ln/>
        </p:spPr>
      </p:sp>
      <p:sp>
        <p:nvSpPr>
          <p:cNvPr id="11" name="Text 9">
            <a:extLst>
              <a:ext uri="{FF2B5EF4-FFF2-40B4-BE49-F238E27FC236}">
                <a16:creationId xmlns:a16="http://schemas.microsoft.com/office/drawing/2014/main" id="{FBA22CFD-B3AE-9DA8-7380-7B24F0F65E8D}"/>
              </a:ext>
            </a:extLst>
          </p:cNvPr>
          <p:cNvSpPr/>
          <p:nvPr/>
        </p:nvSpPr>
        <p:spPr>
          <a:xfrm>
            <a:off x="2219829" y="3884569"/>
            <a:ext cx="606497" cy="502920"/>
          </a:xfrm>
          <a:prstGeom prst="rect">
            <a:avLst/>
          </a:prstGeom>
          <a:noFill/>
          <a:ln/>
        </p:spPr>
        <p:txBody>
          <a:bodyPr wrap="square" lIns="0" tIns="0" rIns="0" bIns="0" rtlCol="0" anchor="ctr"/>
          <a:lstStyle/>
          <a:p>
            <a:pPr marL="0" indent="0" algn="ctr">
              <a:buNone/>
            </a:pPr>
            <a:r>
              <a:rPr lang="en-US" sz="1250" dirty="0"/>
              <a:t>…..</a:t>
            </a:r>
          </a:p>
        </p:txBody>
      </p:sp>
      <p:sp>
        <p:nvSpPr>
          <p:cNvPr id="20" name="Text 18">
            <a:extLst>
              <a:ext uri="{FF2B5EF4-FFF2-40B4-BE49-F238E27FC236}">
                <a16:creationId xmlns:a16="http://schemas.microsoft.com/office/drawing/2014/main" id="{CC14CD25-3A55-B504-68CC-4486BAADAA31}"/>
              </a:ext>
            </a:extLst>
          </p:cNvPr>
          <p:cNvSpPr/>
          <p:nvPr/>
        </p:nvSpPr>
        <p:spPr>
          <a:xfrm>
            <a:off x="3076039" y="3838268"/>
            <a:ext cx="606498" cy="502920"/>
          </a:xfrm>
          <a:prstGeom prst="rect">
            <a:avLst/>
          </a:prstGeom>
          <a:solidFill>
            <a:srgbClr val="1C2833"/>
          </a:solid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it</a:t>
            </a:r>
            <a:endParaRPr lang="en-US" sz="1250" dirty="0"/>
          </a:p>
        </p:txBody>
      </p:sp>
      <p:sp>
        <p:nvSpPr>
          <p:cNvPr id="22" name="Text 20">
            <a:extLst>
              <a:ext uri="{FF2B5EF4-FFF2-40B4-BE49-F238E27FC236}">
                <a16:creationId xmlns:a16="http://schemas.microsoft.com/office/drawing/2014/main" id="{753ABD19-1606-EE38-8370-176F94A14944}"/>
              </a:ext>
            </a:extLst>
          </p:cNvPr>
          <p:cNvSpPr/>
          <p:nvPr/>
        </p:nvSpPr>
        <p:spPr>
          <a:xfrm>
            <a:off x="3832137" y="3832957"/>
            <a:ext cx="606498" cy="502920"/>
          </a:xfrm>
          <a:prstGeom prst="rect">
            <a:avLst/>
          </a:prstGeom>
          <a:noFill/>
          <a:ln/>
        </p:spPr>
        <p:txBody>
          <a:bodyPr wrap="square" lIns="0" tIns="0" rIns="0" bIns="0" rtlCol="0" anchor="ctr"/>
          <a:lstStyle/>
          <a:p>
            <a:pPr marL="0" indent="0" algn="ctr">
              <a:buNone/>
            </a:pPr>
            <a:r>
              <a:rPr lang="en-US" sz="1250" dirty="0">
                <a:solidFill>
                  <a:srgbClr val="1C2833"/>
                </a:solidFill>
                <a:latin typeface="Calibri" pitchFamily="34" charset="0"/>
                <a:ea typeface="Calibri" pitchFamily="34" charset="-122"/>
                <a:cs typeface="Calibri" pitchFamily="34" charset="-120"/>
              </a:rPr>
              <a:t>…..</a:t>
            </a:r>
            <a:endParaRPr lang="en-US" sz="1250" dirty="0"/>
          </a:p>
        </p:txBody>
      </p:sp>
      <p:sp>
        <p:nvSpPr>
          <p:cNvPr id="23" name="Shape 21">
            <a:extLst>
              <a:ext uri="{FF2B5EF4-FFF2-40B4-BE49-F238E27FC236}">
                <a16:creationId xmlns:a16="http://schemas.microsoft.com/office/drawing/2014/main" id="{7D8F1255-EE53-1796-1DE0-8E7819F8A0E1}"/>
              </a:ext>
            </a:extLst>
          </p:cNvPr>
          <p:cNvSpPr/>
          <p:nvPr/>
        </p:nvSpPr>
        <p:spPr>
          <a:xfrm>
            <a:off x="3832138" y="3729718"/>
            <a:ext cx="606497" cy="57519"/>
          </a:xfrm>
          <a:prstGeom prst="rect">
            <a:avLst/>
          </a:prstGeom>
          <a:solidFill>
            <a:srgbClr val="E8C078"/>
          </a:solidFill>
          <a:ln/>
        </p:spPr>
      </p:sp>
      <p:sp>
        <p:nvSpPr>
          <p:cNvPr id="25" name="Shape 23">
            <a:extLst>
              <a:ext uri="{FF2B5EF4-FFF2-40B4-BE49-F238E27FC236}">
                <a16:creationId xmlns:a16="http://schemas.microsoft.com/office/drawing/2014/main" id="{6575173F-37A0-BF66-FA93-939FD8DB5C28}"/>
              </a:ext>
            </a:extLst>
          </p:cNvPr>
          <p:cNvSpPr/>
          <p:nvPr/>
        </p:nvSpPr>
        <p:spPr>
          <a:xfrm>
            <a:off x="4663440" y="3259983"/>
            <a:ext cx="606497" cy="548640"/>
          </a:xfrm>
          <a:prstGeom prst="rect">
            <a:avLst/>
          </a:prstGeom>
          <a:solidFill>
            <a:srgbClr val="D68910"/>
          </a:solidFill>
          <a:ln/>
        </p:spPr>
      </p:sp>
      <p:sp>
        <p:nvSpPr>
          <p:cNvPr id="26" name="Text 24">
            <a:extLst>
              <a:ext uri="{FF2B5EF4-FFF2-40B4-BE49-F238E27FC236}">
                <a16:creationId xmlns:a16="http://schemas.microsoft.com/office/drawing/2014/main" id="{AD60467F-A03A-7526-8548-BF08945EA69A}"/>
              </a:ext>
            </a:extLst>
          </p:cNvPr>
          <p:cNvSpPr/>
          <p:nvPr/>
        </p:nvSpPr>
        <p:spPr>
          <a:xfrm>
            <a:off x="4663440" y="3879415"/>
            <a:ext cx="606497" cy="502920"/>
          </a:xfrm>
          <a:prstGeom prst="rect">
            <a:avLst/>
          </a:prstGeom>
          <a:noFill/>
          <a:ln/>
        </p:spPr>
        <p:txBody>
          <a:bodyPr wrap="square" lIns="0" tIns="0" rIns="0" bIns="0" rtlCol="0" anchor="ctr"/>
          <a:lstStyle/>
          <a:p>
            <a:pPr marL="0" indent="0" algn="ctr">
              <a:buNone/>
            </a:pPr>
            <a:r>
              <a:rPr lang="en-US" sz="1250" dirty="0">
                <a:solidFill>
                  <a:srgbClr val="1C2833"/>
                </a:solidFill>
                <a:latin typeface="Calibri" pitchFamily="34" charset="0"/>
                <a:ea typeface="Calibri" pitchFamily="34" charset="-122"/>
                <a:cs typeface="Calibri" pitchFamily="34" charset="-120"/>
              </a:rPr>
              <a:t>tired</a:t>
            </a:r>
            <a:endParaRPr lang="en-US" sz="1250" dirty="0"/>
          </a:p>
        </p:txBody>
      </p:sp>
      <p:sp>
        <p:nvSpPr>
          <p:cNvPr id="27" name="Text 25">
            <a:extLst>
              <a:ext uri="{FF2B5EF4-FFF2-40B4-BE49-F238E27FC236}">
                <a16:creationId xmlns:a16="http://schemas.microsoft.com/office/drawing/2014/main" id="{09A3981E-48B0-2F45-B7C6-6BAE0449C59E}"/>
              </a:ext>
            </a:extLst>
          </p:cNvPr>
          <p:cNvSpPr/>
          <p:nvPr/>
        </p:nvSpPr>
        <p:spPr>
          <a:xfrm>
            <a:off x="548640" y="4387489"/>
            <a:ext cx="4803006" cy="361499"/>
          </a:xfrm>
          <a:prstGeom prst="rect">
            <a:avLst/>
          </a:prstGeom>
          <a:noFill/>
          <a:ln/>
        </p:spPr>
        <p:txBody>
          <a:bodyPr wrap="square" lIns="0" tIns="0" rIns="0" bIns="0" rtlCol="0" anchor="ctr"/>
          <a:lstStyle/>
          <a:p>
            <a:pPr marL="0" indent="0">
              <a:buNone/>
            </a:pPr>
            <a:r>
              <a:rPr lang="en-US" sz="1150" b="1" i="1" dirty="0">
                <a:latin typeface="Calibri" pitchFamily="34" charset="0"/>
                <a:ea typeface="Calibri" pitchFamily="34" charset="-122"/>
                <a:cs typeface="Calibri" pitchFamily="34" charset="-120"/>
              </a:rPr>
              <a:t>Bar height = how much attention the word “it” pays to every other word</a:t>
            </a:r>
            <a:endParaRPr lang="en-US" sz="1150" b="1" dirty="0"/>
          </a:p>
        </p:txBody>
      </p:sp>
      <p:sp>
        <p:nvSpPr>
          <p:cNvPr id="28" name="Shape 26">
            <a:extLst>
              <a:ext uri="{FF2B5EF4-FFF2-40B4-BE49-F238E27FC236}">
                <a16:creationId xmlns:a16="http://schemas.microsoft.com/office/drawing/2014/main" id="{01C8CDD7-1A35-E330-4328-382073C84465}"/>
              </a:ext>
            </a:extLst>
          </p:cNvPr>
          <p:cNvSpPr/>
          <p:nvPr/>
        </p:nvSpPr>
        <p:spPr>
          <a:xfrm>
            <a:off x="548640" y="4795289"/>
            <a:ext cx="4721297" cy="1770103"/>
          </a:xfrm>
          <a:prstGeom prst="roundRect">
            <a:avLst>
              <a:gd name="adj" fmla="val 4615"/>
            </a:avLst>
          </a:prstGeom>
          <a:solidFill>
            <a:srgbClr val="F4F6F7"/>
          </a:solidFill>
          <a:ln w="12700">
            <a:solidFill>
              <a:srgbClr val="D5D8DC"/>
            </a:solidFill>
            <a:prstDash val="solid"/>
          </a:ln>
        </p:spPr>
      </p:sp>
      <p:sp>
        <p:nvSpPr>
          <p:cNvPr id="29" name="Text 27">
            <a:extLst>
              <a:ext uri="{FF2B5EF4-FFF2-40B4-BE49-F238E27FC236}">
                <a16:creationId xmlns:a16="http://schemas.microsoft.com/office/drawing/2014/main" id="{2BE55DDA-B51F-F5EB-BB5A-32CD5A11520F}"/>
              </a:ext>
            </a:extLst>
          </p:cNvPr>
          <p:cNvSpPr/>
          <p:nvPr/>
        </p:nvSpPr>
        <p:spPr>
          <a:xfrm>
            <a:off x="737922" y="5029200"/>
            <a:ext cx="4550887" cy="1280160"/>
          </a:xfrm>
          <a:prstGeom prst="rect">
            <a:avLst/>
          </a:prstGeom>
          <a:noFill/>
          <a:ln/>
        </p:spPr>
        <p:txBody>
          <a:bodyPr wrap="square" lIns="0" tIns="0" rIns="0" bIns="0" rtlCol="0" anchor="ctr"/>
          <a:lstStyle/>
          <a:p>
            <a:pPr marL="0" indent="0">
              <a:lnSpc>
                <a:spcPct val="125000"/>
              </a:lnSpc>
              <a:buNone/>
            </a:pPr>
            <a:r>
              <a:rPr lang="en-US" sz="1450" dirty="0">
                <a:solidFill>
                  <a:srgbClr val="1C2833"/>
                </a:solidFill>
                <a:latin typeface="Calibri" pitchFamily="34" charset="0"/>
                <a:ea typeface="Calibri" pitchFamily="34" charset="-122"/>
                <a:cs typeface="Calibri" pitchFamily="34" charset="-120"/>
              </a:rPr>
              <a:t>Attention, in one sentence:  </a:t>
            </a:r>
            <a:r>
              <a:rPr lang="en-US" sz="1450" dirty="0">
                <a:solidFill>
                  <a:srgbClr val="5A6570"/>
                </a:solidFill>
                <a:latin typeface="Calibri" pitchFamily="34" charset="0"/>
                <a:ea typeface="Calibri" pitchFamily="34" charset="-122"/>
                <a:cs typeface="Calibri" pitchFamily="34" charset="-120"/>
              </a:rPr>
              <a:t>for every word, look at every other word in the sequence and decide — with a learned weight — how relevant each one is to understanding this word.</a:t>
            </a:r>
          </a:p>
          <a:p>
            <a:pPr>
              <a:lnSpc>
                <a:spcPct val="125000"/>
              </a:lnSpc>
            </a:pPr>
            <a:r>
              <a:rPr lang="en-IN" sz="1450" b="1" dirty="0">
                <a:latin typeface="Calibri "/>
              </a:rPr>
              <a:t>Attention lets a token focus on important words. Self-attention applies this idea within the same sentence</a:t>
            </a:r>
            <a:r>
              <a:rPr lang="en-IN" sz="1600" b="1" dirty="0"/>
              <a:t>.</a:t>
            </a:r>
            <a:endParaRPr lang="en-US" sz="1450" b="1" dirty="0">
              <a:solidFill>
                <a:srgbClr val="5A6570"/>
              </a:solidFill>
              <a:latin typeface="Calibri" pitchFamily="34" charset="0"/>
              <a:ea typeface="Calibri" pitchFamily="34" charset="-122"/>
              <a:cs typeface="Calibri" pitchFamily="34" charset="-120"/>
            </a:endParaRPr>
          </a:p>
        </p:txBody>
      </p:sp>
      <p:sp>
        <p:nvSpPr>
          <p:cNvPr id="32" name="TextBox 31">
            <a:extLst>
              <a:ext uri="{FF2B5EF4-FFF2-40B4-BE49-F238E27FC236}">
                <a16:creationId xmlns:a16="http://schemas.microsoft.com/office/drawing/2014/main" id="{2A289032-ADF8-7A02-F182-84F6A02C754F}"/>
              </a:ext>
            </a:extLst>
          </p:cNvPr>
          <p:cNvSpPr txBox="1"/>
          <p:nvPr/>
        </p:nvSpPr>
        <p:spPr>
          <a:xfrm>
            <a:off x="6977207" y="1414420"/>
            <a:ext cx="4848728" cy="2210605"/>
          </a:xfrm>
          <a:prstGeom prst="rect">
            <a:avLst/>
          </a:prstGeom>
          <a:noFill/>
        </p:spPr>
        <p:txBody>
          <a:bodyPr wrap="square">
            <a:spAutoFit/>
          </a:bodyPr>
          <a:lstStyle/>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In self-attention, queries, keys, and values all come from the same sequence.</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Every position can directly attend to every other position — no matter the distance.</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There is no step-by-step recurrence, so all positions can be processed in parallel.</a:t>
            </a:r>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Path length(Self Attention) :O(1)  ,Path Length (RNN) :O(n)</a:t>
            </a:r>
            <a:endParaRPr lang="en-US" sz="1500" dirty="0"/>
          </a:p>
        </p:txBody>
      </p:sp>
      <p:sp>
        <p:nvSpPr>
          <p:cNvPr id="34" name="Shape 6">
            <a:extLst>
              <a:ext uri="{FF2B5EF4-FFF2-40B4-BE49-F238E27FC236}">
                <a16:creationId xmlns:a16="http://schemas.microsoft.com/office/drawing/2014/main" id="{8FA55FA9-C651-8FB8-EEB2-3FB327E53D2D}"/>
              </a:ext>
            </a:extLst>
          </p:cNvPr>
          <p:cNvSpPr/>
          <p:nvPr/>
        </p:nvSpPr>
        <p:spPr>
          <a:xfrm>
            <a:off x="7564251" y="4343400"/>
            <a:ext cx="3291840" cy="0"/>
          </a:xfrm>
          <a:prstGeom prst="line">
            <a:avLst/>
          </a:prstGeom>
          <a:noFill/>
          <a:ln w="12700">
            <a:solidFill>
              <a:srgbClr val="D5D8DC"/>
            </a:solidFill>
            <a:prstDash val="solid"/>
          </a:ln>
        </p:spPr>
      </p:sp>
      <p:sp>
        <p:nvSpPr>
          <p:cNvPr id="36" name="Shape 7">
            <a:extLst>
              <a:ext uri="{FF2B5EF4-FFF2-40B4-BE49-F238E27FC236}">
                <a16:creationId xmlns:a16="http://schemas.microsoft.com/office/drawing/2014/main" id="{F4DBEA5F-C3B3-FF72-D607-35880A44C4DB}"/>
              </a:ext>
            </a:extLst>
          </p:cNvPr>
          <p:cNvSpPr/>
          <p:nvPr/>
        </p:nvSpPr>
        <p:spPr>
          <a:xfrm rot="5400000">
            <a:off x="6855591" y="5052061"/>
            <a:ext cx="1417320" cy="0"/>
          </a:xfrm>
          <a:prstGeom prst="line">
            <a:avLst/>
          </a:prstGeom>
          <a:noFill/>
          <a:ln w="12700">
            <a:solidFill>
              <a:srgbClr val="D5D8DC"/>
            </a:solidFill>
            <a:prstDash val="solid"/>
          </a:ln>
        </p:spPr>
      </p:sp>
      <p:sp>
        <p:nvSpPr>
          <p:cNvPr id="38" name="Shape 8">
            <a:extLst>
              <a:ext uri="{FF2B5EF4-FFF2-40B4-BE49-F238E27FC236}">
                <a16:creationId xmlns:a16="http://schemas.microsoft.com/office/drawing/2014/main" id="{9E89A7FC-C234-EF3C-C08F-86E389D4D014}"/>
              </a:ext>
            </a:extLst>
          </p:cNvPr>
          <p:cNvSpPr/>
          <p:nvPr/>
        </p:nvSpPr>
        <p:spPr>
          <a:xfrm rot="1397674">
            <a:off x="7509616" y="5180078"/>
            <a:ext cx="3583993" cy="0"/>
          </a:xfrm>
          <a:prstGeom prst="line">
            <a:avLst/>
          </a:prstGeom>
          <a:noFill/>
          <a:ln w="12700">
            <a:solidFill>
              <a:srgbClr val="D5D8DC"/>
            </a:solidFill>
            <a:prstDash val="solid"/>
          </a:ln>
        </p:spPr>
      </p:sp>
      <p:sp>
        <p:nvSpPr>
          <p:cNvPr id="40" name="Shape 9">
            <a:extLst>
              <a:ext uri="{FF2B5EF4-FFF2-40B4-BE49-F238E27FC236}">
                <a16:creationId xmlns:a16="http://schemas.microsoft.com/office/drawing/2014/main" id="{AF24B593-24AC-2B6C-619C-80584626013C}"/>
              </a:ext>
            </a:extLst>
          </p:cNvPr>
          <p:cNvSpPr/>
          <p:nvPr/>
        </p:nvSpPr>
        <p:spPr>
          <a:xfrm rot="9402326">
            <a:off x="7356119" y="5143502"/>
            <a:ext cx="3583993" cy="0"/>
          </a:xfrm>
          <a:prstGeom prst="line">
            <a:avLst/>
          </a:prstGeom>
          <a:noFill/>
          <a:ln w="12700">
            <a:solidFill>
              <a:srgbClr val="D5D8DC"/>
            </a:solidFill>
            <a:prstDash val="solid"/>
          </a:ln>
        </p:spPr>
      </p:sp>
      <p:sp>
        <p:nvSpPr>
          <p:cNvPr id="42" name="Shape 10">
            <a:extLst>
              <a:ext uri="{FF2B5EF4-FFF2-40B4-BE49-F238E27FC236}">
                <a16:creationId xmlns:a16="http://schemas.microsoft.com/office/drawing/2014/main" id="{19A7F07B-10DB-CA2E-4C02-9D1A025DBAA7}"/>
              </a:ext>
            </a:extLst>
          </p:cNvPr>
          <p:cNvSpPr/>
          <p:nvPr/>
        </p:nvSpPr>
        <p:spPr>
          <a:xfrm rot="5400000">
            <a:off x="10147431" y="5052060"/>
            <a:ext cx="1417320" cy="0"/>
          </a:xfrm>
          <a:prstGeom prst="line">
            <a:avLst/>
          </a:prstGeom>
          <a:noFill/>
          <a:ln w="12700">
            <a:solidFill>
              <a:srgbClr val="D5D8DC"/>
            </a:solidFill>
            <a:prstDash val="solid"/>
          </a:ln>
        </p:spPr>
      </p:sp>
      <p:sp>
        <p:nvSpPr>
          <p:cNvPr id="44" name="Shape 11">
            <a:extLst>
              <a:ext uri="{FF2B5EF4-FFF2-40B4-BE49-F238E27FC236}">
                <a16:creationId xmlns:a16="http://schemas.microsoft.com/office/drawing/2014/main" id="{D17D1A74-A61B-C1DE-6375-C1AE909750F9}"/>
              </a:ext>
            </a:extLst>
          </p:cNvPr>
          <p:cNvSpPr/>
          <p:nvPr/>
        </p:nvSpPr>
        <p:spPr>
          <a:xfrm>
            <a:off x="7564251" y="5760720"/>
            <a:ext cx="3291840" cy="0"/>
          </a:xfrm>
          <a:prstGeom prst="line">
            <a:avLst/>
          </a:prstGeom>
          <a:noFill/>
          <a:ln w="12700">
            <a:solidFill>
              <a:srgbClr val="D5D8DC"/>
            </a:solidFill>
            <a:prstDash val="solid"/>
          </a:ln>
        </p:spPr>
      </p:sp>
      <p:sp>
        <p:nvSpPr>
          <p:cNvPr id="46" name="Shape 12">
            <a:extLst>
              <a:ext uri="{FF2B5EF4-FFF2-40B4-BE49-F238E27FC236}">
                <a16:creationId xmlns:a16="http://schemas.microsoft.com/office/drawing/2014/main" id="{7C4A8B73-3B4D-AA64-B3E6-907AC68DD6B6}"/>
              </a:ext>
            </a:extLst>
          </p:cNvPr>
          <p:cNvSpPr/>
          <p:nvPr/>
        </p:nvSpPr>
        <p:spPr>
          <a:xfrm>
            <a:off x="7107051" y="4069080"/>
            <a:ext cx="914400" cy="548640"/>
          </a:xfrm>
          <a:prstGeom prst="roundRect">
            <a:avLst>
              <a:gd name="adj" fmla="val 83333"/>
            </a:avLst>
          </a:prstGeom>
          <a:solidFill>
            <a:srgbClr val="1C2833"/>
          </a:solidFill>
          <a:ln w="12700">
            <a:solidFill>
              <a:srgbClr val="1C2833"/>
            </a:solidFill>
            <a:prstDash val="solid"/>
          </a:ln>
        </p:spPr>
      </p:sp>
      <p:sp>
        <p:nvSpPr>
          <p:cNvPr id="48" name="Text 13">
            <a:extLst>
              <a:ext uri="{FF2B5EF4-FFF2-40B4-BE49-F238E27FC236}">
                <a16:creationId xmlns:a16="http://schemas.microsoft.com/office/drawing/2014/main" id="{94F5512F-92C3-61EE-9092-5F86CE848CFA}"/>
              </a:ext>
            </a:extLst>
          </p:cNvPr>
          <p:cNvSpPr/>
          <p:nvPr/>
        </p:nvSpPr>
        <p:spPr>
          <a:xfrm>
            <a:off x="7107051" y="4069080"/>
            <a:ext cx="91440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The</a:t>
            </a:r>
            <a:endParaRPr lang="en-US" sz="1150" dirty="0"/>
          </a:p>
        </p:txBody>
      </p:sp>
      <p:sp>
        <p:nvSpPr>
          <p:cNvPr id="50" name="Shape 14">
            <a:extLst>
              <a:ext uri="{FF2B5EF4-FFF2-40B4-BE49-F238E27FC236}">
                <a16:creationId xmlns:a16="http://schemas.microsoft.com/office/drawing/2014/main" id="{A0EE6A55-2812-0B20-216D-62C7D1AD9DFD}"/>
              </a:ext>
            </a:extLst>
          </p:cNvPr>
          <p:cNvSpPr/>
          <p:nvPr/>
        </p:nvSpPr>
        <p:spPr>
          <a:xfrm>
            <a:off x="10398891" y="4069080"/>
            <a:ext cx="914400" cy="548640"/>
          </a:xfrm>
          <a:prstGeom prst="roundRect">
            <a:avLst>
              <a:gd name="adj" fmla="val 83333"/>
            </a:avLst>
          </a:prstGeom>
          <a:solidFill>
            <a:srgbClr val="1C2833"/>
          </a:solidFill>
          <a:ln w="12700">
            <a:solidFill>
              <a:srgbClr val="1C2833"/>
            </a:solidFill>
            <a:prstDash val="solid"/>
          </a:ln>
        </p:spPr>
      </p:sp>
      <p:sp>
        <p:nvSpPr>
          <p:cNvPr id="52" name="Text 15">
            <a:extLst>
              <a:ext uri="{FF2B5EF4-FFF2-40B4-BE49-F238E27FC236}">
                <a16:creationId xmlns:a16="http://schemas.microsoft.com/office/drawing/2014/main" id="{20975A80-7C5E-8126-CF55-8B95900ECAC1}"/>
              </a:ext>
            </a:extLst>
          </p:cNvPr>
          <p:cNvSpPr/>
          <p:nvPr/>
        </p:nvSpPr>
        <p:spPr>
          <a:xfrm>
            <a:off x="10398891" y="4069080"/>
            <a:ext cx="91440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animal</a:t>
            </a:r>
            <a:endParaRPr lang="en-US" sz="1150" dirty="0"/>
          </a:p>
        </p:txBody>
      </p:sp>
      <p:sp>
        <p:nvSpPr>
          <p:cNvPr id="54" name="Shape 16">
            <a:extLst>
              <a:ext uri="{FF2B5EF4-FFF2-40B4-BE49-F238E27FC236}">
                <a16:creationId xmlns:a16="http://schemas.microsoft.com/office/drawing/2014/main" id="{853DFF75-4532-DFBC-0DC7-9460FAA926F3}"/>
              </a:ext>
            </a:extLst>
          </p:cNvPr>
          <p:cNvSpPr/>
          <p:nvPr/>
        </p:nvSpPr>
        <p:spPr>
          <a:xfrm>
            <a:off x="7107051" y="5486400"/>
            <a:ext cx="914400" cy="548640"/>
          </a:xfrm>
          <a:prstGeom prst="roundRect">
            <a:avLst>
              <a:gd name="adj" fmla="val 83333"/>
            </a:avLst>
          </a:prstGeom>
          <a:solidFill>
            <a:srgbClr val="1C2833"/>
          </a:solidFill>
          <a:ln w="12700">
            <a:solidFill>
              <a:srgbClr val="1C2833"/>
            </a:solidFill>
            <a:prstDash val="solid"/>
          </a:ln>
        </p:spPr>
      </p:sp>
      <p:sp>
        <p:nvSpPr>
          <p:cNvPr id="56" name="Text 17">
            <a:extLst>
              <a:ext uri="{FF2B5EF4-FFF2-40B4-BE49-F238E27FC236}">
                <a16:creationId xmlns:a16="http://schemas.microsoft.com/office/drawing/2014/main" id="{7EF7B647-0200-3391-4214-6BD8915BDC8F}"/>
              </a:ext>
            </a:extLst>
          </p:cNvPr>
          <p:cNvSpPr/>
          <p:nvPr/>
        </p:nvSpPr>
        <p:spPr>
          <a:xfrm>
            <a:off x="7107051" y="5486400"/>
            <a:ext cx="91440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was</a:t>
            </a:r>
            <a:endParaRPr lang="en-US" sz="1150" dirty="0"/>
          </a:p>
        </p:txBody>
      </p:sp>
      <p:sp>
        <p:nvSpPr>
          <p:cNvPr id="58" name="Shape 18">
            <a:extLst>
              <a:ext uri="{FF2B5EF4-FFF2-40B4-BE49-F238E27FC236}">
                <a16:creationId xmlns:a16="http://schemas.microsoft.com/office/drawing/2014/main" id="{CFEBF910-64C0-2EA1-470E-2E2F5D475D5A}"/>
              </a:ext>
            </a:extLst>
          </p:cNvPr>
          <p:cNvSpPr/>
          <p:nvPr/>
        </p:nvSpPr>
        <p:spPr>
          <a:xfrm>
            <a:off x="10398891" y="5486400"/>
            <a:ext cx="914400" cy="548640"/>
          </a:xfrm>
          <a:prstGeom prst="roundRect">
            <a:avLst>
              <a:gd name="adj" fmla="val 83333"/>
            </a:avLst>
          </a:prstGeom>
          <a:solidFill>
            <a:srgbClr val="1C2833"/>
          </a:solidFill>
          <a:ln w="12700">
            <a:solidFill>
              <a:srgbClr val="1C2833"/>
            </a:solidFill>
            <a:prstDash val="solid"/>
          </a:ln>
        </p:spPr>
      </p:sp>
      <p:sp>
        <p:nvSpPr>
          <p:cNvPr id="60" name="Text 19">
            <a:extLst>
              <a:ext uri="{FF2B5EF4-FFF2-40B4-BE49-F238E27FC236}">
                <a16:creationId xmlns:a16="http://schemas.microsoft.com/office/drawing/2014/main" id="{31A2B706-3F0D-DEFD-6A4A-BE3EECCD56EC}"/>
              </a:ext>
            </a:extLst>
          </p:cNvPr>
          <p:cNvSpPr/>
          <p:nvPr/>
        </p:nvSpPr>
        <p:spPr>
          <a:xfrm>
            <a:off x="10398891" y="5486400"/>
            <a:ext cx="91440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tired</a:t>
            </a:r>
            <a:endParaRPr lang="en-US" sz="1150" dirty="0"/>
          </a:p>
        </p:txBody>
      </p:sp>
      <p:pic>
        <p:nvPicPr>
          <p:cNvPr id="62" name="Picture 61" descr="Spider Man Pointing Svg - Etsy">
            <a:extLst>
              <a:ext uri="{FF2B5EF4-FFF2-40B4-BE49-F238E27FC236}">
                <a16:creationId xmlns:a16="http://schemas.microsoft.com/office/drawing/2014/main" id="{95382C86-2025-521E-0E08-AA3EBA195A25}"/>
              </a:ext>
            </a:extLst>
          </p:cNvPr>
          <p:cNvPicPr>
            <a:picLocks noChangeAspect="1"/>
          </p:cNvPicPr>
          <p:nvPr/>
        </p:nvPicPr>
        <p:blipFill>
          <a:blip r:embed="rId3">
            <a:alphaModFix amt="70000"/>
          </a:blip>
          <a:stretch>
            <a:fillRect/>
          </a:stretch>
        </p:blipFill>
        <p:spPr>
          <a:xfrm>
            <a:off x="8397951" y="4471417"/>
            <a:ext cx="1543741" cy="1215491"/>
          </a:xfrm>
          <a:prstGeom prst="rect">
            <a:avLst/>
          </a:prstGeom>
        </p:spPr>
      </p:pic>
      <p:sp>
        <p:nvSpPr>
          <p:cNvPr id="64" name="TextBox 63">
            <a:extLst>
              <a:ext uri="{FF2B5EF4-FFF2-40B4-BE49-F238E27FC236}">
                <a16:creationId xmlns:a16="http://schemas.microsoft.com/office/drawing/2014/main" id="{8455A4F7-D25B-B3B9-63BA-4EE77D1DB3F2}"/>
              </a:ext>
            </a:extLst>
          </p:cNvPr>
          <p:cNvSpPr txBox="1"/>
          <p:nvPr/>
        </p:nvSpPr>
        <p:spPr>
          <a:xfrm>
            <a:off x="7104638" y="6172200"/>
            <a:ext cx="4721297" cy="274320"/>
          </a:xfrm>
          <a:prstGeom prst="rect">
            <a:avLst/>
          </a:prstGeom>
          <a:noFill/>
        </p:spPr>
        <p:txBody>
          <a:bodyPr wrap="square">
            <a:spAutoFit/>
          </a:bodyPr>
          <a:lstStyle/>
          <a:p>
            <a:pPr marL="0" indent="0">
              <a:buNone/>
            </a:pPr>
            <a:r>
              <a:rPr lang="en-US" sz="1150" i="1" dirty="0">
                <a:latin typeface="Calibri" pitchFamily="34" charset="0"/>
                <a:ea typeface="Calibri" pitchFamily="34" charset="-122"/>
                <a:cs typeface="Calibri" pitchFamily="34" charset="-120"/>
              </a:rPr>
              <a:t>Each word Looking at every Other Word — including itself — in a single step.</a:t>
            </a:r>
            <a:endParaRPr lang="en-US" sz="1150" dirty="0"/>
          </a:p>
        </p:txBody>
      </p:sp>
      <p:sp>
        <p:nvSpPr>
          <p:cNvPr id="66" name="TextBox 65">
            <a:extLst>
              <a:ext uri="{FF2B5EF4-FFF2-40B4-BE49-F238E27FC236}">
                <a16:creationId xmlns:a16="http://schemas.microsoft.com/office/drawing/2014/main" id="{D4705B1C-1F81-1BB1-9773-F4E88D74379F}"/>
              </a:ext>
            </a:extLst>
          </p:cNvPr>
          <p:cNvSpPr txBox="1"/>
          <p:nvPr/>
        </p:nvSpPr>
        <p:spPr>
          <a:xfrm>
            <a:off x="7104638" y="3773897"/>
            <a:ext cx="6097604" cy="276999"/>
          </a:xfrm>
          <a:prstGeom prst="rect">
            <a:avLst/>
          </a:prstGeom>
          <a:noFill/>
        </p:spPr>
        <p:txBody>
          <a:bodyPr wrap="square">
            <a:spAutoFit/>
          </a:bodyPr>
          <a:lstStyle/>
          <a:p>
            <a:pPr marL="0" indent="0">
              <a:buNone/>
            </a:pPr>
            <a:r>
              <a:rPr lang="en-US" sz="1200" b="1" dirty="0">
                <a:solidFill>
                  <a:srgbClr val="5A6570"/>
                </a:solidFill>
                <a:latin typeface="Calibri" pitchFamily="34" charset="0"/>
                <a:ea typeface="Calibri" pitchFamily="34" charset="-122"/>
                <a:cs typeface="Calibri" pitchFamily="34" charset="-120"/>
              </a:rPr>
              <a:t>All-to-all connections (self-attention)</a:t>
            </a:r>
            <a:endParaRPr lang="en-US" sz="1200" dirty="0"/>
          </a:p>
        </p:txBody>
      </p:sp>
    </p:spTree>
    <p:extLst>
      <p:ext uri="{BB962C8B-B14F-4D97-AF65-F5344CB8AC3E}">
        <p14:creationId xmlns:p14="http://schemas.microsoft.com/office/powerpoint/2010/main" val="31792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r>
              <a:rPr lang="en-US" sz="3200" b="1" dirty="0">
                <a:solidFill>
                  <a:srgbClr val="1C2833"/>
                </a:solidFill>
                <a:latin typeface="Cambria" pitchFamily="34" charset="0"/>
                <a:ea typeface="Cambria" pitchFamily="34" charset="-122"/>
                <a:cs typeface="Cambria" pitchFamily="34" charset="-120"/>
              </a:rPr>
              <a:t>The Transformer, at a glance(Just </a:t>
            </a:r>
            <a:r>
              <a:rPr lang="en-IN" sz="3200" b="1" dirty="0">
                <a:solidFill>
                  <a:srgbClr val="1C2833"/>
                </a:solidFill>
                <a:latin typeface="Cambria" pitchFamily="34" charset="0"/>
                <a:ea typeface="Cambria" pitchFamily="34" charset="-122"/>
                <a:cs typeface="Cambria" pitchFamily="34" charset="-120"/>
              </a:rPr>
              <a:t>Stacking blocks)</a:t>
            </a:r>
            <a:endParaRPr lang="en-US" sz="3200" dirty="0"/>
          </a:p>
        </p:txBody>
      </p:sp>
      <p:sp>
        <p:nvSpPr>
          <p:cNvPr id="4" name="Shape 2"/>
          <p:cNvSpPr/>
          <p:nvPr/>
        </p:nvSpPr>
        <p:spPr>
          <a:xfrm>
            <a:off x="800100" y="1426464"/>
            <a:ext cx="3291840" cy="4206240"/>
          </a:xfrm>
          <a:prstGeom prst="roundRect">
            <a:avLst>
              <a:gd name="adj" fmla="val 1667"/>
            </a:avLst>
          </a:prstGeom>
          <a:solidFill>
            <a:srgbClr val="F4F6F7"/>
          </a:solidFill>
          <a:ln w="12700">
            <a:solidFill>
              <a:srgbClr val="D5D8DC"/>
            </a:solidFill>
            <a:prstDash val="solid"/>
          </a:ln>
        </p:spPr>
        <p:txBody>
          <a:bodyPr/>
          <a:lstStyle/>
          <a:p>
            <a:endParaRPr lang="en-IN" dirty="0"/>
          </a:p>
        </p:txBody>
      </p:sp>
      <p:sp>
        <p:nvSpPr>
          <p:cNvPr id="5" name="Text 3"/>
          <p:cNvSpPr/>
          <p:nvPr/>
        </p:nvSpPr>
        <p:spPr>
          <a:xfrm>
            <a:off x="822960" y="1527048"/>
            <a:ext cx="3291840" cy="274320"/>
          </a:xfrm>
          <a:prstGeom prst="rect">
            <a:avLst/>
          </a:prstGeom>
          <a:noFill/>
          <a:ln/>
        </p:spPr>
        <p:txBody>
          <a:bodyPr wrap="square" lIns="0" tIns="0" rIns="0" bIns="0" rtlCol="0" anchor="ctr"/>
          <a:lstStyle/>
          <a:p>
            <a:pPr marL="0" indent="0" algn="ctr">
              <a:buNone/>
            </a:pPr>
            <a:r>
              <a:rPr lang="en-US" sz="1300" b="1" dirty="0">
                <a:solidFill>
                  <a:srgbClr val="34495E"/>
                </a:solidFill>
                <a:latin typeface="Calibri" pitchFamily="34" charset="0"/>
                <a:ea typeface="Calibri" pitchFamily="34" charset="-122"/>
                <a:cs typeface="Calibri" pitchFamily="34" charset="-120"/>
              </a:rPr>
              <a:t>ENCODER</a:t>
            </a:r>
            <a:endParaRPr lang="en-US" sz="1300" dirty="0"/>
          </a:p>
        </p:txBody>
      </p:sp>
      <p:sp>
        <p:nvSpPr>
          <p:cNvPr id="6" name="Shape 4"/>
          <p:cNvSpPr/>
          <p:nvPr/>
        </p:nvSpPr>
        <p:spPr>
          <a:xfrm>
            <a:off x="1097280" y="1837944"/>
            <a:ext cx="2743200" cy="530352"/>
          </a:xfrm>
          <a:prstGeom prst="roundRect">
            <a:avLst>
              <a:gd name="adj" fmla="val 10345"/>
            </a:avLst>
          </a:prstGeom>
          <a:solidFill>
            <a:srgbClr val="FFFFFF"/>
          </a:solidFill>
          <a:ln w="12700">
            <a:solidFill>
              <a:srgbClr val="D5D8DC"/>
            </a:solidFill>
            <a:prstDash val="solid"/>
          </a:ln>
        </p:spPr>
      </p:sp>
      <p:sp>
        <p:nvSpPr>
          <p:cNvPr id="7" name="Text 5"/>
          <p:cNvSpPr/>
          <p:nvPr/>
        </p:nvSpPr>
        <p:spPr>
          <a:xfrm>
            <a:off x="1097280" y="1837944"/>
            <a:ext cx="2743200" cy="530352"/>
          </a:xfrm>
          <a:prstGeom prst="rect">
            <a:avLst/>
          </a:prstGeom>
          <a:noFill/>
          <a:ln/>
        </p:spPr>
        <p:txBody>
          <a:bodyPr wrap="square" lIns="0" tIns="0" rIns="0" bIns="0"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Input Embedding</a:t>
            </a:r>
            <a:endParaRPr lang="en-US" sz="1050" dirty="0"/>
          </a:p>
        </p:txBody>
      </p:sp>
      <p:sp>
        <p:nvSpPr>
          <p:cNvPr id="8" name="Shape 6"/>
          <p:cNvSpPr/>
          <p:nvPr/>
        </p:nvSpPr>
        <p:spPr>
          <a:xfrm>
            <a:off x="1097280" y="2423160"/>
            <a:ext cx="2743200" cy="530352"/>
          </a:xfrm>
          <a:prstGeom prst="roundRect">
            <a:avLst>
              <a:gd name="adj" fmla="val 10345"/>
            </a:avLst>
          </a:prstGeom>
          <a:solidFill>
            <a:srgbClr val="FFFFFF"/>
          </a:solidFill>
          <a:ln w="12700">
            <a:solidFill>
              <a:srgbClr val="D5D8DC"/>
            </a:solidFill>
            <a:prstDash val="solid"/>
          </a:ln>
        </p:spPr>
      </p:sp>
      <p:sp>
        <p:nvSpPr>
          <p:cNvPr id="9" name="Text 7"/>
          <p:cNvSpPr/>
          <p:nvPr/>
        </p:nvSpPr>
        <p:spPr>
          <a:xfrm>
            <a:off x="1097280" y="2423160"/>
            <a:ext cx="2743200" cy="530352"/>
          </a:xfrm>
          <a:prstGeom prst="rect">
            <a:avLst/>
          </a:prstGeom>
          <a:noFill/>
          <a:ln/>
        </p:spPr>
        <p:txBody>
          <a:bodyPr wrap="square" lIns="0" tIns="0" rIns="0" bIns="0"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 Positional Encoding</a:t>
            </a:r>
            <a:endParaRPr lang="en-US" sz="1050" dirty="0"/>
          </a:p>
        </p:txBody>
      </p:sp>
      <p:sp>
        <p:nvSpPr>
          <p:cNvPr id="10" name="Shape 8"/>
          <p:cNvSpPr/>
          <p:nvPr/>
        </p:nvSpPr>
        <p:spPr>
          <a:xfrm>
            <a:off x="1097280" y="3008376"/>
            <a:ext cx="2743200" cy="530352"/>
          </a:xfrm>
          <a:prstGeom prst="roundRect">
            <a:avLst>
              <a:gd name="adj" fmla="val 10345"/>
            </a:avLst>
          </a:prstGeom>
          <a:solidFill>
            <a:srgbClr val="FDF2E3"/>
          </a:solidFill>
          <a:ln w="12700">
            <a:solidFill>
              <a:srgbClr val="D68910"/>
            </a:solidFill>
            <a:prstDash val="solid"/>
          </a:ln>
        </p:spPr>
        <p:txBody>
          <a:bodyPr/>
          <a:lstStyle/>
          <a:p>
            <a:endParaRPr lang="en-IN"/>
          </a:p>
        </p:txBody>
      </p:sp>
      <p:sp>
        <p:nvSpPr>
          <p:cNvPr id="11" name="Text 9"/>
          <p:cNvSpPr/>
          <p:nvPr/>
        </p:nvSpPr>
        <p:spPr>
          <a:xfrm>
            <a:off x="1097280" y="3008376"/>
            <a:ext cx="2743200" cy="530352"/>
          </a:xfrm>
          <a:prstGeom prst="rect">
            <a:avLst/>
          </a:prstGeom>
          <a:noFill/>
          <a:ln/>
        </p:spPr>
        <p:txBody>
          <a:bodyPr wrap="square" lIns="0" tIns="0" rIns="0" bIns="0" rtlCol="0" anchor="ctr"/>
          <a:lstStyle/>
          <a:p>
            <a:pPr marL="0" indent="0" algn="ctr">
              <a:buNone/>
            </a:pPr>
            <a:r>
              <a:rPr lang="en-US" sz="1050" b="1" dirty="0">
                <a:solidFill>
                  <a:srgbClr val="1C2833"/>
                </a:solidFill>
                <a:latin typeface="Calibri" pitchFamily="34" charset="0"/>
                <a:ea typeface="Calibri" pitchFamily="34" charset="-122"/>
                <a:cs typeface="Calibri" pitchFamily="34" charset="-120"/>
              </a:rPr>
              <a:t>Multi-Head</a:t>
            </a:r>
            <a:endParaRPr lang="en-US" sz="1050" dirty="0"/>
          </a:p>
          <a:p>
            <a:pPr marL="0" indent="0" algn="ctr">
              <a:buNone/>
            </a:pPr>
            <a:r>
              <a:rPr lang="en-US" sz="1050" b="1" dirty="0">
                <a:solidFill>
                  <a:srgbClr val="1C2833"/>
                </a:solidFill>
                <a:latin typeface="Calibri" pitchFamily="34" charset="0"/>
                <a:ea typeface="Calibri" pitchFamily="34" charset="-122"/>
                <a:cs typeface="Calibri" pitchFamily="34" charset="-120"/>
              </a:rPr>
              <a:t>Self-Attention</a:t>
            </a:r>
            <a:endParaRPr lang="en-US" sz="1050" dirty="0"/>
          </a:p>
        </p:txBody>
      </p:sp>
      <p:sp>
        <p:nvSpPr>
          <p:cNvPr id="12" name="Shape 10"/>
          <p:cNvSpPr/>
          <p:nvPr/>
        </p:nvSpPr>
        <p:spPr>
          <a:xfrm>
            <a:off x="1097280" y="3593592"/>
            <a:ext cx="2743200" cy="530352"/>
          </a:xfrm>
          <a:prstGeom prst="roundRect">
            <a:avLst>
              <a:gd name="adj" fmla="val 10345"/>
            </a:avLst>
          </a:prstGeom>
          <a:solidFill>
            <a:srgbClr val="FFFFFF"/>
          </a:solidFill>
          <a:ln w="12700">
            <a:solidFill>
              <a:srgbClr val="D5D8DC"/>
            </a:solidFill>
            <a:prstDash val="solid"/>
          </a:ln>
        </p:spPr>
        <p:txBody>
          <a:bodyPr/>
          <a:lstStyle/>
          <a:p>
            <a:endParaRPr lang="en-IN"/>
          </a:p>
        </p:txBody>
      </p:sp>
      <p:sp>
        <p:nvSpPr>
          <p:cNvPr id="13" name="Text 11"/>
          <p:cNvSpPr/>
          <p:nvPr/>
        </p:nvSpPr>
        <p:spPr>
          <a:xfrm>
            <a:off x="1097280" y="3593592"/>
            <a:ext cx="2743200" cy="530352"/>
          </a:xfrm>
          <a:prstGeom prst="rect">
            <a:avLst/>
          </a:prstGeom>
          <a:noFill/>
          <a:ln/>
        </p:spPr>
        <p:txBody>
          <a:bodyPr wrap="square" lIns="0" tIns="0" rIns="0" bIns="0"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Add &amp; Norm</a:t>
            </a:r>
            <a:endParaRPr lang="en-US" sz="1050" dirty="0"/>
          </a:p>
        </p:txBody>
      </p:sp>
      <p:sp>
        <p:nvSpPr>
          <p:cNvPr id="14" name="Shape 12"/>
          <p:cNvSpPr/>
          <p:nvPr/>
        </p:nvSpPr>
        <p:spPr>
          <a:xfrm>
            <a:off x="1097280" y="4178808"/>
            <a:ext cx="2743200" cy="530352"/>
          </a:xfrm>
          <a:prstGeom prst="roundRect">
            <a:avLst>
              <a:gd name="adj" fmla="val 10345"/>
            </a:avLst>
          </a:prstGeom>
          <a:solidFill>
            <a:srgbClr val="FFFFFF"/>
          </a:solidFill>
          <a:ln w="12700">
            <a:solidFill>
              <a:srgbClr val="D5D8DC"/>
            </a:solidFill>
            <a:prstDash val="solid"/>
          </a:ln>
        </p:spPr>
        <p:txBody>
          <a:bodyPr/>
          <a:lstStyle/>
          <a:p>
            <a:endParaRPr lang="en-IN"/>
          </a:p>
        </p:txBody>
      </p:sp>
      <p:sp>
        <p:nvSpPr>
          <p:cNvPr id="15" name="Text 13"/>
          <p:cNvSpPr/>
          <p:nvPr/>
        </p:nvSpPr>
        <p:spPr>
          <a:xfrm>
            <a:off x="1097280" y="4178808"/>
            <a:ext cx="2743200" cy="530352"/>
          </a:xfrm>
          <a:prstGeom prst="rect">
            <a:avLst/>
          </a:prstGeom>
          <a:noFill/>
          <a:ln/>
        </p:spPr>
        <p:txBody>
          <a:bodyPr wrap="square" lIns="0" tIns="0" rIns="0" bIns="0"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Feed Forward</a:t>
            </a:r>
            <a:endParaRPr lang="en-US" sz="1050" dirty="0"/>
          </a:p>
        </p:txBody>
      </p:sp>
      <p:sp>
        <p:nvSpPr>
          <p:cNvPr id="16" name="Shape 14"/>
          <p:cNvSpPr/>
          <p:nvPr/>
        </p:nvSpPr>
        <p:spPr>
          <a:xfrm>
            <a:off x="1097280" y="4764024"/>
            <a:ext cx="2743200" cy="530352"/>
          </a:xfrm>
          <a:prstGeom prst="roundRect">
            <a:avLst>
              <a:gd name="adj" fmla="val 10345"/>
            </a:avLst>
          </a:prstGeom>
          <a:solidFill>
            <a:srgbClr val="FFFFFF"/>
          </a:solidFill>
          <a:ln w="12700">
            <a:solidFill>
              <a:srgbClr val="D5D8DC"/>
            </a:solidFill>
            <a:prstDash val="solid"/>
          </a:ln>
        </p:spPr>
      </p:sp>
      <p:sp>
        <p:nvSpPr>
          <p:cNvPr id="17" name="Text 15"/>
          <p:cNvSpPr/>
          <p:nvPr/>
        </p:nvSpPr>
        <p:spPr>
          <a:xfrm>
            <a:off x="1097280" y="4764024"/>
            <a:ext cx="2743200" cy="530352"/>
          </a:xfrm>
          <a:prstGeom prst="rect">
            <a:avLst/>
          </a:prstGeom>
          <a:noFill/>
          <a:ln/>
        </p:spPr>
        <p:txBody>
          <a:bodyPr wrap="square" lIns="0" tIns="0" rIns="0" bIns="0" rtlCol="0" anchor="ctr"/>
          <a:lstStyle/>
          <a:p>
            <a:pPr marL="0" indent="0" algn="ctr">
              <a:buNone/>
            </a:pPr>
            <a:r>
              <a:rPr lang="en-US" sz="1050" dirty="0">
                <a:solidFill>
                  <a:srgbClr val="1C2833"/>
                </a:solidFill>
                <a:latin typeface="Calibri" pitchFamily="34" charset="0"/>
                <a:ea typeface="Calibri" pitchFamily="34" charset="-122"/>
                <a:cs typeface="Calibri" pitchFamily="34" charset="-120"/>
              </a:rPr>
              <a:t>Add &amp; Norm</a:t>
            </a:r>
            <a:endParaRPr lang="en-US" sz="1050" dirty="0"/>
          </a:p>
        </p:txBody>
      </p:sp>
      <p:sp>
        <p:nvSpPr>
          <p:cNvPr id="18" name="Text 16"/>
          <p:cNvSpPr/>
          <p:nvPr/>
        </p:nvSpPr>
        <p:spPr>
          <a:xfrm>
            <a:off x="800100" y="5362956"/>
            <a:ext cx="3291840" cy="274320"/>
          </a:xfrm>
          <a:prstGeom prst="rect">
            <a:avLst/>
          </a:prstGeom>
          <a:noFill/>
          <a:ln/>
        </p:spPr>
        <p:txBody>
          <a:bodyPr wrap="square" lIns="0" tIns="0" rIns="0" bIns="0" rtlCol="0" anchor="ctr"/>
          <a:lstStyle/>
          <a:p>
            <a:pPr marL="0" indent="0" algn="ctr">
              <a:buNone/>
            </a:pPr>
            <a:r>
              <a:rPr lang="en-US" sz="1050" i="1" dirty="0">
                <a:solidFill>
                  <a:srgbClr val="5A6570"/>
                </a:solidFill>
                <a:latin typeface="Calibri" pitchFamily="34" charset="0"/>
                <a:ea typeface="Calibri" pitchFamily="34" charset="-122"/>
                <a:cs typeface="Calibri" pitchFamily="34" charset="-120"/>
              </a:rPr>
              <a:t>× 6 layers</a:t>
            </a:r>
            <a:endParaRPr lang="en-US" sz="1050" dirty="0"/>
          </a:p>
        </p:txBody>
      </p:sp>
      <p:sp>
        <p:nvSpPr>
          <p:cNvPr id="19" name="Shape 17"/>
          <p:cNvSpPr/>
          <p:nvPr/>
        </p:nvSpPr>
        <p:spPr>
          <a:xfrm>
            <a:off x="5669280" y="1298448"/>
            <a:ext cx="3291840" cy="4462272"/>
          </a:xfrm>
          <a:prstGeom prst="roundRect">
            <a:avLst>
              <a:gd name="adj" fmla="val 1667"/>
            </a:avLst>
          </a:prstGeom>
          <a:solidFill>
            <a:srgbClr val="F4F6F7"/>
          </a:solidFill>
          <a:ln w="12700">
            <a:solidFill>
              <a:srgbClr val="D5D8DC"/>
            </a:solidFill>
            <a:prstDash val="solid"/>
          </a:ln>
        </p:spPr>
      </p:sp>
      <p:sp>
        <p:nvSpPr>
          <p:cNvPr id="20" name="Text 18"/>
          <p:cNvSpPr/>
          <p:nvPr/>
        </p:nvSpPr>
        <p:spPr>
          <a:xfrm>
            <a:off x="5646420" y="1391813"/>
            <a:ext cx="3291840" cy="274320"/>
          </a:xfrm>
          <a:prstGeom prst="rect">
            <a:avLst/>
          </a:prstGeom>
          <a:noFill/>
          <a:ln/>
        </p:spPr>
        <p:txBody>
          <a:bodyPr wrap="square" lIns="0" tIns="0" rIns="0" bIns="0" rtlCol="0" anchor="ctr"/>
          <a:lstStyle/>
          <a:p>
            <a:pPr marL="0" indent="0" algn="ctr">
              <a:buNone/>
            </a:pPr>
            <a:r>
              <a:rPr lang="en-US" sz="1300" b="1" dirty="0">
                <a:solidFill>
                  <a:srgbClr val="34495E"/>
                </a:solidFill>
                <a:latin typeface="Calibri" pitchFamily="34" charset="0"/>
                <a:ea typeface="Calibri" pitchFamily="34" charset="-122"/>
                <a:cs typeface="Calibri" pitchFamily="34" charset="-120"/>
              </a:rPr>
              <a:t>DECODER</a:t>
            </a:r>
            <a:endParaRPr lang="en-US" sz="1300" dirty="0"/>
          </a:p>
        </p:txBody>
      </p:sp>
      <p:sp>
        <p:nvSpPr>
          <p:cNvPr id="21" name="Shape 19"/>
          <p:cNvSpPr/>
          <p:nvPr/>
        </p:nvSpPr>
        <p:spPr>
          <a:xfrm>
            <a:off x="5943600" y="1665411"/>
            <a:ext cx="2743200" cy="457200"/>
          </a:xfrm>
          <a:prstGeom prst="roundRect">
            <a:avLst>
              <a:gd name="adj" fmla="val 12000"/>
            </a:avLst>
          </a:prstGeom>
          <a:solidFill>
            <a:srgbClr val="FFFFFF"/>
          </a:solidFill>
          <a:ln w="12700">
            <a:solidFill>
              <a:srgbClr val="D5D8DC"/>
            </a:solidFill>
            <a:prstDash val="solid"/>
          </a:ln>
        </p:spPr>
      </p:sp>
      <p:sp>
        <p:nvSpPr>
          <p:cNvPr id="22" name="Text 20"/>
          <p:cNvSpPr/>
          <p:nvPr/>
        </p:nvSpPr>
        <p:spPr>
          <a:xfrm>
            <a:off x="5943600" y="1665411"/>
            <a:ext cx="2743200" cy="457200"/>
          </a:xfrm>
          <a:prstGeom prst="rect">
            <a:avLst/>
          </a:prstGeom>
          <a:noFill/>
          <a:ln/>
        </p:spPr>
        <p:txBody>
          <a:bodyPr wrap="square" lIns="0" tIns="0" rIns="0" bIns="0" rtlCol="0" anchor="ctr"/>
          <a:lstStyle/>
          <a:p>
            <a:pPr marL="0" indent="0" algn="ctr">
              <a:buNone/>
            </a:pPr>
            <a:r>
              <a:rPr lang="en-US" sz="950" dirty="0">
                <a:solidFill>
                  <a:srgbClr val="1C2833"/>
                </a:solidFill>
                <a:latin typeface="Calibri" pitchFamily="34" charset="0"/>
                <a:ea typeface="Calibri" pitchFamily="34" charset="-122"/>
                <a:cs typeface="Calibri" pitchFamily="34" charset="-120"/>
              </a:rPr>
              <a:t>Output Embedding</a:t>
            </a:r>
            <a:endParaRPr lang="en-US" sz="950" dirty="0"/>
          </a:p>
        </p:txBody>
      </p:sp>
      <p:sp>
        <p:nvSpPr>
          <p:cNvPr id="23" name="Shape 21"/>
          <p:cNvSpPr/>
          <p:nvPr/>
        </p:nvSpPr>
        <p:spPr>
          <a:xfrm>
            <a:off x="5943600" y="2163759"/>
            <a:ext cx="2743200" cy="457200"/>
          </a:xfrm>
          <a:prstGeom prst="roundRect">
            <a:avLst>
              <a:gd name="adj" fmla="val 12000"/>
            </a:avLst>
          </a:prstGeom>
          <a:solidFill>
            <a:srgbClr val="FFFFFF"/>
          </a:solidFill>
          <a:ln w="12700">
            <a:solidFill>
              <a:srgbClr val="D5D8DC"/>
            </a:solidFill>
            <a:prstDash val="solid"/>
          </a:ln>
        </p:spPr>
      </p:sp>
      <p:sp>
        <p:nvSpPr>
          <p:cNvPr id="24" name="Text 22"/>
          <p:cNvSpPr/>
          <p:nvPr/>
        </p:nvSpPr>
        <p:spPr>
          <a:xfrm>
            <a:off x="5943600" y="2163759"/>
            <a:ext cx="2743200" cy="457200"/>
          </a:xfrm>
          <a:prstGeom prst="rect">
            <a:avLst/>
          </a:prstGeom>
          <a:noFill/>
          <a:ln/>
        </p:spPr>
        <p:txBody>
          <a:bodyPr wrap="square" lIns="0" tIns="0" rIns="0" bIns="0" rtlCol="0" anchor="ctr"/>
          <a:lstStyle/>
          <a:p>
            <a:pPr marL="0" indent="0" algn="ctr">
              <a:buNone/>
            </a:pPr>
            <a:r>
              <a:rPr lang="en-US" sz="950" dirty="0">
                <a:solidFill>
                  <a:srgbClr val="1C2833"/>
                </a:solidFill>
                <a:latin typeface="Calibri" pitchFamily="34" charset="0"/>
                <a:ea typeface="Calibri" pitchFamily="34" charset="-122"/>
                <a:cs typeface="Calibri" pitchFamily="34" charset="-120"/>
              </a:rPr>
              <a:t>+ Positional Encoding</a:t>
            </a:r>
            <a:endParaRPr lang="en-US" sz="950" dirty="0"/>
          </a:p>
        </p:txBody>
      </p:sp>
      <p:sp>
        <p:nvSpPr>
          <p:cNvPr id="25" name="Shape 23"/>
          <p:cNvSpPr/>
          <p:nvPr/>
        </p:nvSpPr>
        <p:spPr>
          <a:xfrm>
            <a:off x="5943600" y="2662107"/>
            <a:ext cx="2743200" cy="457200"/>
          </a:xfrm>
          <a:prstGeom prst="roundRect">
            <a:avLst>
              <a:gd name="adj" fmla="val 12000"/>
            </a:avLst>
          </a:prstGeom>
          <a:solidFill>
            <a:srgbClr val="FDF2E3"/>
          </a:solidFill>
          <a:ln w="12700">
            <a:solidFill>
              <a:srgbClr val="D68910"/>
            </a:solidFill>
            <a:prstDash val="solid"/>
          </a:ln>
        </p:spPr>
      </p:sp>
      <p:sp>
        <p:nvSpPr>
          <p:cNvPr id="26" name="Text 24"/>
          <p:cNvSpPr/>
          <p:nvPr/>
        </p:nvSpPr>
        <p:spPr>
          <a:xfrm>
            <a:off x="5943600" y="2662107"/>
            <a:ext cx="2743200" cy="457200"/>
          </a:xfrm>
          <a:prstGeom prst="rect">
            <a:avLst/>
          </a:prstGeom>
          <a:noFill/>
          <a:ln/>
        </p:spPr>
        <p:txBody>
          <a:bodyPr wrap="square" lIns="0" tIns="0" rIns="0" bIns="0" rtlCol="0" anchor="ctr"/>
          <a:lstStyle/>
          <a:p>
            <a:pPr marL="0" indent="0" algn="ctr">
              <a:buNone/>
            </a:pPr>
            <a:r>
              <a:rPr lang="en-US" sz="950" b="1" dirty="0">
                <a:solidFill>
                  <a:srgbClr val="1C2833"/>
                </a:solidFill>
                <a:latin typeface="Calibri" pitchFamily="34" charset="0"/>
                <a:ea typeface="Calibri" pitchFamily="34" charset="-122"/>
                <a:cs typeface="Calibri" pitchFamily="34" charset="-120"/>
              </a:rPr>
              <a:t>Masked Multi-Head</a:t>
            </a:r>
            <a:endParaRPr lang="en-US" sz="950" dirty="0"/>
          </a:p>
          <a:p>
            <a:pPr marL="0" indent="0" algn="ctr">
              <a:buNone/>
            </a:pPr>
            <a:r>
              <a:rPr lang="en-US" sz="950" b="1" dirty="0">
                <a:solidFill>
                  <a:srgbClr val="1C2833"/>
                </a:solidFill>
                <a:latin typeface="Calibri" pitchFamily="34" charset="0"/>
                <a:ea typeface="Calibri" pitchFamily="34" charset="-122"/>
                <a:cs typeface="Calibri" pitchFamily="34" charset="-120"/>
              </a:rPr>
              <a:t>Self-Attention</a:t>
            </a:r>
            <a:endParaRPr lang="en-US" sz="950" dirty="0"/>
          </a:p>
        </p:txBody>
      </p:sp>
      <p:sp>
        <p:nvSpPr>
          <p:cNvPr id="27" name="Shape 25"/>
          <p:cNvSpPr/>
          <p:nvPr/>
        </p:nvSpPr>
        <p:spPr>
          <a:xfrm>
            <a:off x="5943600" y="3160455"/>
            <a:ext cx="2743200" cy="457200"/>
          </a:xfrm>
          <a:prstGeom prst="roundRect">
            <a:avLst>
              <a:gd name="adj" fmla="val 12000"/>
            </a:avLst>
          </a:prstGeom>
          <a:solidFill>
            <a:srgbClr val="FFFFFF"/>
          </a:solidFill>
          <a:ln w="12700">
            <a:solidFill>
              <a:srgbClr val="D5D8DC"/>
            </a:solidFill>
            <a:prstDash val="solid"/>
          </a:ln>
        </p:spPr>
      </p:sp>
      <p:sp>
        <p:nvSpPr>
          <p:cNvPr id="28" name="Text 26"/>
          <p:cNvSpPr/>
          <p:nvPr/>
        </p:nvSpPr>
        <p:spPr>
          <a:xfrm>
            <a:off x="5943600" y="3160455"/>
            <a:ext cx="2743200" cy="457200"/>
          </a:xfrm>
          <a:prstGeom prst="rect">
            <a:avLst/>
          </a:prstGeom>
          <a:noFill/>
          <a:ln/>
        </p:spPr>
        <p:txBody>
          <a:bodyPr wrap="square" lIns="0" tIns="0" rIns="0" bIns="0" rtlCol="0" anchor="ctr"/>
          <a:lstStyle/>
          <a:p>
            <a:pPr marL="0" indent="0" algn="ctr">
              <a:buNone/>
            </a:pPr>
            <a:r>
              <a:rPr lang="en-US" sz="950" dirty="0">
                <a:solidFill>
                  <a:srgbClr val="1C2833"/>
                </a:solidFill>
                <a:latin typeface="Calibri" pitchFamily="34" charset="0"/>
                <a:ea typeface="Calibri" pitchFamily="34" charset="-122"/>
                <a:cs typeface="Calibri" pitchFamily="34" charset="-120"/>
              </a:rPr>
              <a:t>Add &amp; Norm</a:t>
            </a:r>
            <a:endParaRPr lang="en-US" sz="950" dirty="0"/>
          </a:p>
        </p:txBody>
      </p:sp>
      <p:sp>
        <p:nvSpPr>
          <p:cNvPr id="29" name="Shape 27"/>
          <p:cNvSpPr/>
          <p:nvPr/>
        </p:nvSpPr>
        <p:spPr>
          <a:xfrm>
            <a:off x="5943600" y="3658803"/>
            <a:ext cx="2743200" cy="457200"/>
          </a:xfrm>
          <a:prstGeom prst="roundRect">
            <a:avLst>
              <a:gd name="adj" fmla="val 12000"/>
            </a:avLst>
          </a:prstGeom>
          <a:solidFill>
            <a:srgbClr val="FDF2E3"/>
          </a:solidFill>
          <a:ln w="12700">
            <a:solidFill>
              <a:srgbClr val="D68910"/>
            </a:solidFill>
            <a:prstDash val="solid"/>
          </a:ln>
        </p:spPr>
      </p:sp>
      <p:sp>
        <p:nvSpPr>
          <p:cNvPr id="30" name="Text 28"/>
          <p:cNvSpPr/>
          <p:nvPr/>
        </p:nvSpPr>
        <p:spPr>
          <a:xfrm>
            <a:off x="5943600" y="3658803"/>
            <a:ext cx="2743200" cy="457200"/>
          </a:xfrm>
          <a:prstGeom prst="rect">
            <a:avLst/>
          </a:prstGeom>
          <a:noFill/>
          <a:ln/>
        </p:spPr>
        <p:txBody>
          <a:bodyPr wrap="square" lIns="0" tIns="0" rIns="0" bIns="0" rtlCol="0" anchor="ctr"/>
          <a:lstStyle/>
          <a:p>
            <a:pPr marL="0" indent="0" algn="ctr">
              <a:buNone/>
            </a:pPr>
            <a:r>
              <a:rPr lang="en-US" sz="950" b="1" dirty="0">
                <a:solidFill>
                  <a:srgbClr val="1C2833"/>
                </a:solidFill>
                <a:latin typeface="Calibri" pitchFamily="34" charset="0"/>
                <a:ea typeface="Calibri" pitchFamily="34" charset="-122"/>
                <a:cs typeface="Calibri" pitchFamily="34" charset="-120"/>
              </a:rPr>
              <a:t>Encoder-Decoder</a:t>
            </a:r>
            <a:endParaRPr lang="en-US" sz="950" dirty="0"/>
          </a:p>
          <a:p>
            <a:pPr marL="0" indent="0" algn="ctr">
              <a:buNone/>
            </a:pPr>
            <a:r>
              <a:rPr lang="en-US" sz="950" b="1" dirty="0">
                <a:solidFill>
                  <a:srgbClr val="1C2833"/>
                </a:solidFill>
                <a:latin typeface="Calibri" pitchFamily="34" charset="0"/>
                <a:ea typeface="Calibri" pitchFamily="34" charset="-122"/>
                <a:cs typeface="Calibri" pitchFamily="34" charset="-120"/>
              </a:rPr>
              <a:t>Attention</a:t>
            </a:r>
            <a:endParaRPr lang="en-US" sz="950" dirty="0"/>
          </a:p>
        </p:txBody>
      </p:sp>
      <p:sp>
        <p:nvSpPr>
          <p:cNvPr id="31" name="Shape 29"/>
          <p:cNvSpPr/>
          <p:nvPr/>
        </p:nvSpPr>
        <p:spPr>
          <a:xfrm>
            <a:off x="5943600" y="4157151"/>
            <a:ext cx="2743200" cy="457200"/>
          </a:xfrm>
          <a:prstGeom prst="roundRect">
            <a:avLst>
              <a:gd name="adj" fmla="val 12000"/>
            </a:avLst>
          </a:prstGeom>
          <a:solidFill>
            <a:srgbClr val="FFFFFF"/>
          </a:solidFill>
          <a:ln w="12700">
            <a:solidFill>
              <a:srgbClr val="D5D8DC"/>
            </a:solidFill>
            <a:prstDash val="solid"/>
          </a:ln>
        </p:spPr>
      </p:sp>
      <p:sp>
        <p:nvSpPr>
          <p:cNvPr id="32" name="Text 30"/>
          <p:cNvSpPr/>
          <p:nvPr/>
        </p:nvSpPr>
        <p:spPr>
          <a:xfrm>
            <a:off x="5943600" y="4157151"/>
            <a:ext cx="2743200" cy="457200"/>
          </a:xfrm>
          <a:prstGeom prst="rect">
            <a:avLst/>
          </a:prstGeom>
          <a:noFill/>
          <a:ln/>
        </p:spPr>
        <p:txBody>
          <a:bodyPr wrap="square" lIns="0" tIns="0" rIns="0" bIns="0" rtlCol="0" anchor="ctr"/>
          <a:lstStyle/>
          <a:p>
            <a:pPr marL="0" indent="0" algn="ctr">
              <a:buNone/>
            </a:pPr>
            <a:r>
              <a:rPr lang="en-US" sz="950" dirty="0">
                <a:solidFill>
                  <a:srgbClr val="1C2833"/>
                </a:solidFill>
                <a:latin typeface="Calibri" pitchFamily="34" charset="0"/>
                <a:ea typeface="Calibri" pitchFamily="34" charset="-122"/>
                <a:cs typeface="Calibri" pitchFamily="34" charset="-120"/>
              </a:rPr>
              <a:t>Add &amp; Norm</a:t>
            </a:r>
            <a:endParaRPr lang="en-US" sz="950" dirty="0"/>
          </a:p>
        </p:txBody>
      </p:sp>
      <p:sp>
        <p:nvSpPr>
          <p:cNvPr id="33" name="Shape 31"/>
          <p:cNvSpPr/>
          <p:nvPr/>
        </p:nvSpPr>
        <p:spPr>
          <a:xfrm>
            <a:off x="5943600" y="4645152"/>
            <a:ext cx="2743200" cy="457200"/>
          </a:xfrm>
          <a:prstGeom prst="roundRect">
            <a:avLst>
              <a:gd name="adj" fmla="val 12000"/>
            </a:avLst>
          </a:prstGeom>
          <a:solidFill>
            <a:srgbClr val="FFFFFF"/>
          </a:solidFill>
          <a:ln w="12700">
            <a:solidFill>
              <a:srgbClr val="D5D8DC"/>
            </a:solidFill>
            <a:prstDash val="solid"/>
          </a:ln>
        </p:spPr>
      </p:sp>
      <p:sp>
        <p:nvSpPr>
          <p:cNvPr id="34" name="Text 32"/>
          <p:cNvSpPr/>
          <p:nvPr/>
        </p:nvSpPr>
        <p:spPr>
          <a:xfrm>
            <a:off x="5943600" y="4655499"/>
            <a:ext cx="2743200" cy="457200"/>
          </a:xfrm>
          <a:prstGeom prst="rect">
            <a:avLst/>
          </a:prstGeom>
          <a:noFill/>
          <a:ln/>
        </p:spPr>
        <p:txBody>
          <a:bodyPr wrap="square" lIns="0" tIns="0" rIns="0" bIns="0" rtlCol="0" anchor="ctr"/>
          <a:lstStyle/>
          <a:p>
            <a:pPr marL="0" indent="0" algn="ctr">
              <a:buNone/>
            </a:pPr>
            <a:r>
              <a:rPr lang="en-US" sz="950" dirty="0">
                <a:solidFill>
                  <a:srgbClr val="1C2833"/>
                </a:solidFill>
                <a:latin typeface="Calibri" pitchFamily="34" charset="0"/>
                <a:ea typeface="Calibri" pitchFamily="34" charset="-122"/>
                <a:cs typeface="Calibri" pitchFamily="34" charset="-120"/>
              </a:rPr>
              <a:t>Feed Forward</a:t>
            </a:r>
            <a:endParaRPr lang="en-US" sz="950" dirty="0"/>
          </a:p>
        </p:txBody>
      </p:sp>
      <p:sp>
        <p:nvSpPr>
          <p:cNvPr id="35" name="Text 33"/>
          <p:cNvSpPr/>
          <p:nvPr/>
        </p:nvSpPr>
        <p:spPr>
          <a:xfrm>
            <a:off x="5669280" y="5362956"/>
            <a:ext cx="3291840" cy="274320"/>
          </a:xfrm>
          <a:prstGeom prst="rect">
            <a:avLst/>
          </a:prstGeom>
          <a:noFill/>
          <a:ln/>
        </p:spPr>
        <p:txBody>
          <a:bodyPr wrap="square" lIns="0" tIns="0" rIns="0" bIns="0" rtlCol="0" anchor="ctr"/>
          <a:lstStyle/>
          <a:p>
            <a:pPr marL="0" indent="0" algn="ctr">
              <a:buNone/>
            </a:pPr>
            <a:r>
              <a:rPr lang="en-US" sz="1050" i="1" dirty="0">
                <a:solidFill>
                  <a:srgbClr val="5A6570"/>
                </a:solidFill>
                <a:latin typeface="Calibri" pitchFamily="34" charset="0"/>
                <a:ea typeface="Calibri" pitchFamily="34" charset="-122"/>
                <a:cs typeface="Calibri" pitchFamily="34" charset="-120"/>
              </a:rPr>
              <a:t>× 6 layers</a:t>
            </a:r>
            <a:endParaRPr lang="en-US" sz="1050" dirty="0"/>
          </a:p>
        </p:txBody>
      </p:sp>
      <p:sp>
        <p:nvSpPr>
          <p:cNvPr id="36" name="Shape 34"/>
          <p:cNvSpPr/>
          <p:nvPr/>
        </p:nvSpPr>
        <p:spPr>
          <a:xfrm>
            <a:off x="4251960" y="3200400"/>
            <a:ext cx="1234440" cy="320040"/>
          </a:xfrm>
          <a:prstGeom prst="rightArrow">
            <a:avLst/>
          </a:prstGeom>
          <a:solidFill>
            <a:srgbClr val="D68910"/>
          </a:solidFill>
          <a:ln/>
        </p:spPr>
      </p:sp>
      <p:sp>
        <p:nvSpPr>
          <p:cNvPr id="37" name="Text 35"/>
          <p:cNvSpPr/>
          <p:nvPr/>
        </p:nvSpPr>
        <p:spPr>
          <a:xfrm>
            <a:off x="4091940" y="2842680"/>
            <a:ext cx="1554480" cy="365760"/>
          </a:xfrm>
          <a:prstGeom prst="rect">
            <a:avLst/>
          </a:prstGeom>
          <a:noFill/>
          <a:ln/>
        </p:spPr>
        <p:txBody>
          <a:bodyPr wrap="square" lIns="0" tIns="0" rIns="0" bIns="0" rtlCol="0" anchor="ctr"/>
          <a:lstStyle/>
          <a:p>
            <a:pPr marL="0" indent="0" algn="ctr">
              <a:buNone/>
            </a:pPr>
            <a:r>
              <a:rPr lang="en-US" sz="850" i="1" dirty="0">
                <a:solidFill>
                  <a:srgbClr val="5A6570"/>
                </a:solidFill>
                <a:latin typeface="Calibri" pitchFamily="34" charset="0"/>
                <a:ea typeface="Calibri" pitchFamily="34" charset="-122"/>
                <a:cs typeface="Calibri" pitchFamily="34" charset="-120"/>
              </a:rPr>
              <a:t>encoder output</a:t>
            </a:r>
            <a:endParaRPr lang="en-US" sz="850" dirty="0"/>
          </a:p>
          <a:p>
            <a:pPr marL="0" indent="0" algn="ctr">
              <a:buNone/>
            </a:pPr>
            <a:r>
              <a:rPr lang="en-US" sz="850" i="1" dirty="0">
                <a:solidFill>
                  <a:srgbClr val="5A6570"/>
                </a:solidFill>
                <a:latin typeface="Calibri" pitchFamily="34" charset="0"/>
                <a:ea typeface="Calibri" pitchFamily="34" charset="-122"/>
                <a:cs typeface="Calibri" pitchFamily="34" charset="-120"/>
              </a:rPr>
              <a:t>(keys &amp; values)</a:t>
            </a:r>
            <a:endParaRPr lang="en-US" sz="850" dirty="0"/>
          </a:p>
        </p:txBody>
      </p:sp>
      <p:sp>
        <p:nvSpPr>
          <p:cNvPr id="38" name="Shape 36"/>
          <p:cNvSpPr/>
          <p:nvPr/>
        </p:nvSpPr>
        <p:spPr>
          <a:xfrm>
            <a:off x="9372600" y="3200400"/>
            <a:ext cx="1737360" cy="822960"/>
          </a:xfrm>
          <a:prstGeom prst="roundRect">
            <a:avLst>
              <a:gd name="adj" fmla="val 6667"/>
            </a:avLst>
          </a:prstGeom>
          <a:solidFill>
            <a:srgbClr val="1C2833"/>
          </a:solidFill>
          <a:ln w="12700">
            <a:solidFill>
              <a:srgbClr val="1C2833"/>
            </a:solidFill>
            <a:prstDash val="solid"/>
          </a:ln>
        </p:spPr>
      </p:sp>
      <p:sp>
        <p:nvSpPr>
          <p:cNvPr id="39" name="Text 37"/>
          <p:cNvSpPr/>
          <p:nvPr/>
        </p:nvSpPr>
        <p:spPr>
          <a:xfrm>
            <a:off x="9372600" y="3200400"/>
            <a:ext cx="1737360" cy="8229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Linear</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 Softmax</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 next word</a:t>
            </a:r>
            <a:endParaRPr lang="en-US" sz="1050" dirty="0"/>
          </a:p>
        </p:txBody>
      </p:sp>
      <p:sp>
        <p:nvSpPr>
          <p:cNvPr id="40" name="Text 38"/>
          <p:cNvSpPr/>
          <p:nvPr/>
        </p:nvSpPr>
        <p:spPr>
          <a:xfrm>
            <a:off x="548640" y="5955005"/>
            <a:ext cx="10424160" cy="548640"/>
          </a:xfrm>
          <a:prstGeom prst="rect">
            <a:avLst/>
          </a:prstGeom>
          <a:noFill/>
          <a:ln/>
        </p:spPr>
        <p:txBody>
          <a:bodyPr wrap="square" lIns="0" tIns="0" rIns="0" bIns="0" rtlCol="0" anchor="ctr"/>
          <a:lstStyle/>
          <a:p>
            <a:pPr marL="0" indent="0">
              <a:lnSpc>
                <a:spcPct val="120000"/>
              </a:lnSpc>
              <a:buNone/>
            </a:pPr>
            <a:r>
              <a:rPr lang="en-US" sz="1300" b="1" dirty="0">
                <a:latin typeface="Calibri" pitchFamily="34" charset="0"/>
                <a:ea typeface="Calibri" pitchFamily="34" charset="-122"/>
                <a:cs typeface="Calibri" pitchFamily="34" charset="-120"/>
              </a:rPr>
              <a:t>Big picture:  </a:t>
            </a:r>
            <a:r>
              <a:rPr lang="en-US" sz="1300" dirty="0">
                <a:latin typeface="Calibri" pitchFamily="34" charset="0"/>
                <a:ea typeface="Calibri" pitchFamily="34" charset="-122"/>
                <a:cs typeface="Calibri" pitchFamily="34" charset="-120"/>
              </a:rPr>
              <a:t>the encoder reads the whole input at once and builds a rich representation. The decoder generates the output one token at a time, looking back at both its own previous tokens and the encoder's output. We'll open each block over the next two slides.</a:t>
            </a:r>
            <a:endParaRPr lang="en-US" sz="1300" dirty="0"/>
          </a:p>
        </p:txBody>
      </p:sp>
      <p:sp>
        <p:nvSpPr>
          <p:cNvPr id="44" name="Shape 29">
            <a:extLst>
              <a:ext uri="{FF2B5EF4-FFF2-40B4-BE49-F238E27FC236}">
                <a16:creationId xmlns:a16="http://schemas.microsoft.com/office/drawing/2014/main" id="{6C7614A3-D519-8C55-97A2-38A78F63B753}"/>
              </a:ext>
            </a:extLst>
          </p:cNvPr>
          <p:cNvSpPr/>
          <p:nvPr/>
        </p:nvSpPr>
        <p:spPr>
          <a:xfrm>
            <a:off x="5943600" y="5134356"/>
            <a:ext cx="2743200" cy="457200"/>
          </a:xfrm>
          <a:prstGeom prst="roundRect">
            <a:avLst>
              <a:gd name="adj" fmla="val 12000"/>
            </a:avLst>
          </a:prstGeom>
          <a:solidFill>
            <a:srgbClr val="FFFFFF"/>
          </a:solidFill>
          <a:ln w="12700">
            <a:solidFill>
              <a:srgbClr val="D5D8DC"/>
            </a:solidFill>
            <a:prstDash val="solid"/>
          </a:ln>
        </p:spPr>
      </p:sp>
      <p:sp>
        <p:nvSpPr>
          <p:cNvPr id="46" name="Text 30">
            <a:extLst>
              <a:ext uri="{FF2B5EF4-FFF2-40B4-BE49-F238E27FC236}">
                <a16:creationId xmlns:a16="http://schemas.microsoft.com/office/drawing/2014/main" id="{5D69533B-5C68-CA89-500D-DFA0D4673FED}"/>
              </a:ext>
            </a:extLst>
          </p:cNvPr>
          <p:cNvSpPr/>
          <p:nvPr/>
        </p:nvSpPr>
        <p:spPr>
          <a:xfrm>
            <a:off x="5943600" y="5134356"/>
            <a:ext cx="2743200" cy="457200"/>
          </a:xfrm>
          <a:prstGeom prst="rect">
            <a:avLst/>
          </a:prstGeom>
          <a:noFill/>
          <a:ln/>
        </p:spPr>
        <p:txBody>
          <a:bodyPr wrap="square" lIns="0" tIns="0" rIns="0" bIns="0" rtlCol="0" anchor="ctr"/>
          <a:lstStyle/>
          <a:p>
            <a:pPr marL="0" indent="0" algn="ctr">
              <a:buNone/>
            </a:pPr>
            <a:r>
              <a:rPr lang="en-US" sz="950" dirty="0">
                <a:solidFill>
                  <a:srgbClr val="1C2833"/>
                </a:solidFill>
                <a:latin typeface="Calibri" pitchFamily="34" charset="0"/>
                <a:ea typeface="Calibri" pitchFamily="34" charset="-122"/>
                <a:cs typeface="Calibri" pitchFamily="34" charset="-120"/>
              </a:rPr>
              <a:t>Add &amp; Norm</a:t>
            </a:r>
            <a:endParaRPr lang="en-US" sz="950" dirty="0"/>
          </a:p>
        </p:txBody>
      </p:sp>
      <p:sp>
        <p:nvSpPr>
          <p:cNvPr id="48" name="TextBox 47">
            <a:extLst>
              <a:ext uri="{FF2B5EF4-FFF2-40B4-BE49-F238E27FC236}">
                <a16:creationId xmlns:a16="http://schemas.microsoft.com/office/drawing/2014/main" id="{EE4B0B4E-A743-B547-7E2A-5CB455216A6C}"/>
              </a:ext>
            </a:extLst>
          </p:cNvPr>
          <p:cNvSpPr txBox="1"/>
          <p:nvPr/>
        </p:nvSpPr>
        <p:spPr>
          <a:xfrm>
            <a:off x="4207443" y="5557241"/>
            <a:ext cx="6097604" cy="253916"/>
          </a:xfrm>
          <a:prstGeom prst="rect">
            <a:avLst/>
          </a:prstGeom>
          <a:noFill/>
        </p:spPr>
        <p:txBody>
          <a:bodyPr wrap="square">
            <a:spAutoFit/>
          </a:bodyPr>
          <a:lstStyle/>
          <a:p>
            <a:pPr marL="0" indent="0" algn="ctr">
              <a:buNone/>
            </a:pPr>
            <a:r>
              <a:rPr lang="en-US" sz="1050" i="1" dirty="0">
                <a:solidFill>
                  <a:srgbClr val="5A6570"/>
                </a:solidFill>
                <a:latin typeface="Calibri" pitchFamily="34" charset="0"/>
                <a:ea typeface="Calibri" pitchFamily="34" charset="-122"/>
                <a:cs typeface="Calibri" pitchFamily="34" charset="-120"/>
              </a:rPr>
              <a:t>× 6 layers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931C67F-B31F-B18C-0031-1193076D63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FDF139-17F1-2A81-134D-F37CA19AA731}"/>
              </a:ext>
            </a:extLst>
          </p:cNvPr>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ARCHITECTURE</a:t>
            </a:r>
            <a:endParaRPr lang="en-US" sz="1200" dirty="0"/>
          </a:p>
        </p:txBody>
      </p:sp>
      <p:sp>
        <p:nvSpPr>
          <p:cNvPr id="3" name="Text 1">
            <a:extLst>
              <a:ext uri="{FF2B5EF4-FFF2-40B4-BE49-F238E27FC236}">
                <a16:creationId xmlns:a16="http://schemas.microsoft.com/office/drawing/2014/main" id="{64304918-D434-94DF-00A6-0DD2DDB74FBF}"/>
              </a:ext>
            </a:extLst>
          </p:cNvPr>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Inside The Transformer…</a:t>
            </a:r>
            <a:endParaRPr lang="en-US" sz="3200" dirty="0"/>
          </a:p>
        </p:txBody>
      </p:sp>
      <p:sp>
        <p:nvSpPr>
          <p:cNvPr id="4" name="Shape 2">
            <a:extLst>
              <a:ext uri="{FF2B5EF4-FFF2-40B4-BE49-F238E27FC236}">
                <a16:creationId xmlns:a16="http://schemas.microsoft.com/office/drawing/2014/main" id="{17D835BE-4E3D-F5B9-4786-A212B6A9DC9A}"/>
              </a:ext>
            </a:extLst>
          </p:cNvPr>
          <p:cNvSpPr/>
          <p:nvPr/>
        </p:nvSpPr>
        <p:spPr>
          <a:xfrm>
            <a:off x="375385" y="1559613"/>
            <a:ext cx="2331720" cy="512064"/>
          </a:xfrm>
          <a:prstGeom prst="roundRect">
            <a:avLst>
              <a:gd name="adj" fmla="val 8219"/>
            </a:avLst>
          </a:prstGeom>
          <a:solidFill>
            <a:srgbClr val="FDF2E3"/>
          </a:solidFill>
          <a:ln w="12700">
            <a:solidFill>
              <a:srgbClr val="D68910"/>
            </a:solidFill>
            <a:prstDash val="solid"/>
          </a:ln>
        </p:spPr>
      </p:sp>
      <p:sp>
        <p:nvSpPr>
          <p:cNvPr id="5" name="Text 3">
            <a:extLst>
              <a:ext uri="{FF2B5EF4-FFF2-40B4-BE49-F238E27FC236}">
                <a16:creationId xmlns:a16="http://schemas.microsoft.com/office/drawing/2014/main" id="{BB35B33E-A27D-4135-71D3-777751C3B02B}"/>
              </a:ext>
            </a:extLst>
          </p:cNvPr>
          <p:cNvSpPr/>
          <p:nvPr/>
        </p:nvSpPr>
        <p:spPr>
          <a:xfrm>
            <a:off x="375385" y="1559613"/>
            <a:ext cx="2331720" cy="512064"/>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Input Embedding</a:t>
            </a:r>
            <a:endParaRPr lang="en-US" sz="1400" dirty="0"/>
          </a:p>
        </p:txBody>
      </p:sp>
      <p:sp>
        <p:nvSpPr>
          <p:cNvPr id="7" name="Shape 5">
            <a:extLst>
              <a:ext uri="{FF2B5EF4-FFF2-40B4-BE49-F238E27FC236}">
                <a16:creationId xmlns:a16="http://schemas.microsoft.com/office/drawing/2014/main" id="{E500B0F5-DA64-71CA-8BFC-3E792580B8DD}"/>
              </a:ext>
            </a:extLst>
          </p:cNvPr>
          <p:cNvSpPr/>
          <p:nvPr/>
        </p:nvSpPr>
        <p:spPr>
          <a:xfrm>
            <a:off x="375385" y="2163117"/>
            <a:ext cx="2331720" cy="512064"/>
          </a:xfrm>
          <a:prstGeom prst="roundRect">
            <a:avLst>
              <a:gd name="adj" fmla="val 8219"/>
            </a:avLst>
          </a:prstGeom>
          <a:solidFill>
            <a:srgbClr val="FDF2E3"/>
          </a:solidFill>
          <a:ln w="12700">
            <a:solidFill>
              <a:srgbClr val="D68910"/>
            </a:solidFill>
            <a:prstDash val="solid"/>
          </a:ln>
        </p:spPr>
      </p:sp>
      <p:sp>
        <p:nvSpPr>
          <p:cNvPr id="8" name="Text 6">
            <a:extLst>
              <a:ext uri="{FF2B5EF4-FFF2-40B4-BE49-F238E27FC236}">
                <a16:creationId xmlns:a16="http://schemas.microsoft.com/office/drawing/2014/main" id="{6EADE9CD-435C-1008-04C6-497258E20E94}"/>
              </a:ext>
            </a:extLst>
          </p:cNvPr>
          <p:cNvSpPr/>
          <p:nvPr/>
        </p:nvSpPr>
        <p:spPr>
          <a:xfrm>
            <a:off x="375385" y="2201618"/>
            <a:ext cx="2331720" cy="512064"/>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Positional Encoding</a:t>
            </a:r>
            <a:endParaRPr lang="en-US" sz="1400" dirty="0"/>
          </a:p>
        </p:txBody>
      </p:sp>
      <p:sp>
        <p:nvSpPr>
          <p:cNvPr id="10" name="Shape 8">
            <a:extLst>
              <a:ext uri="{FF2B5EF4-FFF2-40B4-BE49-F238E27FC236}">
                <a16:creationId xmlns:a16="http://schemas.microsoft.com/office/drawing/2014/main" id="{70FC6AFE-9B1E-F3F3-B9C4-01E1EDD3B143}"/>
              </a:ext>
            </a:extLst>
          </p:cNvPr>
          <p:cNvSpPr/>
          <p:nvPr/>
        </p:nvSpPr>
        <p:spPr>
          <a:xfrm>
            <a:off x="387418" y="2774165"/>
            <a:ext cx="2331720" cy="512065"/>
          </a:xfrm>
          <a:prstGeom prst="roundRect">
            <a:avLst>
              <a:gd name="adj" fmla="val 8219"/>
            </a:avLst>
          </a:prstGeom>
          <a:solidFill>
            <a:srgbClr val="FDF2E3"/>
          </a:solidFill>
          <a:ln w="12700">
            <a:solidFill>
              <a:srgbClr val="D68910"/>
            </a:solidFill>
            <a:prstDash val="solid"/>
          </a:ln>
        </p:spPr>
      </p:sp>
      <p:sp>
        <p:nvSpPr>
          <p:cNvPr id="11" name="Text 9">
            <a:extLst>
              <a:ext uri="{FF2B5EF4-FFF2-40B4-BE49-F238E27FC236}">
                <a16:creationId xmlns:a16="http://schemas.microsoft.com/office/drawing/2014/main" id="{863C5C1B-B4B4-7DEA-E797-1FB800BD5FC2}"/>
              </a:ext>
            </a:extLst>
          </p:cNvPr>
          <p:cNvSpPr/>
          <p:nvPr/>
        </p:nvSpPr>
        <p:spPr>
          <a:xfrm>
            <a:off x="375385" y="2851803"/>
            <a:ext cx="2331720" cy="512065"/>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Multi-Head Self-Attention</a:t>
            </a:r>
            <a:endParaRPr lang="en-US" sz="1400" dirty="0"/>
          </a:p>
        </p:txBody>
      </p:sp>
      <p:sp>
        <p:nvSpPr>
          <p:cNvPr id="13" name="Shape 11">
            <a:extLst>
              <a:ext uri="{FF2B5EF4-FFF2-40B4-BE49-F238E27FC236}">
                <a16:creationId xmlns:a16="http://schemas.microsoft.com/office/drawing/2014/main" id="{8EB3EE2B-8CB5-7118-8C07-DB9306D0C9C1}"/>
              </a:ext>
            </a:extLst>
          </p:cNvPr>
          <p:cNvSpPr/>
          <p:nvPr/>
        </p:nvSpPr>
        <p:spPr>
          <a:xfrm>
            <a:off x="375385" y="3401567"/>
            <a:ext cx="2331720" cy="512066"/>
          </a:xfrm>
          <a:prstGeom prst="roundRect">
            <a:avLst>
              <a:gd name="adj" fmla="val 8219"/>
            </a:avLst>
          </a:prstGeom>
          <a:solidFill>
            <a:srgbClr val="FDF2E3"/>
          </a:solidFill>
          <a:ln w="12700">
            <a:solidFill>
              <a:srgbClr val="D68910"/>
            </a:solidFill>
            <a:prstDash val="solid"/>
          </a:ln>
        </p:spPr>
      </p:sp>
      <p:sp>
        <p:nvSpPr>
          <p:cNvPr id="14" name="Text 12">
            <a:extLst>
              <a:ext uri="{FF2B5EF4-FFF2-40B4-BE49-F238E27FC236}">
                <a16:creationId xmlns:a16="http://schemas.microsoft.com/office/drawing/2014/main" id="{2DC2CE01-6AFC-2696-F22B-BA37C1C9F96F}"/>
              </a:ext>
            </a:extLst>
          </p:cNvPr>
          <p:cNvSpPr/>
          <p:nvPr/>
        </p:nvSpPr>
        <p:spPr>
          <a:xfrm>
            <a:off x="375385" y="3455308"/>
            <a:ext cx="2331720" cy="512066"/>
          </a:xfrm>
          <a:prstGeom prst="rect">
            <a:avLst/>
          </a:prstGeom>
          <a:noFill/>
          <a:ln/>
        </p:spPr>
        <p:txBody>
          <a:bodyPr wrap="square" lIns="0" tIns="0" rIns="0" bIns="0" rtlCol="0" anchor="ctr"/>
          <a:lstStyle/>
          <a:p>
            <a:pPr marL="0" indent="0" algn="ctr">
              <a:buNone/>
            </a:pPr>
            <a:r>
              <a:rPr lang="en-US" sz="1400" b="1" dirty="0"/>
              <a:t>Add &amp; Norm</a:t>
            </a:r>
          </a:p>
        </p:txBody>
      </p:sp>
      <p:sp>
        <p:nvSpPr>
          <p:cNvPr id="16" name="Shape 14">
            <a:extLst>
              <a:ext uri="{FF2B5EF4-FFF2-40B4-BE49-F238E27FC236}">
                <a16:creationId xmlns:a16="http://schemas.microsoft.com/office/drawing/2014/main" id="{1511533B-72B8-50A8-EEB8-6087CDB497B7}"/>
              </a:ext>
            </a:extLst>
          </p:cNvPr>
          <p:cNvSpPr/>
          <p:nvPr/>
        </p:nvSpPr>
        <p:spPr>
          <a:xfrm>
            <a:off x="375385" y="4036317"/>
            <a:ext cx="2331720" cy="512066"/>
          </a:xfrm>
          <a:prstGeom prst="roundRect">
            <a:avLst>
              <a:gd name="adj" fmla="val 8219"/>
            </a:avLst>
          </a:prstGeom>
          <a:solidFill>
            <a:srgbClr val="FDF2E3"/>
          </a:solidFill>
          <a:ln w="12700">
            <a:solidFill>
              <a:srgbClr val="D68910"/>
            </a:solidFill>
            <a:prstDash val="solid"/>
          </a:ln>
        </p:spPr>
      </p:sp>
      <p:sp>
        <p:nvSpPr>
          <p:cNvPr id="17" name="Text 15">
            <a:extLst>
              <a:ext uri="{FF2B5EF4-FFF2-40B4-BE49-F238E27FC236}">
                <a16:creationId xmlns:a16="http://schemas.microsoft.com/office/drawing/2014/main" id="{C268D794-C02E-46D7-ABB6-A6C0388D9FCB}"/>
              </a:ext>
            </a:extLst>
          </p:cNvPr>
          <p:cNvSpPr/>
          <p:nvPr/>
        </p:nvSpPr>
        <p:spPr>
          <a:xfrm>
            <a:off x="375385" y="4065067"/>
            <a:ext cx="2331720" cy="512066"/>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Feed forward</a:t>
            </a:r>
            <a:endParaRPr lang="en-US" sz="1400" dirty="0"/>
          </a:p>
        </p:txBody>
      </p:sp>
      <p:sp>
        <p:nvSpPr>
          <p:cNvPr id="19" name="Shape 17">
            <a:extLst>
              <a:ext uri="{FF2B5EF4-FFF2-40B4-BE49-F238E27FC236}">
                <a16:creationId xmlns:a16="http://schemas.microsoft.com/office/drawing/2014/main" id="{AD2D82A5-64E7-8B46-38CE-38CBF71E9DE0}"/>
              </a:ext>
            </a:extLst>
          </p:cNvPr>
          <p:cNvSpPr/>
          <p:nvPr/>
        </p:nvSpPr>
        <p:spPr>
          <a:xfrm>
            <a:off x="375385" y="4661914"/>
            <a:ext cx="2331720" cy="513026"/>
          </a:xfrm>
          <a:prstGeom prst="roundRect">
            <a:avLst>
              <a:gd name="adj" fmla="val 8219"/>
            </a:avLst>
          </a:prstGeom>
          <a:solidFill>
            <a:srgbClr val="FDF2E3"/>
          </a:solidFill>
          <a:ln w="12700">
            <a:solidFill>
              <a:srgbClr val="D68910"/>
            </a:solidFill>
            <a:prstDash val="solid"/>
          </a:ln>
        </p:spPr>
        <p:txBody>
          <a:bodyPr/>
          <a:lstStyle/>
          <a:p>
            <a:endParaRPr lang="en-IN" dirty="0"/>
          </a:p>
        </p:txBody>
      </p:sp>
      <p:sp>
        <p:nvSpPr>
          <p:cNvPr id="20" name="Text 18">
            <a:extLst>
              <a:ext uri="{FF2B5EF4-FFF2-40B4-BE49-F238E27FC236}">
                <a16:creationId xmlns:a16="http://schemas.microsoft.com/office/drawing/2014/main" id="{4F7BC58F-5837-ADE5-9176-12C8E555013F}"/>
              </a:ext>
            </a:extLst>
          </p:cNvPr>
          <p:cNvSpPr/>
          <p:nvPr/>
        </p:nvSpPr>
        <p:spPr>
          <a:xfrm>
            <a:off x="375385" y="4671942"/>
            <a:ext cx="2331720" cy="513026"/>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Encoder Recipe</a:t>
            </a:r>
            <a:endParaRPr lang="en-US" sz="1400" dirty="0"/>
          </a:p>
        </p:txBody>
      </p:sp>
      <p:pic>
        <p:nvPicPr>
          <p:cNvPr id="23" name="Picture 22" descr="Create meme &quot;Zach Galifianakis the hangover, zach galifianakis ...">
            <a:extLst>
              <a:ext uri="{FF2B5EF4-FFF2-40B4-BE49-F238E27FC236}">
                <a16:creationId xmlns:a16="http://schemas.microsoft.com/office/drawing/2014/main" id="{2A6DF08E-2A88-D442-9524-2D6A0A5C663C}"/>
              </a:ext>
            </a:extLst>
          </p:cNvPr>
          <p:cNvPicPr>
            <a:picLocks noChangeAspect="1"/>
          </p:cNvPicPr>
          <p:nvPr/>
        </p:nvPicPr>
        <p:blipFill>
          <a:blip r:embed="rId3"/>
          <a:stretch>
            <a:fillRect/>
          </a:stretch>
        </p:blipFill>
        <p:spPr>
          <a:xfrm>
            <a:off x="5354054" y="55706"/>
            <a:ext cx="1749392" cy="1080075"/>
          </a:xfrm>
          <a:prstGeom prst="rect">
            <a:avLst/>
          </a:prstGeom>
        </p:spPr>
      </p:pic>
      <p:sp>
        <p:nvSpPr>
          <p:cNvPr id="27" name="Text 4">
            <a:extLst>
              <a:ext uri="{FF2B5EF4-FFF2-40B4-BE49-F238E27FC236}">
                <a16:creationId xmlns:a16="http://schemas.microsoft.com/office/drawing/2014/main" id="{CD8B0313-ABA4-BABA-5BA7-D97A8FE97EE8}"/>
              </a:ext>
            </a:extLst>
          </p:cNvPr>
          <p:cNvSpPr/>
          <p:nvPr/>
        </p:nvSpPr>
        <p:spPr>
          <a:xfrm>
            <a:off x="2889985" y="1449885"/>
            <a:ext cx="2923674" cy="667512"/>
          </a:xfrm>
          <a:prstGeom prst="rect">
            <a:avLst/>
          </a:prstGeom>
          <a:noFill/>
          <a:ln/>
        </p:spPr>
        <p:txBody>
          <a:bodyPr wrap="square" lIns="0" tIns="0" rIns="0" bIns="0" rtlCol="0" anchor="ctr"/>
          <a:lstStyle/>
          <a:p>
            <a:pPr>
              <a:lnSpc>
                <a:spcPct val="105000"/>
              </a:lnSpc>
            </a:pPr>
            <a:r>
              <a:rPr lang="en-IN" sz="1200" dirty="0"/>
              <a:t>Converts each input token into a dense vector representation.</a:t>
            </a:r>
            <a:endParaRPr lang="en-US" sz="1200" dirty="0"/>
          </a:p>
        </p:txBody>
      </p:sp>
      <p:sp>
        <p:nvSpPr>
          <p:cNvPr id="29" name="Text 7">
            <a:extLst>
              <a:ext uri="{FF2B5EF4-FFF2-40B4-BE49-F238E27FC236}">
                <a16:creationId xmlns:a16="http://schemas.microsoft.com/office/drawing/2014/main" id="{1A8DA3C0-F72C-EADD-51A0-EB17606B485E}"/>
              </a:ext>
            </a:extLst>
          </p:cNvPr>
          <p:cNvSpPr/>
          <p:nvPr/>
        </p:nvSpPr>
        <p:spPr>
          <a:xfrm>
            <a:off x="2889985" y="2208837"/>
            <a:ext cx="2933299" cy="504845"/>
          </a:xfrm>
          <a:prstGeom prst="rect">
            <a:avLst/>
          </a:prstGeom>
          <a:noFill/>
          <a:ln/>
        </p:spPr>
        <p:txBody>
          <a:bodyPr wrap="square" lIns="0" tIns="0" rIns="0" bIns="0" rtlCol="0" anchor="ctr"/>
          <a:lstStyle/>
          <a:p>
            <a:pPr>
              <a:lnSpc>
                <a:spcPct val="105000"/>
              </a:lnSpc>
            </a:pPr>
            <a:r>
              <a:rPr lang="en-IN" sz="1200" dirty="0"/>
              <a:t>Adds sequence order since attention alone has no notion of position.</a:t>
            </a:r>
            <a:endParaRPr lang="en-US" sz="1200" dirty="0"/>
          </a:p>
        </p:txBody>
      </p:sp>
      <p:sp>
        <p:nvSpPr>
          <p:cNvPr id="31" name="Text 10">
            <a:extLst>
              <a:ext uri="{FF2B5EF4-FFF2-40B4-BE49-F238E27FC236}">
                <a16:creationId xmlns:a16="http://schemas.microsoft.com/office/drawing/2014/main" id="{5EA24394-D43A-7627-AC3F-5A632C3EE7EF}"/>
              </a:ext>
            </a:extLst>
          </p:cNvPr>
          <p:cNvSpPr/>
          <p:nvPr/>
        </p:nvSpPr>
        <p:spPr>
          <a:xfrm>
            <a:off x="2889986" y="2696356"/>
            <a:ext cx="3032760" cy="667512"/>
          </a:xfrm>
          <a:prstGeom prst="rect">
            <a:avLst/>
          </a:prstGeom>
          <a:noFill/>
          <a:ln/>
        </p:spPr>
        <p:txBody>
          <a:bodyPr wrap="square" lIns="0" tIns="0" rIns="0" bIns="0" rtlCol="0" anchor="ctr"/>
          <a:lstStyle/>
          <a:p>
            <a:pPr>
              <a:lnSpc>
                <a:spcPct val="105000"/>
              </a:lnSpc>
            </a:pPr>
            <a:r>
              <a:rPr lang="en-IN" sz="1200" dirty="0"/>
              <a:t>Each token gathers information from every other token.</a:t>
            </a:r>
            <a:endParaRPr lang="en-US" sz="1200" dirty="0"/>
          </a:p>
        </p:txBody>
      </p:sp>
      <p:sp>
        <p:nvSpPr>
          <p:cNvPr id="33" name="Text 13">
            <a:extLst>
              <a:ext uri="{FF2B5EF4-FFF2-40B4-BE49-F238E27FC236}">
                <a16:creationId xmlns:a16="http://schemas.microsoft.com/office/drawing/2014/main" id="{6E9F8C60-1594-87BD-8119-D6D905B6A12C}"/>
              </a:ext>
            </a:extLst>
          </p:cNvPr>
          <p:cNvSpPr/>
          <p:nvPr/>
        </p:nvSpPr>
        <p:spPr>
          <a:xfrm>
            <a:off x="2889985" y="3321598"/>
            <a:ext cx="3106554" cy="667512"/>
          </a:xfrm>
          <a:prstGeom prst="rect">
            <a:avLst/>
          </a:prstGeom>
          <a:noFill/>
          <a:ln/>
        </p:spPr>
        <p:txBody>
          <a:bodyPr wrap="square" lIns="0" tIns="0" rIns="0" bIns="0" rtlCol="0" anchor="ctr"/>
          <a:lstStyle/>
          <a:p>
            <a:pPr>
              <a:lnSpc>
                <a:spcPct val="105000"/>
              </a:lnSpc>
            </a:pPr>
            <a:r>
              <a:rPr lang="en-IN" sz="1200" dirty="0"/>
              <a:t>Residual connection + Layer Normalization for stable and efficient training.</a:t>
            </a:r>
            <a:endParaRPr lang="en-US" sz="1200" dirty="0"/>
          </a:p>
        </p:txBody>
      </p:sp>
      <p:sp>
        <p:nvSpPr>
          <p:cNvPr id="35" name="Text 16">
            <a:extLst>
              <a:ext uri="{FF2B5EF4-FFF2-40B4-BE49-F238E27FC236}">
                <a16:creationId xmlns:a16="http://schemas.microsoft.com/office/drawing/2014/main" id="{59741DBB-7B93-FB32-E78D-8B32EDD96BC0}"/>
              </a:ext>
            </a:extLst>
          </p:cNvPr>
          <p:cNvSpPr/>
          <p:nvPr/>
        </p:nvSpPr>
        <p:spPr>
          <a:xfrm>
            <a:off x="2889986" y="3934326"/>
            <a:ext cx="2933299" cy="667512"/>
          </a:xfrm>
          <a:prstGeom prst="rect">
            <a:avLst/>
          </a:prstGeom>
          <a:noFill/>
          <a:ln/>
        </p:spPr>
        <p:txBody>
          <a:bodyPr wrap="square" lIns="0" tIns="0" rIns="0" bIns="0" rtlCol="0" anchor="ctr"/>
          <a:lstStyle/>
          <a:p>
            <a:pPr>
              <a:lnSpc>
                <a:spcPct val="105000"/>
              </a:lnSpc>
            </a:pPr>
            <a:r>
              <a:rPr lang="en-IN" sz="1200" dirty="0"/>
              <a:t>Applies non-linear transformations independently to every token.</a:t>
            </a:r>
            <a:endParaRPr lang="en-US" sz="1200" dirty="0"/>
          </a:p>
        </p:txBody>
      </p:sp>
      <p:sp>
        <p:nvSpPr>
          <p:cNvPr id="37" name="Shape 2">
            <a:extLst>
              <a:ext uri="{FF2B5EF4-FFF2-40B4-BE49-F238E27FC236}">
                <a16:creationId xmlns:a16="http://schemas.microsoft.com/office/drawing/2014/main" id="{CA7D1F97-8C30-A6C9-9670-E8FC1C5A8592}"/>
              </a:ext>
            </a:extLst>
          </p:cNvPr>
          <p:cNvSpPr/>
          <p:nvPr/>
        </p:nvSpPr>
        <p:spPr>
          <a:xfrm>
            <a:off x="9494215" y="1258502"/>
            <a:ext cx="2331720" cy="512064"/>
          </a:xfrm>
          <a:prstGeom prst="roundRect">
            <a:avLst>
              <a:gd name="adj" fmla="val 8219"/>
            </a:avLst>
          </a:prstGeom>
          <a:solidFill>
            <a:srgbClr val="FDF2E3"/>
          </a:solidFill>
          <a:ln w="12700">
            <a:solidFill>
              <a:srgbClr val="D68910"/>
            </a:solidFill>
            <a:prstDash val="solid"/>
          </a:ln>
        </p:spPr>
      </p:sp>
      <p:sp>
        <p:nvSpPr>
          <p:cNvPr id="39" name="Text 3">
            <a:extLst>
              <a:ext uri="{FF2B5EF4-FFF2-40B4-BE49-F238E27FC236}">
                <a16:creationId xmlns:a16="http://schemas.microsoft.com/office/drawing/2014/main" id="{5E57056D-CA0B-69BC-80E4-2E844FE3CBD9}"/>
              </a:ext>
            </a:extLst>
          </p:cNvPr>
          <p:cNvSpPr/>
          <p:nvPr/>
        </p:nvSpPr>
        <p:spPr>
          <a:xfrm>
            <a:off x="9494215" y="1258502"/>
            <a:ext cx="2331720" cy="512064"/>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Output Embedding</a:t>
            </a:r>
            <a:endParaRPr lang="en-US" sz="1400" dirty="0"/>
          </a:p>
        </p:txBody>
      </p:sp>
      <p:sp>
        <p:nvSpPr>
          <p:cNvPr id="41" name="Shape 5">
            <a:extLst>
              <a:ext uri="{FF2B5EF4-FFF2-40B4-BE49-F238E27FC236}">
                <a16:creationId xmlns:a16="http://schemas.microsoft.com/office/drawing/2014/main" id="{207D6601-CF2B-D711-6729-EFB270569579}"/>
              </a:ext>
            </a:extLst>
          </p:cNvPr>
          <p:cNvSpPr/>
          <p:nvPr/>
        </p:nvSpPr>
        <p:spPr>
          <a:xfrm>
            <a:off x="9494215" y="1860804"/>
            <a:ext cx="2331720" cy="512064"/>
          </a:xfrm>
          <a:prstGeom prst="roundRect">
            <a:avLst>
              <a:gd name="adj" fmla="val 8219"/>
            </a:avLst>
          </a:prstGeom>
          <a:solidFill>
            <a:srgbClr val="FDF2E3"/>
          </a:solidFill>
          <a:ln w="12700">
            <a:solidFill>
              <a:srgbClr val="D68910"/>
            </a:solidFill>
            <a:prstDash val="solid"/>
          </a:ln>
        </p:spPr>
      </p:sp>
      <p:sp>
        <p:nvSpPr>
          <p:cNvPr id="43" name="Text 6">
            <a:extLst>
              <a:ext uri="{FF2B5EF4-FFF2-40B4-BE49-F238E27FC236}">
                <a16:creationId xmlns:a16="http://schemas.microsoft.com/office/drawing/2014/main" id="{B13961EF-27C2-3550-2574-7497DA837D36}"/>
              </a:ext>
            </a:extLst>
          </p:cNvPr>
          <p:cNvSpPr/>
          <p:nvPr/>
        </p:nvSpPr>
        <p:spPr>
          <a:xfrm>
            <a:off x="9494215" y="1860804"/>
            <a:ext cx="2331720" cy="512064"/>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Positional Encoding</a:t>
            </a:r>
            <a:endParaRPr lang="en-US" sz="1400" dirty="0"/>
          </a:p>
        </p:txBody>
      </p:sp>
      <p:sp>
        <p:nvSpPr>
          <p:cNvPr id="45" name="Shape 8">
            <a:extLst>
              <a:ext uri="{FF2B5EF4-FFF2-40B4-BE49-F238E27FC236}">
                <a16:creationId xmlns:a16="http://schemas.microsoft.com/office/drawing/2014/main" id="{E435D331-DDAC-7DCB-0E01-D45973B27773}"/>
              </a:ext>
            </a:extLst>
          </p:cNvPr>
          <p:cNvSpPr/>
          <p:nvPr/>
        </p:nvSpPr>
        <p:spPr>
          <a:xfrm>
            <a:off x="9494215" y="2451071"/>
            <a:ext cx="2331720" cy="512065"/>
          </a:xfrm>
          <a:prstGeom prst="roundRect">
            <a:avLst>
              <a:gd name="adj" fmla="val 8219"/>
            </a:avLst>
          </a:prstGeom>
          <a:solidFill>
            <a:srgbClr val="FDF2E3"/>
          </a:solidFill>
          <a:ln w="12700">
            <a:solidFill>
              <a:srgbClr val="D68910"/>
            </a:solidFill>
            <a:prstDash val="solid"/>
          </a:ln>
        </p:spPr>
      </p:sp>
      <p:sp>
        <p:nvSpPr>
          <p:cNvPr id="47" name="Text 9">
            <a:extLst>
              <a:ext uri="{FF2B5EF4-FFF2-40B4-BE49-F238E27FC236}">
                <a16:creationId xmlns:a16="http://schemas.microsoft.com/office/drawing/2014/main" id="{049348BE-EA4A-1583-0C67-594BED795D1A}"/>
              </a:ext>
            </a:extLst>
          </p:cNvPr>
          <p:cNvSpPr/>
          <p:nvPr/>
        </p:nvSpPr>
        <p:spPr>
          <a:xfrm>
            <a:off x="9494215" y="2451071"/>
            <a:ext cx="2331720" cy="512065"/>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Masked Multi-Head Self-Attention</a:t>
            </a:r>
            <a:endParaRPr lang="en-US" sz="1400" dirty="0"/>
          </a:p>
        </p:txBody>
      </p:sp>
      <p:sp>
        <p:nvSpPr>
          <p:cNvPr id="49" name="Shape 11">
            <a:extLst>
              <a:ext uri="{FF2B5EF4-FFF2-40B4-BE49-F238E27FC236}">
                <a16:creationId xmlns:a16="http://schemas.microsoft.com/office/drawing/2014/main" id="{52F50228-769B-2B9E-5F2A-6919A4A6FD84}"/>
              </a:ext>
            </a:extLst>
          </p:cNvPr>
          <p:cNvSpPr/>
          <p:nvPr/>
        </p:nvSpPr>
        <p:spPr>
          <a:xfrm>
            <a:off x="9494215" y="3043746"/>
            <a:ext cx="2331720" cy="512066"/>
          </a:xfrm>
          <a:prstGeom prst="roundRect">
            <a:avLst>
              <a:gd name="adj" fmla="val 8219"/>
            </a:avLst>
          </a:prstGeom>
          <a:solidFill>
            <a:srgbClr val="FDF2E3"/>
          </a:solidFill>
          <a:ln w="12700">
            <a:solidFill>
              <a:srgbClr val="D68910"/>
            </a:solidFill>
            <a:prstDash val="solid"/>
          </a:ln>
        </p:spPr>
      </p:sp>
      <p:sp>
        <p:nvSpPr>
          <p:cNvPr id="51" name="Text 12">
            <a:extLst>
              <a:ext uri="{FF2B5EF4-FFF2-40B4-BE49-F238E27FC236}">
                <a16:creationId xmlns:a16="http://schemas.microsoft.com/office/drawing/2014/main" id="{73FFAA38-AB8D-4C68-4583-5414CBB31840}"/>
              </a:ext>
            </a:extLst>
          </p:cNvPr>
          <p:cNvSpPr/>
          <p:nvPr/>
        </p:nvSpPr>
        <p:spPr>
          <a:xfrm>
            <a:off x="9494215" y="3043746"/>
            <a:ext cx="2331720" cy="512066"/>
          </a:xfrm>
          <a:prstGeom prst="rect">
            <a:avLst/>
          </a:prstGeom>
          <a:noFill/>
          <a:ln/>
        </p:spPr>
        <p:txBody>
          <a:bodyPr wrap="square" lIns="0" tIns="0" rIns="0" bIns="0" rtlCol="0" anchor="ctr"/>
          <a:lstStyle/>
          <a:p>
            <a:pPr marL="0" indent="0" algn="ctr">
              <a:buNone/>
            </a:pPr>
            <a:r>
              <a:rPr lang="en-US" sz="1400" b="1" dirty="0"/>
              <a:t>Add &amp; Norm</a:t>
            </a:r>
          </a:p>
        </p:txBody>
      </p:sp>
      <p:sp>
        <p:nvSpPr>
          <p:cNvPr id="53" name="Shape 14">
            <a:extLst>
              <a:ext uri="{FF2B5EF4-FFF2-40B4-BE49-F238E27FC236}">
                <a16:creationId xmlns:a16="http://schemas.microsoft.com/office/drawing/2014/main" id="{0B153D72-FCD7-DAFD-6674-7A6700EB5837}"/>
              </a:ext>
            </a:extLst>
          </p:cNvPr>
          <p:cNvSpPr/>
          <p:nvPr/>
        </p:nvSpPr>
        <p:spPr>
          <a:xfrm>
            <a:off x="9503840" y="4235551"/>
            <a:ext cx="2331720" cy="512066"/>
          </a:xfrm>
          <a:prstGeom prst="roundRect">
            <a:avLst>
              <a:gd name="adj" fmla="val 8219"/>
            </a:avLst>
          </a:prstGeom>
          <a:solidFill>
            <a:srgbClr val="FDF2E3"/>
          </a:solidFill>
          <a:ln w="12700">
            <a:solidFill>
              <a:srgbClr val="D68910"/>
            </a:solidFill>
            <a:prstDash val="solid"/>
          </a:ln>
        </p:spPr>
      </p:sp>
      <p:sp>
        <p:nvSpPr>
          <p:cNvPr id="55" name="Text 15">
            <a:extLst>
              <a:ext uri="{FF2B5EF4-FFF2-40B4-BE49-F238E27FC236}">
                <a16:creationId xmlns:a16="http://schemas.microsoft.com/office/drawing/2014/main" id="{B3132134-9ED3-98B6-2BC6-0921BEE50E0A}"/>
              </a:ext>
            </a:extLst>
          </p:cNvPr>
          <p:cNvSpPr/>
          <p:nvPr/>
        </p:nvSpPr>
        <p:spPr>
          <a:xfrm>
            <a:off x="9503840" y="4254121"/>
            <a:ext cx="2331720" cy="512066"/>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Add &amp; Norm</a:t>
            </a:r>
            <a:endParaRPr lang="en-US" sz="1400" dirty="0"/>
          </a:p>
        </p:txBody>
      </p:sp>
      <p:sp>
        <p:nvSpPr>
          <p:cNvPr id="57" name="Shape 17">
            <a:extLst>
              <a:ext uri="{FF2B5EF4-FFF2-40B4-BE49-F238E27FC236}">
                <a16:creationId xmlns:a16="http://schemas.microsoft.com/office/drawing/2014/main" id="{AEDFCA0C-6CE4-C2A8-9AAC-36B6D5D560F8}"/>
              </a:ext>
            </a:extLst>
          </p:cNvPr>
          <p:cNvSpPr/>
          <p:nvPr/>
        </p:nvSpPr>
        <p:spPr>
          <a:xfrm>
            <a:off x="9494215" y="4824858"/>
            <a:ext cx="2331720" cy="513026"/>
          </a:xfrm>
          <a:prstGeom prst="roundRect">
            <a:avLst>
              <a:gd name="adj" fmla="val 8219"/>
            </a:avLst>
          </a:prstGeom>
          <a:solidFill>
            <a:srgbClr val="FDF2E3"/>
          </a:solidFill>
          <a:ln w="12700">
            <a:solidFill>
              <a:srgbClr val="D68910"/>
            </a:solidFill>
            <a:prstDash val="solid"/>
          </a:ln>
        </p:spPr>
        <p:txBody>
          <a:bodyPr/>
          <a:lstStyle/>
          <a:p>
            <a:endParaRPr lang="en-IN" dirty="0"/>
          </a:p>
        </p:txBody>
      </p:sp>
      <p:sp>
        <p:nvSpPr>
          <p:cNvPr id="59" name="Text 18">
            <a:extLst>
              <a:ext uri="{FF2B5EF4-FFF2-40B4-BE49-F238E27FC236}">
                <a16:creationId xmlns:a16="http://schemas.microsoft.com/office/drawing/2014/main" id="{5CFF21BC-ECA8-617F-4D46-48BC253A583A}"/>
              </a:ext>
            </a:extLst>
          </p:cNvPr>
          <p:cNvSpPr/>
          <p:nvPr/>
        </p:nvSpPr>
        <p:spPr>
          <a:xfrm>
            <a:off x="9503840" y="4806288"/>
            <a:ext cx="2331720" cy="513026"/>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Feed Forward</a:t>
            </a:r>
            <a:endParaRPr lang="en-US" sz="1400" dirty="0"/>
          </a:p>
        </p:txBody>
      </p:sp>
      <p:sp>
        <p:nvSpPr>
          <p:cNvPr id="61" name="Shape 11">
            <a:extLst>
              <a:ext uri="{FF2B5EF4-FFF2-40B4-BE49-F238E27FC236}">
                <a16:creationId xmlns:a16="http://schemas.microsoft.com/office/drawing/2014/main" id="{CD376BC8-6930-06F0-BAD0-9426F4F6A25B}"/>
              </a:ext>
            </a:extLst>
          </p:cNvPr>
          <p:cNvSpPr/>
          <p:nvPr/>
        </p:nvSpPr>
        <p:spPr>
          <a:xfrm>
            <a:off x="9494215" y="3634737"/>
            <a:ext cx="2331720" cy="512066"/>
          </a:xfrm>
          <a:prstGeom prst="roundRect">
            <a:avLst>
              <a:gd name="adj" fmla="val 8219"/>
            </a:avLst>
          </a:prstGeom>
          <a:solidFill>
            <a:srgbClr val="FDF2E3"/>
          </a:solidFill>
          <a:ln w="12700">
            <a:solidFill>
              <a:srgbClr val="D68910"/>
            </a:solidFill>
            <a:prstDash val="solid"/>
          </a:ln>
        </p:spPr>
      </p:sp>
      <p:sp>
        <p:nvSpPr>
          <p:cNvPr id="63" name="Text 12">
            <a:extLst>
              <a:ext uri="{FF2B5EF4-FFF2-40B4-BE49-F238E27FC236}">
                <a16:creationId xmlns:a16="http://schemas.microsoft.com/office/drawing/2014/main" id="{E8B353B3-6753-7BCA-EA4C-82240ADD1C08}"/>
              </a:ext>
            </a:extLst>
          </p:cNvPr>
          <p:cNvSpPr/>
          <p:nvPr/>
        </p:nvSpPr>
        <p:spPr>
          <a:xfrm>
            <a:off x="9494215" y="3634737"/>
            <a:ext cx="2331720" cy="512066"/>
          </a:xfrm>
          <a:prstGeom prst="rect">
            <a:avLst/>
          </a:prstGeom>
          <a:noFill/>
          <a:ln/>
        </p:spPr>
        <p:txBody>
          <a:bodyPr wrap="square" lIns="0" tIns="0" rIns="0" bIns="0" rtlCol="0" anchor="ctr"/>
          <a:lstStyle/>
          <a:p>
            <a:pPr marL="0" indent="0" algn="ctr">
              <a:buNone/>
            </a:pPr>
            <a:r>
              <a:rPr lang="en-US" sz="1400" b="1" dirty="0"/>
              <a:t>Encoder-Decoder Attention</a:t>
            </a:r>
          </a:p>
        </p:txBody>
      </p:sp>
      <p:sp>
        <p:nvSpPr>
          <p:cNvPr id="65" name="Text 4">
            <a:extLst>
              <a:ext uri="{FF2B5EF4-FFF2-40B4-BE49-F238E27FC236}">
                <a16:creationId xmlns:a16="http://schemas.microsoft.com/office/drawing/2014/main" id="{32F9312B-89B5-8E83-2AC4-E2699ECE920D}"/>
              </a:ext>
            </a:extLst>
          </p:cNvPr>
          <p:cNvSpPr/>
          <p:nvPr/>
        </p:nvSpPr>
        <p:spPr>
          <a:xfrm>
            <a:off x="6488632" y="1391545"/>
            <a:ext cx="2923674" cy="408383"/>
          </a:xfrm>
          <a:prstGeom prst="rect">
            <a:avLst/>
          </a:prstGeom>
          <a:noFill/>
          <a:ln/>
        </p:spPr>
        <p:txBody>
          <a:bodyPr wrap="square" lIns="0" tIns="0" rIns="0" bIns="0" rtlCol="0" anchor="ctr"/>
          <a:lstStyle/>
          <a:p>
            <a:pPr algn="r">
              <a:lnSpc>
                <a:spcPct val="105000"/>
              </a:lnSpc>
            </a:pPr>
            <a:r>
              <a:rPr lang="en-IN" sz="1200" dirty="0"/>
              <a:t>Embeds previously generated output tokens.</a:t>
            </a:r>
            <a:endParaRPr lang="en-US" sz="1200" dirty="0"/>
          </a:p>
        </p:txBody>
      </p:sp>
      <p:sp>
        <p:nvSpPr>
          <p:cNvPr id="67" name="Text 7">
            <a:extLst>
              <a:ext uri="{FF2B5EF4-FFF2-40B4-BE49-F238E27FC236}">
                <a16:creationId xmlns:a16="http://schemas.microsoft.com/office/drawing/2014/main" id="{E620ABE6-DC97-15B4-35EC-6E5C8DBCE6BA}"/>
              </a:ext>
            </a:extLst>
          </p:cNvPr>
          <p:cNvSpPr/>
          <p:nvPr/>
        </p:nvSpPr>
        <p:spPr>
          <a:xfrm>
            <a:off x="6413235" y="2456287"/>
            <a:ext cx="2981518" cy="455112"/>
          </a:xfrm>
          <a:prstGeom prst="rect">
            <a:avLst/>
          </a:prstGeom>
          <a:noFill/>
          <a:ln/>
        </p:spPr>
        <p:txBody>
          <a:bodyPr wrap="square" lIns="0" tIns="0" rIns="0" bIns="0" rtlCol="0" anchor="ctr"/>
          <a:lstStyle/>
          <a:p>
            <a:pPr algn="r">
              <a:lnSpc>
                <a:spcPct val="105000"/>
              </a:lnSpc>
            </a:pPr>
            <a:r>
              <a:rPr lang="en-IN" sz="1200" dirty="0"/>
              <a:t>Prevents the decoder from seeing future words during training.</a:t>
            </a:r>
            <a:endParaRPr lang="en-US" sz="1200" dirty="0"/>
          </a:p>
        </p:txBody>
      </p:sp>
      <p:sp>
        <p:nvSpPr>
          <p:cNvPr id="69" name="Text 10">
            <a:extLst>
              <a:ext uri="{FF2B5EF4-FFF2-40B4-BE49-F238E27FC236}">
                <a16:creationId xmlns:a16="http://schemas.microsoft.com/office/drawing/2014/main" id="{AD627017-86C0-C977-D736-BE487AB3D573}"/>
              </a:ext>
            </a:extLst>
          </p:cNvPr>
          <p:cNvSpPr/>
          <p:nvPr/>
        </p:nvSpPr>
        <p:spPr>
          <a:xfrm>
            <a:off x="6422861" y="3053929"/>
            <a:ext cx="2981519" cy="485117"/>
          </a:xfrm>
          <a:prstGeom prst="rect">
            <a:avLst/>
          </a:prstGeom>
          <a:noFill/>
          <a:ln/>
        </p:spPr>
        <p:txBody>
          <a:bodyPr wrap="square" lIns="0" tIns="0" rIns="0" bIns="0" rtlCol="0" anchor="ctr"/>
          <a:lstStyle/>
          <a:p>
            <a:pPr algn="r">
              <a:lnSpc>
                <a:spcPct val="105000"/>
              </a:lnSpc>
            </a:pPr>
            <a:r>
              <a:rPr lang="en-IN" sz="1200" dirty="0"/>
              <a:t>Each token gathers information from every other token.</a:t>
            </a:r>
            <a:endParaRPr lang="en-US" sz="1200" dirty="0"/>
          </a:p>
        </p:txBody>
      </p:sp>
      <p:sp>
        <p:nvSpPr>
          <p:cNvPr id="71" name="Text 13">
            <a:extLst>
              <a:ext uri="{FF2B5EF4-FFF2-40B4-BE49-F238E27FC236}">
                <a16:creationId xmlns:a16="http://schemas.microsoft.com/office/drawing/2014/main" id="{E773B73D-3A98-551B-D446-950356E3CCD7}"/>
              </a:ext>
            </a:extLst>
          </p:cNvPr>
          <p:cNvSpPr/>
          <p:nvPr/>
        </p:nvSpPr>
        <p:spPr>
          <a:xfrm>
            <a:off x="6471078" y="3698811"/>
            <a:ext cx="2923675" cy="505042"/>
          </a:xfrm>
          <a:prstGeom prst="rect">
            <a:avLst/>
          </a:prstGeom>
          <a:noFill/>
          <a:ln/>
        </p:spPr>
        <p:txBody>
          <a:bodyPr wrap="square" lIns="0" tIns="0" rIns="0" bIns="0" rtlCol="0" anchor="ctr"/>
          <a:lstStyle/>
          <a:p>
            <a:pPr algn="r">
              <a:lnSpc>
                <a:spcPct val="105000"/>
              </a:lnSpc>
            </a:pPr>
            <a:r>
              <a:rPr lang="en-IN" sz="1200" dirty="0"/>
              <a:t>Focuses on the encoder output while generating the next token.</a:t>
            </a:r>
            <a:endParaRPr lang="en-US" sz="1200" dirty="0"/>
          </a:p>
        </p:txBody>
      </p:sp>
      <p:sp>
        <p:nvSpPr>
          <p:cNvPr id="73" name="Text 16">
            <a:extLst>
              <a:ext uri="{FF2B5EF4-FFF2-40B4-BE49-F238E27FC236}">
                <a16:creationId xmlns:a16="http://schemas.microsoft.com/office/drawing/2014/main" id="{A06F2CE0-5804-F6E9-01F0-3401935A95C6}"/>
              </a:ext>
            </a:extLst>
          </p:cNvPr>
          <p:cNvSpPr/>
          <p:nvPr/>
        </p:nvSpPr>
        <p:spPr>
          <a:xfrm>
            <a:off x="6461454" y="4952281"/>
            <a:ext cx="2933299" cy="367033"/>
          </a:xfrm>
          <a:prstGeom prst="rect">
            <a:avLst/>
          </a:prstGeom>
          <a:noFill/>
          <a:ln/>
        </p:spPr>
        <p:txBody>
          <a:bodyPr wrap="square" lIns="0" tIns="0" rIns="0" bIns="0" rtlCol="0" anchor="ctr"/>
          <a:lstStyle/>
          <a:p>
            <a:pPr algn="r">
              <a:lnSpc>
                <a:spcPct val="105000"/>
              </a:lnSpc>
            </a:pPr>
            <a:r>
              <a:rPr lang="en-IN" sz="1200" dirty="0"/>
              <a:t>Refines token representations before prediction.	</a:t>
            </a:r>
            <a:endParaRPr lang="en-US" sz="1200" b="1" dirty="0"/>
          </a:p>
        </p:txBody>
      </p:sp>
      <p:sp>
        <p:nvSpPr>
          <p:cNvPr id="75" name="Text 16">
            <a:extLst>
              <a:ext uri="{FF2B5EF4-FFF2-40B4-BE49-F238E27FC236}">
                <a16:creationId xmlns:a16="http://schemas.microsoft.com/office/drawing/2014/main" id="{D8D3C8E5-35DE-D75D-FB2B-AB042E1B4494}"/>
              </a:ext>
            </a:extLst>
          </p:cNvPr>
          <p:cNvSpPr/>
          <p:nvPr/>
        </p:nvSpPr>
        <p:spPr>
          <a:xfrm>
            <a:off x="6496557" y="4317568"/>
            <a:ext cx="2907823" cy="420700"/>
          </a:xfrm>
          <a:prstGeom prst="rect">
            <a:avLst/>
          </a:prstGeom>
          <a:noFill/>
          <a:ln/>
        </p:spPr>
        <p:txBody>
          <a:bodyPr wrap="square" lIns="0" tIns="0" rIns="0" bIns="0" rtlCol="0" anchor="ctr"/>
          <a:lstStyle/>
          <a:p>
            <a:pPr algn="r">
              <a:lnSpc>
                <a:spcPct val="105000"/>
              </a:lnSpc>
            </a:pPr>
            <a:r>
              <a:rPr lang="en-IN" sz="1200" dirty="0"/>
              <a:t>Stabilizes learning using residual connections and normalization.</a:t>
            </a:r>
            <a:endParaRPr lang="en-US" sz="1200" dirty="0"/>
          </a:p>
        </p:txBody>
      </p:sp>
      <p:sp>
        <p:nvSpPr>
          <p:cNvPr id="77" name="Shape 14">
            <a:extLst>
              <a:ext uri="{FF2B5EF4-FFF2-40B4-BE49-F238E27FC236}">
                <a16:creationId xmlns:a16="http://schemas.microsoft.com/office/drawing/2014/main" id="{D34A1F9F-EDCC-CAF2-A6D8-AE46B83C79B1}"/>
              </a:ext>
            </a:extLst>
          </p:cNvPr>
          <p:cNvSpPr/>
          <p:nvPr/>
        </p:nvSpPr>
        <p:spPr>
          <a:xfrm>
            <a:off x="9494215" y="5419905"/>
            <a:ext cx="2331720" cy="512066"/>
          </a:xfrm>
          <a:prstGeom prst="roundRect">
            <a:avLst>
              <a:gd name="adj" fmla="val 8219"/>
            </a:avLst>
          </a:prstGeom>
          <a:solidFill>
            <a:srgbClr val="FDF2E3"/>
          </a:solidFill>
          <a:ln w="12700">
            <a:solidFill>
              <a:srgbClr val="D68910"/>
            </a:solidFill>
            <a:prstDash val="solid"/>
          </a:ln>
        </p:spPr>
      </p:sp>
      <p:sp>
        <p:nvSpPr>
          <p:cNvPr id="79" name="Text 15">
            <a:extLst>
              <a:ext uri="{FF2B5EF4-FFF2-40B4-BE49-F238E27FC236}">
                <a16:creationId xmlns:a16="http://schemas.microsoft.com/office/drawing/2014/main" id="{23232D5A-E3AB-0581-FA0C-D1295DB67416}"/>
              </a:ext>
            </a:extLst>
          </p:cNvPr>
          <p:cNvSpPr/>
          <p:nvPr/>
        </p:nvSpPr>
        <p:spPr>
          <a:xfrm>
            <a:off x="9494215" y="5419905"/>
            <a:ext cx="2331720" cy="512066"/>
          </a:xfrm>
          <a:prstGeom prst="rect">
            <a:avLst/>
          </a:prstGeom>
          <a:noFill/>
          <a:ln/>
        </p:spPr>
        <p:txBody>
          <a:bodyPr wrap="square" lIns="0" tIns="0" rIns="0" bIns="0" rtlCol="0" anchor="ctr"/>
          <a:lstStyle/>
          <a:p>
            <a:pPr marL="0" indent="0" algn="ctr">
              <a:buNone/>
            </a:pPr>
            <a:r>
              <a:rPr lang="en-US" sz="1400" b="1" dirty="0">
                <a:solidFill>
                  <a:srgbClr val="1C2833"/>
                </a:solidFill>
                <a:latin typeface="Calibri" pitchFamily="34" charset="0"/>
                <a:ea typeface="Calibri" pitchFamily="34" charset="-122"/>
                <a:cs typeface="Calibri" pitchFamily="34" charset="-120"/>
              </a:rPr>
              <a:t>Add &amp; Norm</a:t>
            </a:r>
            <a:endParaRPr lang="en-US" sz="1400" dirty="0"/>
          </a:p>
        </p:txBody>
      </p:sp>
      <p:sp>
        <p:nvSpPr>
          <p:cNvPr id="83" name="Text 16">
            <a:extLst>
              <a:ext uri="{FF2B5EF4-FFF2-40B4-BE49-F238E27FC236}">
                <a16:creationId xmlns:a16="http://schemas.microsoft.com/office/drawing/2014/main" id="{BF0181B6-63E8-5B75-A4BE-5A6DE512573C}"/>
              </a:ext>
            </a:extLst>
          </p:cNvPr>
          <p:cNvSpPr/>
          <p:nvPr/>
        </p:nvSpPr>
        <p:spPr>
          <a:xfrm>
            <a:off x="2889985" y="4577133"/>
            <a:ext cx="2933299" cy="667512"/>
          </a:xfrm>
          <a:prstGeom prst="rect">
            <a:avLst/>
          </a:prstGeom>
          <a:noFill/>
          <a:ln/>
        </p:spPr>
        <p:txBody>
          <a:bodyPr wrap="square" lIns="0" tIns="0" rIns="0" bIns="0" rtlCol="0" anchor="ctr"/>
          <a:lstStyle/>
          <a:p>
            <a:pPr>
              <a:lnSpc>
                <a:spcPct val="105000"/>
              </a:lnSpc>
            </a:pPr>
            <a:r>
              <a:rPr lang="en-IN" sz="1200" dirty="0"/>
              <a:t>Context-aware representations passed to the decoder.</a:t>
            </a:r>
          </a:p>
          <a:p>
            <a:pPr>
              <a:lnSpc>
                <a:spcPct val="105000"/>
              </a:lnSpc>
            </a:pPr>
            <a:endParaRPr lang="en-US" sz="1200" dirty="0"/>
          </a:p>
        </p:txBody>
      </p:sp>
      <p:cxnSp>
        <p:nvCxnSpPr>
          <p:cNvPr id="85" name="Straight Connector 84">
            <a:extLst>
              <a:ext uri="{FF2B5EF4-FFF2-40B4-BE49-F238E27FC236}">
                <a16:creationId xmlns:a16="http://schemas.microsoft.com/office/drawing/2014/main" id="{0A8B8E79-B3BE-DA6D-23CE-63920FA25B88}"/>
              </a:ext>
            </a:extLst>
          </p:cNvPr>
          <p:cNvCxnSpPr>
            <a:cxnSpLocks/>
          </p:cNvCxnSpPr>
          <p:nvPr/>
        </p:nvCxnSpPr>
        <p:spPr>
          <a:xfrm flipV="1">
            <a:off x="6228750" y="1258502"/>
            <a:ext cx="0" cy="4507031"/>
          </a:xfrm>
          <a:prstGeom prst="line">
            <a:avLst/>
          </a:prstGeom>
        </p:spPr>
        <p:style>
          <a:lnRef idx="3">
            <a:schemeClr val="dk1"/>
          </a:lnRef>
          <a:fillRef idx="0">
            <a:schemeClr val="dk1"/>
          </a:fillRef>
          <a:effectRef idx="2">
            <a:schemeClr val="dk1"/>
          </a:effectRef>
          <a:fontRef idx="minor">
            <a:schemeClr val="tx1"/>
          </a:fontRef>
        </p:style>
      </p:cxnSp>
      <p:sp>
        <p:nvSpPr>
          <p:cNvPr id="87" name="TextBox 86">
            <a:extLst>
              <a:ext uri="{FF2B5EF4-FFF2-40B4-BE49-F238E27FC236}">
                <a16:creationId xmlns:a16="http://schemas.microsoft.com/office/drawing/2014/main" id="{0D3B8201-5C5E-8B74-26C6-F064B30C267C}"/>
              </a:ext>
            </a:extLst>
          </p:cNvPr>
          <p:cNvSpPr txBox="1"/>
          <p:nvPr/>
        </p:nvSpPr>
        <p:spPr>
          <a:xfrm>
            <a:off x="1142999" y="6007405"/>
            <a:ext cx="8087623" cy="646331"/>
          </a:xfrm>
          <a:prstGeom prst="rect">
            <a:avLst/>
          </a:prstGeom>
          <a:noFill/>
        </p:spPr>
        <p:txBody>
          <a:bodyPr wrap="square">
            <a:spAutoFit/>
          </a:bodyPr>
          <a:lstStyle/>
          <a:p>
            <a:r>
              <a:rPr lang="en-IN" dirty="0"/>
              <a:t>The encoder reads the complete input to build context, while the decoder uses that context to generate the output one token at a time without looking ahead.</a:t>
            </a:r>
          </a:p>
        </p:txBody>
      </p:sp>
    </p:spTree>
    <p:extLst>
      <p:ext uri="{BB962C8B-B14F-4D97-AF65-F5344CB8AC3E}">
        <p14:creationId xmlns:p14="http://schemas.microsoft.com/office/powerpoint/2010/main" val="886193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C2D0CB-457B-DD16-401F-2E6FC0020A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0C5ADB-6897-EF43-230A-0D8FFFE37CC2}"/>
              </a:ext>
            </a:extLst>
          </p:cNvPr>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MECHANISM</a:t>
            </a:r>
            <a:endParaRPr lang="en-US" sz="1200" dirty="0"/>
          </a:p>
        </p:txBody>
      </p:sp>
      <p:sp>
        <p:nvSpPr>
          <p:cNvPr id="3" name="Text 1">
            <a:extLst>
              <a:ext uri="{FF2B5EF4-FFF2-40B4-BE49-F238E27FC236}">
                <a16:creationId xmlns:a16="http://schemas.microsoft.com/office/drawing/2014/main" id="{61244BE4-28AC-CF67-CA4D-3CEE77C04698}"/>
              </a:ext>
            </a:extLst>
          </p:cNvPr>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How Attention Works?</a:t>
            </a:r>
            <a:endParaRPr lang="en-US" sz="3200" dirty="0"/>
          </a:p>
        </p:txBody>
      </p:sp>
      <p:sp>
        <p:nvSpPr>
          <p:cNvPr id="4" name="Shape 2">
            <a:extLst>
              <a:ext uri="{FF2B5EF4-FFF2-40B4-BE49-F238E27FC236}">
                <a16:creationId xmlns:a16="http://schemas.microsoft.com/office/drawing/2014/main" id="{38D98A5F-267C-6B3D-7B87-B4CD69D6A28A}"/>
              </a:ext>
            </a:extLst>
          </p:cNvPr>
          <p:cNvSpPr/>
          <p:nvPr/>
        </p:nvSpPr>
        <p:spPr>
          <a:xfrm>
            <a:off x="548640" y="1417320"/>
            <a:ext cx="5547360" cy="1051560"/>
          </a:xfrm>
          <a:prstGeom prst="roundRect">
            <a:avLst>
              <a:gd name="adj" fmla="val 5217"/>
            </a:avLst>
          </a:prstGeom>
          <a:solidFill>
            <a:srgbClr val="F4F6F7"/>
          </a:solidFill>
          <a:ln w="12700">
            <a:solidFill>
              <a:srgbClr val="D5D8DC"/>
            </a:solidFill>
            <a:prstDash val="solid"/>
          </a:ln>
        </p:spPr>
      </p:sp>
      <p:sp>
        <p:nvSpPr>
          <p:cNvPr id="5" name="Text 3">
            <a:extLst>
              <a:ext uri="{FF2B5EF4-FFF2-40B4-BE49-F238E27FC236}">
                <a16:creationId xmlns:a16="http://schemas.microsoft.com/office/drawing/2014/main" id="{63CF6FD3-8F15-1568-D8BF-7AA45AAA1545}"/>
              </a:ext>
            </a:extLst>
          </p:cNvPr>
          <p:cNvSpPr/>
          <p:nvPr/>
        </p:nvSpPr>
        <p:spPr>
          <a:xfrm>
            <a:off x="777240" y="1536192"/>
            <a:ext cx="5304055" cy="868680"/>
          </a:xfrm>
          <a:prstGeom prst="rect">
            <a:avLst/>
          </a:prstGeom>
          <a:noFill/>
          <a:ln/>
        </p:spPr>
        <p:txBody>
          <a:bodyPr wrap="square" lIns="0" tIns="0" rIns="0" bIns="0" rtlCol="0" anchor="ctr"/>
          <a:lstStyle/>
          <a:p>
            <a:pPr marL="0" indent="0">
              <a:lnSpc>
                <a:spcPct val="125000"/>
              </a:lnSpc>
              <a:buNone/>
            </a:pPr>
            <a:r>
              <a:rPr lang="en-US" sz="1400" b="1" dirty="0">
                <a:latin typeface="Calibri" pitchFamily="34" charset="0"/>
                <a:ea typeface="Calibri" pitchFamily="34" charset="-122"/>
                <a:cs typeface="Calibri" pitchFamily="34" charset="-120"/>
              </a:rPr>
              <a:t>Think of a library search.  </a:t>
            </a:r>
            <a:r>
              <a:rPr lang="en-US" sz="1400" dirty="0">
                <a:latin typeface="Calibri" pitchFamily="34" charset="0"/>
                <a:ea typeface="Calibri" pitchFamily="34" charset="-122"/>
                <a:cs typeface="Calibri" pitchFamily="34" charset="-120"/>
              </a:rPr>
              <a:t>You type a </a:t>
            </a:r>
            <a:r>
              <a:rPr lang="en-US" sz="1400" b="1" dirty="0">
                <a:latin typeface="Calibri" pitchFamily="34" charset="0"/>
                <a:ea typeface="Calibri" pitchFamily="34" charset="-122"/>
                <a:cs typeface="Calibri" pitchFamily="34" charset="-120"/>
              </a:rPr>
              <a:t>Query</a:t>
            </a:r>
            <a:r>
              <a:rPr lang="en-US" sz="1400" dirty="0">
                <a:latin typeface="Calibri" pitchFamily="34" charset="0"/>
                <a:ea typeface="Calibri" pitchFamily="34" charset="-122"/>
                <a:cs typeface="Calibri" pitchFamily="34" charset="-120"/>
              </a:rPr>
              <a:t> (what you're looking for). Every book has a </a:t>
            </a:r>
            <a:r>
              <a:rPr lang="en-US" sz="1400" b="1" dirty="0">
                <a:latin typeface="Calibri" pitchFamily="34" charset="0"/>
                <a:ea typeface="Calibri" pitchFamily="34" charset="-122"/>
                <a:cs typeface="Calibri" pitchFamily="34" charset="-120"/>
              </a:rPr>
              <a:t>Key</a:t>
            </a:r>
            <a:r>
              <a:rPr lang="en-US" sz="1400" dirty="0">
                <a:latin typeface="Calibri" pitchFamily="34" charset="0"/>
                <a:ea typeface="Calibri" pitchFamily="34" charset="-122"/>
                <a:cs typeface="Calibri" pitchFamily="34" charset="-120"/>
              </a:rPr>
              <a:t> (its label/index). You match your query against every key to see how relevant it is, then you actually read the </a:t>
            </a:r>
            <a:r>
              <a:rPr lang="en-US" sz="1400" b="1" dirty="0">
                <a:latin typeface="Calibri" pitchFamily="34" charset="0"/>
                <a:ea typeface="Calibri" pitchFamily="34" charset="-122"/>
                <a:cs typeface="Calibri" pitchFamily="34" charset="-120"/>
              </a:rPr>
              <a:t>Value</a:t>
            </a:r>
            <a:r>
              <a:rPr lang="en-US" sz="1400" dirty="0">
                <a:latin typeface="Calibri" pitchFamily="34" charset="0"/>
                <a:ea typeface="Calibri" pitchFamily="34" charset="-122"/>
                <a:cs typeface="Calibri" pitchFamily="34" charset="-120"/>
              </a:rPr>
              <a:t> (the book's content) — weighted by that relevance.</a:t>
            </a:r>
            <a:endParaRPr lang="en-US" sz="1400" dirty="0"/>
          </a:p>
        </p:txBody>
      </p:sp>
      <p:sp>
        <p:nvSpPr>
          <p:cNvPr id="6" name="Shape 4">
            <a:extLst>
              <a:ext uri="{FF2B5EF4-FFF2-40B4-BE49-F238E27FC236}">
                <a16:creationId xmlns:a16="http://schemas.microsoft.com/office/drawing/2014/main" id="{CE460F50-18EA-7C19-0533-AFFB40FC80C8}"/>
              </a:ext>
            </a:extLst>
          </p:cNvPr>
          <p:cNvSpPr/>
          <p:nvPr/>
        </p:nvSpPr>
        <p:spPr>
          <a:xfrm>
            <a:off x="560404" y="2711196"/>
            <a:ext cx="1727467" cy="1371600"/>
          </a:xfrm>
          <a:prstGeom prst="roundRect">
            <a:avLst>
              <a:gd name="adj" fmla="val 4000"/>
            </a:avLst>
          </a:prstGeom>
          <a:solidFill>
            <a:srgbClr val="FFFFFF"/>
          </a:solidFill>
          <a:ln w="15875">
            <a:solidFill>
              <a:srgbClr val="5D7A9C"/>
            </a:solidFill>
            <a:prstDash val="solid"/>
          </a:ln>
        </p:spPr>
      </p:sp>
      <p:sp>
        <p:nvSpPr>
          <p:cNvPr id="7" name="Shape 5">
            <a:extLst>
              <a:ext uri="{FF2B5EF4-FFF2-40B4-BE49-F238E27FC236}">
                <a16:creationId xmlns:a16="http://schemas.microsoft.com/office/drawing/2014/main" id="{F724FC12-664B-32C2-4D88-8773FD99E72E}"/>
              </a:ext>
            </a:extLst>
          </p:cNvPr>
          <p:cNvSpPr/>
          <p:nvPr/>
        </p:nvSpPr>
        <p:spPr>
          <a:xfrm>
            <a:off x="1927432" y="2875788"/>
            <a:ext cx="272502" cy="512064"/>
          </a:xfrm>
          <a:prstGeom prst="line">
            <a:avLst/>
          </a:prstGeom>
          <a:solidFill>
            <a:srgbClr val="1C2833"/>
          </a:solidFill>
          <a:ln/>
        </p:spPr>
      </p:sp>
      <p:sp>
        <p:nvSpPr>
          <p:cNvPr id="8" name="Text 6">
            <a:extLst>
              <a:ext uri="{FF2B5EF4-FFF2-40B4-BE49-F238E27FC236}">
                <a16:creationId xmlns:a16="http://schemas.microsoft.com/office/drawing/2014/main" id="{A140AA82-DAFE-6F66-3CB5-DA14629F379B}"/>
              </a:ext>
            </a:extLst>
          </p:cNvPr>
          <p:cNvSpPr/>
          <p:nvPr/>
        </p:nvSpPr>
        <p:spPr>
          <a:xfrm>
            <a:off x="1927432" y="2875788"/>
            <a:ext cx="27250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9" name="Text 7">
            <a:extLst>
              <a:ext uri="{FF2B5EF4-FFF2-40B4-BE49-F238E27FC236}">
                <a16:creationId xmlns:a16="http://schemas.microsoft.com/office/drawing/2014/main" id="{E2AD9727-BFEF-177C-413B-6313C98126F7}"/>
              </a:ext>
            </a:extLst>
          </p:cNvPr>
          <p:cNvSpPr/>
          <p:nvPr/>
        </p:nvSpPr>
        <p:spPr>
          <a:xfrm>
            <a:off x="548640" y="2875788"/>
            <a:ext cx="1727467" cy="274320"/>
          </a:xfrm>
          <a:prstGeom prst="rect">
            <a:avLst/>
          </a:prstGeom>
          <a:noFill/>
          <a:ln/>
        </p:spPr>
        <p:txBody>
          <a:bodyPr wrap="square" lIns="0" tIns="0" rIns="0" bIns="0" rtlCol="0" anchor="ctr"/>
          <a:lstStyle/>
          <a:p>
            <a:pPr marL="0" indent="0" algn="ctr">
              <a:buNone/>
            </a:pPr>
            <a:r>
              <a:rPr lang="en-US" sz="1350" b="1" dirty="0">
                <a:solidFill>
                  <a:srgbClr val="1C2833"/>
                </a:solidFill>
                <a:latin typeface="Calibri" pitchFamily="34" charset="0"/>
                <a:ea typeface="Calibri" pitchFamily="34" charset="-122"/>
                <a:cs typeface="Calibri" pitchFamily="34" charset="-120"/>
              </a:rPr>
              <a:t>Query (Q)</a:t>
            </a:r>
            <a:endParaRPr lang="en-US" sz="1350" dirty="0"/>
          </a:p>
        </p:txBody>
      </p:sp>
      <p:sp>
        <p:nvSpPr>
          <p:cNvPr id="10" name="Text 8">
            <a:extLst>
              <a:ext uri="{FF2B5EF4-FFF2-40B4-BE49-F238E27FC236}">
                <a16:creationId xmlns:a16="http://schemas.microsoft.com/office/drawing/2014/main" id="{BEFB414B-5081-9459-FE0A-9ACCD22404B1}"/>
              </a:ext>
            </a:extLst>
          </p:cNvPr>
          <p:cNvSpPr/>
          <p:nvPr/>
        </p:nvSpPr>
        <p:spPr>
          <a:xfrm>
            <a:off x="667111" y="3457154"/>
            <a:ext cx="1532823" cy="365760"/>
          </a:xfrm>
          <a:prstGeom prst="rect">
            <a:avLst/>
          </a:prstGeom>
          <a:noFill/>
          <a:ln/>
        </p:spPr>
        <p:txBody>
          <a:bodyPr wrap="square" lIns="0" tIns="0" rIns="0" bIns="0" rtlCol="0" anchor="ctr"/>
          <a:lstStyle/>
          <a:p>
            <a:pPr marL="0" indent="0" algn="ctr">
              <a:lnSpc>
                <a:spcPct val="110000"/>
              </a:lnSpc>
              <a:buNone/>
            </a:pPr>
            <a:r>
              <a:rPr lang="en-US" sz="1050" i="1" dirty="0">
                <a:solidFill>
                  <a:srgbClr val="5A6570"/>
                </a:solidFill>
                <a:latin typeface="Calibri" pitchFamily="34" charset="0"/>
                <a:ea typeface="Calibri" pitchFamily="34" charset="-122"/>
                <a:cs typeface="Calibri" pitchFamily="34" charset="-120"/>
              </a:rPr>
              <a:t>“What am I looking for?” — a vector from the current token.</a:t>
            </a:r>
            <a:endParaRPr lang="en-US" sz="1050" dirty="0"/>
          </a:p>
        </p:txBody>
      </p:sp>
      <p:sp>
        <p:nvSpPr>
          <p:cNvPr id="11" name="Shape 9">
            <a:extLst>
              <a:ext uri="{FF2B5EF4-FFF2-40B4-BE49-F238E27FC236}">
                <a16:creationId xmlns:a16="http://schemas.microsoft.com/office/drawing/2014/main" id="{CBA77C11-A035-0ED7-653A-DF7D315C14BC}"/>
              </a:ext>
            </a:extLst>
          </p:cNvPr>
          <p:cNvSpPr/>
          <p:nvPr/>
        </p:nvSpPr>
        <p:spPr>
          <a:xfrm>
            <a:off x="2472611" y="2724912"/>
            <a:ext cx="1727467" cy="1371600"/>
          </a:xfrm>
          <a:prstGeom prst="roundRect">
            <a:avLst>
              <a:gd name="adj" fmla="val 4000"/>
            </a:avLst>
          </a:prstGeom>
          <a:solidFill>
            <a:srgbClr val="FFFFFF"/>
          </a:solidFill>
          <a:ln w="15875">
            <a:solidFill>
              <a:srgbClr val="5D7A9C"/>
            </a:solidFill>
            <a:prstDash val="solid"/>
          </a:ln>
        </p:spPr>
      </p:sp>
      <p:sp>
        <p:nvSpPr>
          <p:cNvPr id="12" name="Shape 10">
            <a:extLst>
              <a:ext uri="{FF2B5EF4-FFF2-40B4-BE49-F238E27FC236}">
                <a16:creationId xmlns:a16="http://schemas.microsoft.com/office/drawing/2014/main" id="{9D9D69DF-9E52-F2A1-F9C8-5C5C916DB766}"/>
              </a:ext>
            </a:extLst>
          </p:cNvPr>
          <p:cNvSpPr/>
          <p:nvPr/>
        </p:nvSpPr>
        <p:spPr>
          <a:xfrm>
            <a:off x="3839639" y="2889504"/>
            <a:ext cx="272502" cy="512064"/>
          </a:xfrm>
          <a:prstGeom prst="line">
            <a:avLst/>
          </a:prstGeom>
          <a:solidFill>
            <a:srgbClr val="1C2833"/>
          </a:solidFill>
          <a:ln/>
        </p:spPr>
      </p:sp>
      <p:sp>
        <p:nvSpPr>
          <p:cNvPr id="13" name="Text 11">
            <a:extLst>
              <a:ext uri="{FF2B5EF4-FFF2-40B4-BE49-F238E27FC236}">
                <a16:creationId xmlns:a16="http://schemas.microsoft.com/office/drawing/2014/main" id="{03ADF38E-53F9-4709-7A56-8B7D9BD402D2}"/>
              </a:ext>
            </a:extLst>
          </p:cNvPr>
          <p:cNvSpPr/>
          <p:nvPr/>
        </p:nvSpPr>
        <p:spPr>
          <a:xfrm>
            <a:off x="3839639" y="2889504"/>
            <a:ext cx="27250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K</a:t>
            </a:r>
            <a:endParaRPr lang="en-US" sz="2000" dirty="0"/>
          </a:p>
        </p:txBody>
      </p:sp>
      <p:sp>
        <p:nvSpPr>
          <p:cNvPr id="14" name="Text 12">
            <a:extLst>
              <a:ext uri="{FF2B5EF4-FFF2-40B4-BE49-F238E27FC236}">
                <a16:creationId xmlns:a16="http://schemas.microsoft.com/office/drawing/2014/main" id="{101AFAF0-D6C1-9175-4162-7D6F6978F34F}"/>
              </a:ext>
            </a:extLst>
          </p:cNvPr>
          <p:cNvSpPr/>
          <p:nvPr/>
        </p:nvSpPr>
        <p:spPr>
          <a:xfrm>
            <a:off x="2479854" y="2871216"/>
            <a:ext cx="1727467" cy="274320"/>
          </a:xfrm>
          <a:prstGeom prst="rect">
            <a:avLst/>
          </a:prstGeom>
          <a:noFill/>
          <a:ln/>
        </p:spPr>
        <p:txBody>
          <a:bodyPr wrap="square" lIns="0" tIns="0" rIns="0" bIns="0" rtlCol="0" anchor="ctr"/>
          <a:lstStyle/>
          <a:p>
            <a:pPr marL="0" indent="0" algn="ctr">
              <a:buNone/>
            </a:pPr>
            <a:r>
              <a:rPr lang="en-US" sz="1350" b="1" dirty="0">
                <a:solidFill>
                  <a:srgbClr val="1C2833"/>
                </a:solidFill>
                <a:latin typeface="Calibri" pitchFamily="34" charset="0"/>
                <a:ea typeface="Calibri" pitchFamily="34" charset="-122"/>
                <a:cs typeface="Calibri" pitchFamily="34" charset="-120"/>
              </a:rPr>
              <a:t>Key (K)</a:t>
            </a:r>
            <a:endParaRPr lang="en-US" sz="1350" dirty="0"/>
          </a:p>
        </p:txBody>
      </p:sp>
      <p:sp>
        <p:nvSpPr>
          <p:cNvPr id="15" name="Text 13">
            <a:extLst>
              <a:ext uri="{FF2B5EF4-FFF2-40B4-BE49-F238E27FC236}">
                <a16:creationId xmlns:a16="http://schemas.microsoft.com/office/drawing/2014/main" id="{89E4500D-F038-CE9A-8592-3587491A7CAC}"/>
              </a:ext>
            </a:extLst>
          </p:cNvPr>
          <p:cNvSpPr/>
          <p:nvPr/>
        </p:nvSpPr>
        <p:spPr>
          <a:xfrm>
            <a:off x="2579318" y="3506724"/>
            <a:ext cx="1532823" cy="365760"/>
          </a:xfrm>
          <a:prstGeom prst="rect">
            <a:avLst/>
          </a:prstGeom>
          <a:noFill/>
          <a:ln/>
        </p:spPr>
        <p:txBody>
          <a:bodyPr wrap="square" lIns="0" tIns="0" rIns="0" bIns="0" rtlCol="0" anchor="ctr"/>
          <a:lstStyle/>
          <a:p>
            <a:pPr marL="0" indent="0" algn="ctr">
              <a:lnSpc>
                <a:spcPct val="110000"/>
              </a:lnSpc>
              <a:buNone/>
            </a:pPr>
            <a:r>
              <a:rPr lang="en-US" sz="1050" i="1" dirty="0">
                <a:solidFill>
                  <a:srgbClr val="5A6570"/>
                </a:solidFill>
                <a:latin typeface="Calibri" pitchFamily="34" charset="0"/>
                <a:ea typeface="Calibri" pitchFamily="34" charset="-122"/>
                <a:cs typeface="Calibri" pitchFamily="34" charset="-120"/>
              </a:rPr>
              <a:t>“What do I contain?” — a vector from every token, compared against the query.</a:t>
            </a:r>
            <a:endParaRPr lang="en-US" sz="1050" dirty="0"/>
          </a:p>
        </p:txBody>
      </p:sp>
      <p:sp>
        <p:nvSpPr>
          <p:cNvPr id="16" name="Shape 14">
            <a:extLst>
              <a:ext uri="{FF2B5EF4-FFF2-40B4-BE49-F238E27FC236}">
                <a16:creationId xmlns:a16="http://schemas.microsoft.com/office/drawing/2014/main" id="{72D7A266-1C91-FE4D-4FB7-27A6B374A693}"/>
              </a:ext>
            </a:extLst>
          </p:cNvPr>
          <p:cNvSpPr/>
          <p:nvPr/>
        </p:nvSpPr>
        <p:spPr>
          <a:xfrm>
            <a:off x="4380297" y="2734056"/>
            <a:ext cx="1727467" cy="1371600"/>
          </a:xfrm>
          <a:prstGeom prst="roundRect">
            <a:avLst>
              <a:gd name="adj" fmla="val 4000"/>
            </a:avLst>
          </a:prstGeom>
          <a:solidFill>
            <a:srgbClr val="FFFFFF"/>
          </a:solidFill>
          <a:ln w="15875">
            <a:solidFill>
              <a:srgbClr val="5D7A9C"/>
            </a:solidFill>
            <a:prstDash val="solid"/>
          </a:ln>
        </p:spPr>
      </p:sp>
      <p:sp>
        <p:nvSpPr>
          <p:cNvPr id="17" name="Shape 15">
            <a:extLst>
              <a:ext uri="{FF2B5EF4-FFF2-40B4-BE49-F238E27FC236}">
                <a16:creationId xmlns:a16="http://schemas.microsoft.com/office/drawing/2014/main" id="{B141CACD-D080-D2B0-8B6B-D120CB344841}"/>
              </a:ext>
            </a:extLst>
          </p:cNvPr>
          <p:cNvSpPr/>
          <p:nvPr/>
        </p:nvSpPr>
        <p:spPr>
          <a:xfrm>
            <a:off x="5747325" y="2898648"/>
            <a:ext cx="272502" cy="512064"/>
          </a:xfrm>
          <a:prstGeom prst="line">
            <a:avLst/>
          </a:prstGeom>
          <a:solidFill>
            <a:srgbClr val="1C2833"/>
          </a:solidFill>
          <a:ln/>
        </p:spPr>
      </p:sp>
      <p:sp>
        <p:nvSpPr>
          <p:cNvPr id="18" name="Text 16">
            <a:extLst>
              <a:ext uri="{FF2B5EF4-FFF2-40B4-BE49-F238E27FC236}">
                <a16:creationId xmlns:a16="http://schemas.microsoft.com/office/drawing/2014/main" id="{00174437-A577-95E8-1C63-3E752C7CF096}"/>
              </a:ext>
            </a:extLst>
          </p:cNvPr>
          <p:cNvSpPr/>
          <p:nvPr/>
        </p:nvSpPr>
        <p:spPr>
          <a:xfrm>
            <a:off x="5747325" y="2898648"/>
            <a:ext cx="272502"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V</a:t>
            </a:r>
            <a:endParaRPr lang="en-US" sz="2000" dirty="0"/>
          </a:p>
        </p:txBody>
      </p:sp>
      <p:sp>
        <p:nvSpPr>
          <p:cNvPr id="19" name="Text 17">
            <a:extLst>
              <a:ext uri="{FF2B5EF4-FFF2-40B4-BE49-F238E27FC236}">
                <a16:creationId xmlns:a16="http://schemas.microsoft.com/office/drawing/2014/main" id="{3E714F9F-B196-7BC4-E1D6-F32CC7BCDA92}"/>
              </a:ext>
            </a:extLst>
          </p:cNvPr>
          <p:cNvSpPr/>
          <p:nvPr/>
        </p:nvSpPr>
        <p:spPr>
          <a:xfrm>
            <a:off x="4387540" y="2867607"/>
            <a:ext cx="1727467" cy="274320"/>
          </a:xfrm>
          <a:prstGeom prst="rect">
            <a:avLst/>
          </a:prstGeom>
          <a:noFill/>
          <a:ln/>
        </p:spPr>
        <p:txBody>
          <a:bodyPr wrap="square" lIns="0" tIns="0" rIns="0" bIns="0" rtlCol="0" anchor="ctr"/>
          <a:lstStyle/>
          <a:p>
            <a:pPr marL="0" indent="0" algn="ctr">
              <a:buNone/>
            </a:pPr>
            <a:r>
              <a:rPr lang="en-US" sz="1350" b="1" dirty="0">
                <a:solidFill>
                  <a:srgbClr val="1C2833"/>
                </a:solidFill>
                <a:latin typeface="Calibri" pitchFamily="34" charset="0"/>
                <a:ea typeface="Calibri" pitchFamily="34" charset="-122"/>
                <a:cs typeface="Calibri" pitchFamily="34" charset="-120"/>
              </a:rPr>
              <a:t>Value (V)</a:t>
            </a:r>
            <a:endParaRPr lang="en-US" sz="1350" dirty="0"/>
          </a:p>
        </p:txBody>
      </p:sp>
      <p:sp>
        <p:nvSpPr>
          <p:cNvPr id="20" name="Text 18">
            <a:extLst>
              <a:ext uri="{FF2B5EF4-FFF2-40B4-BE49-F238E27FC236}">
                <a16:creationId xmlns:a16="http://schemas.microsoft.com/office/drawing/2014/main" id="{F6F37F33-F41A-DECD-5AA2-02AC4989D3CC}"/>
              </a:ext>
            </a:extLst>
          </p:cNvPr>
          <p:cNvSpPr/>
          <p:nvPr/>
        </p:nvSpPr>
        <p:spPr>
          <a:xfrm>
            <a:off x="4487004" y="3457154"/>
            <a:ext cx="1532823" cy="365760"/>
          </a:xfrm>
          <a:prstGeom prst="rect">
            <a:avLst/>
          </a:prstGeom>
          <a:noFill/>
          <a:ln/>
        </p:spPr>
        <p:txBody>
          <a:bodyPr wrap="square" lIns="0" tIns="0" rIns="0" bIns="0" rtlCol="0" anchor="ctr"/>
          <a:lstStyle/>
          <a:p>
            <a:pPr marL="0" indent="0" algn="ctr">
              <a:lnSpc>
                <a:spcPct val="110000"/>
              </a:lnSpc>
              <a:buNone/>
            </a:pPr>
            <a:r>
              <a:rPr lang="en-US" sz="1050" i="1" dirty="0">
                <a:solidFill>
                  <a:srgbClr val="5A6570"/>
                </a:solidFill>
                <a:latin typeface="Calibri" pitchFamily="34" charset="0"/>
                <a:ea typeface="Calibri" pitchFamily="34" charset="-122"/>
                <a:cs typeface="Calibri" pitchFamily="34" charset="-120"/>
              </a:rPr>
              <a:t>“What do I actually offer?” — the content that gets mixed together.</a:t>
            </a:r>
            <a:endParaRPr lang="en-US" sz="1050" dirty="0"/>
          </a:p>
        </p:txBody>
      </p:sp>
      <p:sp>
        <p:nvSpPr>
          <p:cNvPr id="21" name="Shape 19">
            <a:extLst>
              <a:ext uri="{FF2B5EF4-FFF2-40B4-BE49-F238E27FC236}">
                <a16:creationId xmlns:a16="http://schemas.microsoft.com/office/drawing/2014/main" id="{686237A5-32A9-723C-9C76-2B48CB697F86}"/>
              </a:ext>
            </a:extLst>
          </p:cNvPr>
          <p:cNvSpPr/>
          <p:nvPr/>
        </p:nvSpPr>
        <p:spPr>
          <a:xfrm>
            <a:off x="544692" y="4308990"/>
            <a:ext cx="5570315" cy="1417320"/>
          </a:xfrm>
          <a:prstGeom prst="roundRect">
            <a:avLst>
              <a:gd name="adj" fmla="val 3871"/>
            </a:avLst>
          </a:prstGeom>
          <a:solidFill>
            <a:srgbClr val="EAF2F8"/>
          </a:solidFill>
          <a:ln w="12700">
            <a:solidFill>
              <a:srgbClr val="AED6F1"/>
            </a:solidFill>
            <a:prstDash val="solid"/>
          </a:ln>
        </p:spPr>
      </p:sp>
      <p:sp>
        <p:nvSpPr>
          <p:cNvPr id="22" name="Text 20">
            <a:extLst>
              <a:ext uri="{FF2B5EF4-FFF2-40B4-BE49-F238E27FC236}">
                <a16:creationId xmlns:a16="http://schemas.microsoft.com/office/drawing/2014/main" id="{02CC41D0-1FC9-773A-EBD9-A19058566535}"/>
              </a:ext>
            </a:extLst>
          </p:cNvPr>
          <p:cNvSpPr/>
          <p:nvPr/>
        </p:nvSpPr>
        <p:spPr>
          <a:xfrm>
            <a:off x="789003" y="4328241"/>
            <a:ext cx="2931745" cy="274320"/>
          </a:xfrm>
          <a:prstGeom prst="rect">
            <a:avLst/>
          </a:prstGeom>
          <a:noFill/>
          <a:ln/>
        </p:spPr>
        <p:txBody>
          <a:bodyPr wrap="square" lIns="0" tIns="0" rIns="0" bIns="0" rtlCol="0" anchor="ctr"/>
          <a:lstStyle/>
          <a:p>
            <a:pPr marL="0" indent="0">
              <a:buNone/>
            </a:pPr>
            <a:r>
              <a:rPr lang="en-US" sz="1300" b="1" dirty="0">
                <a:solidFill>
                  <a:srgbClr val="1C2833"/>
                </a:solidFill>
                <a:latin typeface="Calibri" pitchFamily="34" charset="0"/>
                <a:ea typeface="Calibri" pitchFamily="34" charset="-122"/>
                <a:cs typeface="Calibri" pitchFamily="34" charset="-120"/>
              </a:rPr>
              <a:t>From vectors to matrices</a:t>
            </a:r>
            <a:endParaRPr lang="en-US" sz="1300" dirty="0"/>
          </a:p>
        </p:txBody>
      </p:sp>
      <p:sp>
        <p:nvSpPr>
          <p:cNvPr id="23" name="Text 21">
            <a:extLst>
              <a:ext uri="{FF2B5EF4-FFF2-40B4-BE49-F238E27FC236}">
                <a16:creationId xmlns:a16="http://schemas.microsoft.com/office/drawing/2014/main" id="{2C7DF03E-BDF5-3188-8BC8-52E97ED63C6B}"/>
              </a:ext>
            </a:extLst>
          </p:cNvPr>
          <p:cNvSpPr/>
          <p:nvPr/>
        </p:nvSpPr>
        <p:spPr>
          <a:xfrm>
            <a:off x="789004" y="4602561"/>
            <a:ext cx="5326003" cy="365760"/>
          </a:xfrm>
          <a:prstGeom prst="rect">
            <a:avLst/>
          </a:prstGeom>
          <a:noFill/>
          <a:ln/>
        </p:spPr>
        <p:txBody>
          <a:bodyPr wrap="square" lIns="0" tIns="0" rIns="0" bIns="0" rtlCol="0" anchor="ctr"/>
          <a:lstStyle/>
          <a:p>
            <a:pPr marL="0" indent="0">
              <a:lnSpc>
                <a:spcPct val="120000"/>
              </a:lnSpc>
              <a:buNone/>
            </a:pPr>
            <a:r>
              <a:rPr lang="en-US" sz="1250" dirty="0">
                <a:latin typeface="Calibri" pitchFamily="34" charset="0"/>
                <a:ea typeface="Calibri" pitchFamily="34" charset="-122"/>
                <a:cs typeface="Calibri" pitchFamily="34" charset="-120"/>
              </a:rPr>
              <a:t>In practice we process every token at once. Stack all token embeddings into a matrix X, then learn three projection matrices: </a:t>
            </a:r>
            <a:endParaRPr lang="en-US" sz="1250" dirty="0"/>
          </a:p>
        </p:txBody>
      </p:sp>
      <p:sp>
        <p:nvSpPr>
          <p:cNvPr id="24" name="Text 22">
            <a:extLst>
              <a:ext uri="{FF2B5EF4-FFF2-40B4-BE49-F238E27FC236}">
                <a16:creationId xmlns:a16="http://schemas.microsoft.com/office/drawing/2014/main" id="{3F3E4D79-9A63-AA6C-5A00-F2CD4F78FB6C}"/>
              </a:ext>
            </a:extLst>
          </p:cNvPr>
          <p:cNvSpPr/>
          <p:nvPr/>
        </p:nvSpPr>
        <p:spPr>
          <a:xfrm>
            <a:off x="789004" y="4968321"/>
            <a:ext cx="5326003" cy="365760"/>
          </a:xfrm>
          <a:prstGeom prst="rect">
            <a:avLst/>
          </a:prstGeom>
          <a:noFill/>
          <a:ln/>
        </p:spPr>
        <p:txBody>
          <a:bodyPr wrap="square" lIns="0" tIns="0" rIns="0" bIns="0" rtlCol="0" anchor="ctr"/>
          <a:lstStyle/>
          <a:p>
            <a:pPr marL="0" indent="0">
              <a:buNone/>
            </a:pPr>
            <a:r>
              <a:rPr lang="en-US" sz="1500" b="1" dirty="0">
                <a:solidFill>
                  <a:srgbClr val="1C2833"/>
                </a:solidFill>
                <a:latin typeface="Courier New" pitchFamily="34" charset="0"/>
                <a:ea typeface="Courier New" pitchFamily="34" charset="-122"/>
                <a:cs typeface="Courier New" pitchFamily="34" charset="-120"/>
              </a:rPr>
              <a:t>Q = X·WᵀQ      K = X·WᵀK      V = X·WᵀV</a:t>
            </a:r>
            <a:endParaRPr lang="en-US" sz="1500" dirty="0"/>
          </a:p>
        </p:txBody>
      </p:sp>
      <p:sp>
        <p:nvSpPr>
          <p:cNvPr id="25" name="Text 23">
            <a:extLst>
              <a:ext uri="{FF2B5EF4-FFF2-40B4-BE49-F238E27FC236}">
                <a16:creationId xmlns:a16="http://schemas.microsoft.com/office/drawing/2014/main" id="{4FB999DC-54F5-D11E-BEEE-A72E5A475E34}"/>
              </a:ext>
            </a:extLst>
          </p:cNvPr>
          <p:cNvSpPr/>
          <p:nvPr/>
        </p:nvSpPr>
        <p:spPr>
          <a:xfrm>
            <a:off x="789004" y="5334081"/>
            <a:ext cx="5326003" cy="274320"/>
          </a:xfrm>
          <a:prstGeom prst="rect">
            <a:avLst/>
          </a:prstGeom>
          <a:noFill/>
          <a:ln/>
        </p:spPr>
        <p:txBody>
          <a:bodyPr wrap="square" lIns="0" tIns="0" rIns="0" bIns="0" rtlCol="0" anchor="ctr"/>
          <a:lstStyle/>
          <a:p>
            <a:pPr marL="0" indent="0">
              <a:buNone/>
            </a:pPr>
            <a:r>
              <a:rPr lang="en-US" sz="1150" i="1" dirty="0">
                <a:latin typeface="Calibri" pitchFamily="34" charset="0"/>
                <a:ea typeface="Calibri" pitchFamily="34" charset="-122"/>
                <a:cs typeface="Calibri" pitchFamily="34" charset="-120"/>
              </a:rPr>
              <a:t>WᵀQ, WᵀK, WᵀV are learned during training — the model discovers what makes a good query, key, and value.</a:t>
            </a:r>
            <a:endParaRPr lang="en-US" sz="1150" dirty="0"/>
          </a:p>
        </p:txBody>
      </p:sp>
      <p:sp>
        <p:nvSpPr>
          <p:cNvPr id="28" name="Shape 2">
            <a:extLst>
              <a:ext uri="{FF2B5EF4-FFF2-40B4-BE49-F238E27FC236}">
                <a16:creationId xmlns:a16="http://schemas.microsoft.com/office/drawing/2014/main" id="{9019ED2F-F433-9AA2-EE26-92454F016F4E}"/>
              </a:ext>
            </a:extLst>
          </p:cNvPr>
          <p:cNvSpPr/>
          <p:nvPr/>
        </p:nvSpPr>
        <p:spPr>
          <a:xfrm>
            <a:off x="6741691" y="1419059"/>
            <a:ext cx="1365029" cy="1325880"/>
          </a:xfrm>
          <a:prstGeom prst="roundRect">
            <a:avLst>
              <a:gd name="adj" fmla="val 4000"/>
            </a:avLst>
          </a:prstGeom>
          <a:solidFill>
            <a:srgbClr val="FAFAFA"/>
          </a:solidFill>
          <a:ln w="12700">
            <a:solidFill>
              <a:srgbClr val="D5D8DC"/>
            </a:solidFill>
            <a:prstDash val="solid"/>
          </a:ln>
        </p:spPr>
      </p:sp>
      <p:sp>
        <p:nvSpPr>
          <p:cNvPr id="30" name="Text 3">
            <a:extLst>
              <a:ext uri="{FF2B5EF4-FFF2-40B4-BE49-F238E27FC236}">
                <a16:creationId xmlns:a16="http://schemas.microsoft.com/office/drawing/2014/main" id="{95A93AF8-4688-7BFD-6A10-DB83BC2998A7}"/>
              </a:ext>
            </a:extLst>
          </p:cNvPr>
          <p:cNvSpPr/>
          <p:nvPr/>
        </p:nvSpPr>
        <p:spPr>
          <a:xfrm>
            <a:off x="6851420" y="1455635"/>
            <a:ext cx="200740" cy="265176"/>
          </a:xfrm>
          <a:prstGeom prst="rect">
            <a:avLst/>
          </a:prstGeom>
          <a:noFill/>
          <a:ln/>
        </p:spPr>
        <p:txBody>
          <a:bodyPr wrap="square" lIns="0" tIns="0" rIns="0" bIns="0" rtlCol="0" anchor="ctr"/>
          <a:lstStyle/>
          <a:p>
            <a:pPr marL="0" indent="0">
              <a:buNone/>
            </a:pPr>
            <a:r>
              <a:rPr lang="en-US" sz="1300" b="1" dirty="0">
                <a:solidFill>
                  <a:srgbClr val="5D7A9C"/>
                </a:solidFill>
                <a:latin typeface="Cambria" pitchFamily="34" charset="0"/>
                <a:ea typeface="Cambria" pitchFamily="34" charset="-122"/>
                <a:cs typeface="Cambria" pitchFamily="34" charset="-120"/>
              </a:rPr>
              <a:t>1</a:t>
            </a:r>
            <a:endParaRPr lang="en-US" sz="1300" dirty="0"/>
          </a:p>
        </p:txBody>
      </p:sp>
      <p:sp>
        <p:nvSpPr>
          <p:cNvPr id="32" name="Text 4">
            <a:extLst>
              <a:ext uri="{FF2B5EF4-FFF2-40B4-BE49-F238E27FC236}">
                <a16:creationId xmlns:a16="http://schemas.microsoft.com/office/drawing/2014/main" id="{4087BC9F-B4BB-67AF-395B-1685E166C014}"/>
              </a:ext>
            </a:extLst>
          </p:cNvPr>
          <p:cNvSpPr/>
          <p:nvPr/>
        </p:nvSpPr>
        <p:spPr>
          <a:xfrm>
            <a:off x="6741691" y="1681187"/>
            <a:ext cx="1365029" cy="441960"/>
          </a:xfrm>
          <a:prstGeom prst="rect">
            <a:avLst/>
          </a:prstGeom>
          <a:noFill/>
          <a:ln/>
        </p:spPr>
        <p:txBody>
          <a:bodyPr wrap="square" lIns="0" tIns="0" rIns="0" bIns="0" rtlCol="0" anchor="ctr"/>
          <a:lstStyle/>
          <a:p>
            <a:pPr marL="0" indent="0" algn="ctr">
              <a:buNone/>
            </a:pPr>
            <a:r>
              <a:rPr lang="en-US" sz="1900" b="1" dirty="0">
                <a:solidFill>
                  <a:srgbClr val="1C2833"/>
                </a:solidFill>
                <a:latin typeface="Courier New" pitchFamily="34" charset="0"/>
                <a:ea typeface="Courier New" pitchFamily="34" charset="-122"/>
                <a:cs typeface="Courier New" pitchFamily="34" charset="-120"/>
              </a:rPr>
              <a:t>Q · Kᵀ</a:t>
            </a:r>
            <a:endParaRPr lang="en-US" sz="1900" dirty="0"/>
          </a:p>
        </p:txBody>
      </p:sp>
      <p:sp>
        <p:nvSpPr>
          <p:cNvPr id="34" name="Text 5">
            <a:extLst>
              <a:ext uri="{FF2B5EF4-FFF2-40B4-BE49-F238E27FC236}">
                <a16:creationId xmlns:a16="http://schemas.microsoft.com/office/drawing/2014/main" id="{031AB9BC-5E4D-F3AE-8BBA-89DA0F7512EA}"/>
              </a:ext>
            </a:extLst>
          </p:cNvPr>
          <p:cNvSpPr/>
          <p:nvPr/>
        </p:nvSpPr>
        <p:spPr>
          <a:xfrm>
            <a:off x="6840879" y="2149056"/>
            <a:ext cx="1214475" cy="486156"/>
          </a:xfrm>
          <a:prstGeom prst="rect">
            <a:avLst/>
          </a:prstGeom>
          <a:noFill/>
          <a:ln/>
        </p:spPr>
        <p:txBody>
          <a:bodyPr wrap="square" lIns="0" tIns="0" rIns="0" bIns="0" rtlCol="0" anchor="ctr"/>
          <a:lstStyle/>
          <a:p>
            <a:pPr marL="0" indent="0" algn="ctr">
              <a:lnSpc>
                <a:spcPct val="110000"/>
              </a:lnSpc>
              <a:buNone/>
            </a:pPr>
            <a:r>
              <a:rPr lang="en-US" sz="1050" dirty="0">
                <a:solidFill>
                  <a:srgbClr val="5A6570"/>
                </a:solidFill>
                <a:latin typeface="Calibri" pitchFamily="34" charset="0"/>
                <a:ea typeface="Calibri" pitchFamily="34" charset="-122"/>
                <a:cs typeface="Calibri" pitchFamily="34" charset="-120"/>
              </a:rPr>
              <a:t>Dot product of every query with every key — a raw similarity score.</a:t>
            </a:r>
            <a:endParaRPr lang="en-US" sz="1050" dirty="0"/>
          </a:p>
        </p:txBody>
      </p:sp>
      <p:sp>
        <p:nvSpPr>
          <p:cNvPr id="36" name="Shape 6">
            <a:extLst>
              <a:ext uri="{FF2B5EF4-FFF2-40B4-BE49-F238E27FC236}">
                <a16:creationId xmlns:a16="http://schemas.microsoft.com/office/drawing/2014/main" id="{9ED71067-AEFD-1A80-A45A-45B7E8EE23B2}"/>
              </a:ext>
            </a:extLst>
          </p:cNvPr>
          <p:cNvSpPr/>
          <p:nvPr/>
        </p:nvSpPr>
        <p:spPr>
          <a:xfrm>
            <a:off x="8161117" y="1991281"/>
            <a:ext cx="180048" cy="161391"/>
          </a:xfrm>
          <a:prstGeom prst="rightArrow">
            <a:avLst/>
          </a:prstGeom>
          <a:solidFill>
            <a:srgbClr val="5D7A9C"/>
          </a:solidFill>
          <a:ln/>
        </p:spPr>
      </p:sp>
      <p:sp>
        <p:nvSpPr>
          <p:cNvPr id="38" name="Shape 7">
            <a:extLst>
              <a:ext uri="{FF2B5EF4-FFF2-40B4-BE49-F238E27FC236}">
                <a16:creationId xmlns:a16="http://schemas.microsoft.com/office/drawing/2014/main" id="{46BF38E8-2826-DEC6-307C-E56AA362D7C0}"/>
              </a:ext>
            </a:extLst>
          </p:cNvPr>
          <p:cNvSpPr/>
          <p:nvPr/>
        </p:nvSpPr>
        <p:spPr>
          <a:xfrm>
            <a:off x="8395562" y="1423631"/>
            <a:ext cx="1365029" cy="1325880"/>
          </a:xfrm>
          <a:prstGeom prst="roundRect">
            <a:avLst>
              <a:gd name="adj" fmla="val 4000"/>
            </a:avLst>
          </a:prstGeom>
          <a:solidFill>
            <a:srgbClr val="FAFAFA"/>
          </a:solidFill>
          <a:ln w="12700">
            <a:solidFill>
              <a:srgbClr val="D5D8DC"/>
            </a:solidFill>
            <a:prstDash val="solid"/>
          </a:ln>
        </p:spPr>
      </p:sp>
      <p:sp>
        <p:nvSpPr>
          <p:cNvPr id="40" name="Text 8">
            <a:extLst>
              <a:ext uri="{FF2B5EF4-FFF2-40B4-BE49-F238E27FC236}">
                <a16:creationId xmlns:a16="http://schemas.microsoft.com/office/drawing/2014/main" id="{733BB184-97DA-B7AE-AA45-573B8DA75D8C}"/>
              </a:ext>
            </a:extLst>
          </p:cNvPr>
          <p:cNvSpPr/>
          <p:nvPr/>
        </p:nvSpPr>
        <p:spPr>
          <a:xfrm>
            <a:off x="8505291" y="1460207"/>
            <a:ext cx="200740" cy="265176"/>
          </a:xfrm>
          <a:prstGeom prst="rect">
            <a:avLst/>
          </a:prstGeom>
          <a:noFill/>
          <a:ln/>
        </p:spPr>
        <p:txBody>
          <a:bodyPr wrap="square" lIns="0" tIns="0" rIns="0" bIns="0" rtlCol="0" anchor="ctr"/>
          <a:lstStyle/>
          <a:p>
            <a:pPr marL="0" indent="0">
              <a:buNone/>
            </a:pPr>
            <a:r>
              <a:rPr lang="en-US" sz="1300" b="1" dirty="0">
                <a:solidFill>
                  <a:srgbClr val="5D7A9C"/>
                </a:solidFill>
                <a:latin typeface="Cambria" pitchFamily="34" charset="0"/>
                <a:ea typeface="Cambria" pitchFamily="34" charset="-122"/>
                <a:cs typeface="Cambria" pitchFamily="34" charset="-120"/>
              </a:rPr>
              <a:t>2</a:t>
            </a:r>
            <a:endParaRPr lang="en-US" sz="1300" dirty="0"/>
          </a:p>
        </p:txBody>
      </p:sp>
      <p:sp>
        <p:nvSpPr>
          <p:cNvPr id="42" name="Text 9">
            <a:extLst>
              <a:ext uri="{FF2B5EF4-FFF2-40B4-BE49-F238E27FC236}">
                <a16:creationId xmlns:a16="http://schemas.microsoft.com/office/drawing/2014/main" id="{CC2EAF0D-572D-B448-5A44-9D1CFD63EDC7}"/>
              </a:ext>
            </a:extLst>
          </p:cNvPr>
          <p:cNvSpPr/>
          <p:nvPr/>
        </p:nvSpPr>
        <p:spPr>
          <a:xfrm>
            <a:off x="8395562" y="1685759"/>
            <a:ext cx="1365029" cy="441960"/>
          </a:xfrm>
          <a:prstGeom prst="rect">
            <a:avLst/>
          </a:prstGeom>
          <a:noFill/>
          <a:ln/>
        </p:spPr>
        <p:txBody>
          <a:bodyPr wrap="square" lIns="0" tIns="0" rIns="0" bIns="0" rtlCol="0" anchor="ctr"/>
          <a:lstStyle/>
          <a:p>
            <a:pPr marL="0" indent="0" algn="ctr">
              <a:buNone/>
            </a:pPr>
            <a:r>
              <a:rPr lang="en-US" sz="1900" b="1" dirty="0">
                <a:solidFill>
                  <a:srgbClr val="1C2833"/>
                </a:solidFill>
                <a:latin typeface="Courier New" pitchFamily="34" charset="0"/>
                <a:ea typeface="Courier New" pitchFamily="34" charset="-122"/>
                <a:cs typeface="Courier New" pitchFamily="34" charset="-120"/>
              </a:rPr>
              <a:t>÷ √dk</a:t>
            </a:r>
            <a:endParaRPr lang="en-US" sz="1900" dirty="0"/>
          </a:p>
        </p:txBody>
      </p:sp>
      <p:sp>
        <p:nvSpPr>
          <p:cNvPr id="44" name="Text 10">
            <a:extLst>
              <a:ext uri="{FF2B5EF4-FFF2-40B4-BE49-F238E27FC236}">
                <a16:creationId xmlns:a16="http://schemas.microsoft.com/office/drawing/2014/main" id="{5214DBCB-F1F2-6669-1F86-7793A66FC4B2}"/>
              </a:ext>
            </a:extLst>
          </p:cNvPr>
          <p:cNvSpPr/>
          <p:nvPr/>
        </p:nvSpPr>
        <p:spPr>
          <a:xfrm>
            <a:off x="8470838" y="2177796"/>
            <a:ext cx="1214475" cy="486156"/>
          </a:xfrm>
          <a:prstGeom prst="rect">
            <a:avLst/>
          </a:prstGeom>
          <a:noFill/>
          <a:ln/>
        </p:spPr>
        <p:txBody>
          <a:bodyPr wrap="square" lIns="0" tIns="0" rIns="0" bIns="0" rtlCol="0" anchor="ctr"/>
          <a:lstStyle/>
          <a:p>
            <a:pPr marL="0" indent="0" algn="ctr">
              <a:lnSpc>
                <a:spcPct val="110000"/>
              </a:lnSpc>
              <a:buNone/>
            </a:pPr>
            <a:r>
              <a:rPr lang="en-US" sz="1050" dirty="0">
                <a:solidFill>
                  <a:srgbClr val="5A6570"/>
                </a:solidFill>
                <a:latin typeface="Calibri" pitchFamily="34" charset="0"/>
                <a:ea typeface="Calibri" pitchFamily="34" charset="-122"/>
                <a:cs typeface="Calibri" pitchFamily="34" charset="-120"/>
              </a:rPr>
              <a:t>Scale down by the square root of the key dimension.</a:t>
            </a:r>
            <a:endParaRPr lang="en-US" sz="1050" dirty="0"/>
          </a:p>
        </p:txBody>
      </p:sp>
      <p:sp>
        <p:nvSpPr>
          <p:cNvPr id="48" name="Shape 12">
            <a:extLst>
              <a:ext uri="{FF2B5EF4-FFF2-40B4-BE49-F238E27FC236}">
                <a16:creationId xmlns:a16="http://schemas.microsoft.com/office/drawing/2014/main" id="{A421C475-28CB-BA42-E0E9-3653E02B0A0B}"/>
              </a:ext>
            </a:extLst>
          </p:cNvPr>
          <p:cNvSpPr/>
          <p:nvPr/>
        </p:nvSpPr>
        <p:spPr>
          <a:xfrm>
            <a:off x="9994712" y="1448015"/>
            <a:ext cx="1420048" cy="1325880"/>
          </a:xfrm>
          <a:prstGeom prst="roundRect">
            <a:avLst>
              <a:gd name="adj" fmla="val 4000"/>
            </a:avLst>
          </a:prstGeom>
          <a:solidFill>
            <a:srgbClr val="FDF2E3"/>
          </a:solidFill>
          <a:ln w="12700">
            <a:solidFill>
              <a:srgbClr val="D68910"/>
            </a:solidFill>
            <a:prstDash val="solid"/>
          </a:ln>
        </p:spPr>
      </p:sp>
      <p:sp>
        <p:nvSpPr>
          <p:cNvPr id="50" name="Text 13">
            <a:extLst>
              <a:ext uri="{FF2B5EF4-FFF2-40B4-BE49-F238E27FC236}">
                <a16:creationId xmlns:a16="http://schemas.microsoft.com/office/drawing/2014/main" id="{C7D936BD-7662-3114-1D4E-6C48F996AC7D}"/>
              </a:ext>
            </a:extLst>
          </p:cNvPr>
          <p:cNvSpPr/>
          <p:nvPr/>
        </p:nvSpPr>
        <p:spPr>
          <a:xfrm>
            <a:off x="10079039" y="1484591"/>
            <a:ext cx="208831" cy="265176"/>
          </a:xfrm>
          <a:prstGeom prst="rect">
            <a:avLst/>
          </a:prstGeom>
          <a:noFill/>
          <a:ln/>
        </p:spPr>
        <p:txBody>
          <a:bodyPr wrap="square" lIns="0" tIns="0" rIns="0" bIns="0" rtlCol="0" anchor="ctr"/>
          <a:lstStyle/>
          <a:p>
            <a:pPr marL="0" indent="0">
              <a:buNone/>
            </a:pPr>
            <a:r>
              <a:rPr lang="en-US" sz="1300" b="1" dirty="0">
                <a:solidFill>
                  <a:srgbClr val="5D7A9C"/>
                </a:solidFill>
                <a:latin typeface="Cambria" pitchFamily="34" charset="0"/>
                <a:ea typeface="Cambria" pitchFamily="34" charset="-122"/>
                <a:cs typeface="Cambria" pitchFamily="34" charset="-120"/>
              </a:rPr>
              <a:t>3</a:t>
            </a:r>
            <a:endParaRPr lang="en-US" sz="1300" dirty="0"/>
          </a:p>
        </p:txBody>
      </p:sp>
      <p:sp>
        <p:nvSpPr>
          <p:cNvPr id="52" name="Text 14">
            <a:extLst>
              <a:ext uri="{FF2B5EF4-FFF2-40B4-BE49-F238E27FC236}">
                <a16:creationId xmlns:a16="http://schemas.microsoft.com/office/drawing/2014/main" id="{AE8195BC-09D9-411D-3E75-0DB4348B6146}"/>
              </a:ext>
            </a:extLst>
          </p:cNvPr>
          <p:cNvSpPr/>
          <p:nvPr/>
        </p:nvSpPr>
        <p:spPr>
          <a:xfrm>
            <a:off x="9994712" y="1710143"/>
            <a:ext cx="1420048" cy="441960"/>
          </a:xfrm>
          <a:prstGeom prst="rect">
            <a:avLst/>
          </a:prstGeom>
          <a:noFill/>
          <a:ln/>
        </p:spPr>
        <p:txBody>
          <a:bodyPr wrap="square" lIns="0" tIns="0" rIns="0" bIns="0" rtlCol="0" anchor="ctr"/>
          <a:lstStyle/>
          <a:p>
            <a:pPr marL="0" indent="0" algn="ctr">
              <a:buNone/>
            </a:pPr>
            <a:r>
              <a:rPr lang="en-US" sz="1900" b="1" dirty="0">
                <a:solidFill>
                  <a:srgbClr val="1C2833"/>
                </a:solidFill>
                <a:latin typeface="Courier New" pitchFamily="34" charset="0"/>
                <a:ea typeface="Courier New" pitchFamily="34" charset="-122"/>
                <a:cs typeface="Courier New" pitchFamily="34" charset="-120"/>
              </a:rPr>
              <a:t>softmax</a:t>
            </a:r>
            <a:endParaRPr lang="en-US" sz="1900" dirty="0"/>
          </a:p>
        </p:txBody>
      </p:sp>
      <p:sp>
        <p:nvSpPr>
          <p:cNvPr id="54" name="Text 15">
            <a:extLst>
              <a:ext uri="{FF2B5EF4-FFF2-40B4-BE49-F238E27FC236}">
                <a16:creationId xmlns:a16="http://schemas.microsoft.com/office/drawing/2014/main" id="{4867EF45-F28B-572A-2812-07568178947C}"/>
              </a:ext>
            </a:extLst>
          </p:cNvPr>
          <p:cNvSpPr/>
          <p:nvPr/>
        </p:nvSpPr>
        <p:spPr>
          <a:xfrm>
            <a:off x="10092440" y="2192101"/>
            <a:ext cx="1263425" cy="486156"/>
          </a:xfrm>
          <a:prstGeom prst="rect">
            <a:avLst/>
          </a:prstGeom>
          <a:noFill/>
          <a:ln/>
        </p:spPr>
        <p:txBody>
          <a:bodyPr wrap="square" lIns="0" tIns="0" rIns="0" bIns="0" rtlCol="0" anchor="ctr"/>
          <a:lstStyle/>
          <a:p>
            <a:pPr marL="0" indent="0" algn="ctr">
              <a:lnSpc>
                <a:spcPct val="110000"/>
              </a:lnSpc>
              <a:buNone/>
            </a:pPr>
            <a:r>
              <a:rPr lang="en-US" sz="1050" dirty="0">
                <a:solidFill>
                  <a:srgbClr val="5A6570"/>
                </a:solidFill>
                <a:latin typeface="Calibri" pitchFamily="34" charset="0"/>
                <a:ea typeface="Calibri" pitchFamily="34" charset="-122"/>
                <a:cs typeface="Calibri" pitchFamily="34" charset="-120"/>
              </a:rPr>
              <a:t>Turn scores into probabilities that sum to 1 across each row.</a:t>
            </a:r>
            <a:endParaRPr lang="en-US" sz="1050" dirty="0"/>
          </a:p>
        </p:txBody>
      </p:sp>
      <p:sp>
        <p:nvSpPr>
          <p:cNvPr id="58" name="Shape 17">
            <a:extLst>
              <a:ext uri="{FF2B5EF4-FFF2-40B4-BE49-F238E27FC236}">
                <a16:creationId xmlns:a16="http://schemas.microsoft.com/office/drawing/2014/main" id="{549A8DF8-23FF-6076-4E92-FF5ECBD4589D}"/>
              </a:ext>
            </a:extLst>
          </p:cNvPr>
          <p:cNvSpPr/>
          <p:nvPr/>
        </p:nvSpPr>
        <p:spPr>
          <a:xfrm>
            <a:off x="10041639" y="2961908"/>
            <a:ext cx="1365030" cy="1325880"/>
          </a:xfrm>
          <a:prstGeom prst="roundRect">
            <a:avLst>
              <a:gd name="adj" fmla="val 4000"/>
            </a:avLst>
          </a:prstGeom>
          <a:solidFill>
            <a:srgbClr val="FAFAFA"/>
          </a:solidFill>
          <a:ln w="12700">
            <a:solidFill>
              <a:srgbClr val="D5D8DC"/>
            </a:solidFill>
            <a:prstDash val="solid"/>
          </a:ln>
        </p:spPr>
      </p:sp>
      <p:sp>
        <p:nvSpPr>
          <p:cNvPr id="60" name="Text 18">
            <a:extLst>
              <a:ext uri="{FF2B5EF4-FFF2-40B4-BE49-F238E27FC236}">
                <a16:creationId xmlns:a16="http://schemas.microsoft.com/office/drawing/2014/main" id="{F3C4F9F3-A00E-E747-3501-DBDD97A02E5F}"/>
              </a:ext>
            </a:extLst>
          </p:cNvPr>
          <p:cNvSpPr/>
          <p:nvPr/>
        </p:nvSpPr>
        <p:spPr>
          <a:xfrm>
            <a:off x="10111218" y="2990303"/>
            <a:ext cx="200740" cy="265176"/>
          </a:xfrm>
          <a:prstGeom prst="rect">
            <a:avLst/>
          </a:prstGeom>
          <a:noFill/>
          <a:ln/>
        </p:spPr>
        <p:txBody>
          <a:bodyPr wrap="square" lIns="0" tIns="0" rIns="0" bIns="0" rtlCol="0" anchor="ctr"/>
          <a:lstStyle/>
          <a:p>
            <a:pPr marL="0" indent="0">
              <a:buNone/>
            </a:pPr>
            <a:r>
              <a:rPr lang="en-US" sz="1300" b="1" dirty="0">
                <a:solidFill>
                  <a:srgbClr val="5D7A9C"/>
                </a:solidFill>
                <a:latin typeface="Cambria" pitchFamily="34" charset="0"/>
                <a:ea typeface="Cambria" pitchFamily="34" charset="-122"/>
                <a:cs typeface="Cambria" pitchFamily="34" charset="-120"/>
              </a:rPr>
              <a:t>4</a:t>
            </a:r>
            <a:endParaRPr lang="en-US" sz="1300" dirty="0"/>
          </a:p>
        </p:txBody>
      </p:sp>
      <p:sp>
        <p:nvSpPr>
          <p:cNvPr id="62" name="Text 19">
            <a:extLst>
              <a:ext uri="{FF2B5EF4-FFF2-40B4-BE49-F238E27FC236}">
                <a16:creationId xmlns:a16="http://schemas.microsoft.com/office/drawing/2014/main" id="{E0D189AB-5B1B-B9B4-54F9-1E3850021D74}"/>
              </a:ext>
            </a:extLst>
          </p:cNvPr>
          <p:cNvSpPr/>
          <p:nvPr/>
        </p:nvSpPr>
        <p:spPr>
          <a:xfrm>
            <a:off x="10041639" y="3224036"/>
            <a:ext cx="1365030" cy="441960"/>
          </a:xfrm>
          <a:prstGeom prst="rect">
            <a:avLst/>
          </a:prstGeom>
          <a:noFill/>
          <a:ln/>
        </p:spPr>
        <p:txBody>
          <a:bodyPr wrap="square" lIns="0" tIns="0" rIns="0" bIns="0" rtlCol="0" anchor="ctr"/>
          <a:lstStyle/>
          <a:p>
            <a:pPr marL="0" indent="0" algn="ctr">
              <a:buNone/>
            </a:pPr>
            <a:r>
              <a:rPr lang="en-US" sz="1900" b="1" dirty="0">
                <a:solidFill>
                  <a:srgbClr val="1C2833"/>
                </a:solidFill>
                <a:latin typeface="Courier New" pitchFamily="34" charset="0"/>
                <a:ea typeface="Courier New" pitchFamily="34" charset="-122"/>
                <a:cs typeface="Courier New" pitchFamily="34" charset="-120"/>
              </a:rPr>
              <a:t>× V</a:t>
            </a:r>
            <a:endParaRPr lang="en-US" sz="1900" dirty="0"/>
          </a:p>
        </p:txBody>
      </p:sp>
      <p:sp>
        <p:nvSpPr>
          <p:cNvPr id="64" name="Text 20">
            <a:extLst>
              <a:ext uri="{FF2B5EF4-FFF2-40B4-BE49-F238E27FC236}">
                <a16:creationId xmlns:a16="http://schemas.microsoft.com/office/drawing/2014/main" id="{E02E64E3-CDDB-162B-C6BF-997C43472313}"/>
              </a:ext>
            </a:extLst>
          </p:cNvPr>
          <p:cNvSpPr/>
          <p:nvPr/>
        </p:nvSpPr>
        <p:spPr>
          <a:xfrm>
            <a:off x="10111218" y="3648160"/>
            <a:ext cx="1214475" cy="486156"/>
          </a:xfrm>
          <a:prstGeom prst="rect">
            <a:avLst/>
          </a:prstGeom>
          <a:noFill/>
          <a:ln/>
        </p:spPr>
        <p:txBody>
          <a:bodyPr wrap="square" lIns="0" tIns="0" rIns="0" bIns="0" rtlCol="0" anchor="ctr"/>
          <a:lstStyle/>
          <a:p>
            <a:pPr marL="0" indent="0" algn="ctr">
              <a:lnSpc>
                <a:spcPct val="110000"/>
              </a:lnSpc>
              <a:buNone/>
            </a:pPr>
            <a:r>
              <a:rPr lang="en-US" sz="1050" dirty="0">
                <a:solidFill>
                  <a:srgbClr val="5A6570"/>
                </a:solidFill>
                <a:latin typeface="Calibri" pitchFamily="34" charset="0"/>
                <a:ea typeface="Calibri" pitchFamily="34" charset="-122"/>
                <a:cs typeface="Calibri" pitchFamily="34" charset="-120"/>
              </a:rPr>
              <a:t>Use those probabilities to take a weighted sum of the value vectors.</a:t>
            </a:r>
            <a:endParaRPr lang="en-US" sz="1050" dirty="0"/>
          </a:p>
        </p:txBody>
      </p:sp>
      <p:sp>
        <p:nvSpPr>
          <p:cNvPr id="66" name="Shape 21">
            <a:extLst>
              <a:ext uri="{FF2B5EF4-FFF2-40B4-BE49-F238E27FC236}">
                <a16:creationId xmlns:a16="http://schemas.microsoft.com/office/drawing/2014/main" id="{60D79912-54F6-4F57-31E2-B1D2A13B25B9}"/>
              </a:ext>
            </a:extLst>
          </p:cNvPr>
          <p:cNvSpPr/>
          <p:nvPr/>
        </p:nvSpPr>
        <p:spPr>
          <a:xfrm>
            <a:off x="6651667" y="3007067"/>
            <a:ext cx="3245802" cy="1057896"/>
          </a:xfrm>
          <a:prstGeom prst="roundRect">
            <a:avLst>
              <a:gd name="adj" fmla="val 7059"/>
            </a:avLst>
          </a:prstGeom>
          <a:solidFill>
            <a:srgbClr val="1C2833"/>
          </a:solidFill>
          <a:ln w="12700">
            <a:solidFill>
              <a:srgbClr val="1C2833"/>
            </a:solidFill>
            <a:prstDash val="solid"/>
          </a:ln>
        </p:spPr>
      </p:sp>
      <p:sp>
        <p:nvSpPr>
          <p:cNvPr id="68" name="Text 22">
            <a:extLst>
              <a:ext uri="{FF2B5EF4-FFF2-40B4-BE49-F238E27FC236}">
                <a16:creationId xmlns:a16="http://schemas.microsoft.com/office/drawing/2014/main" id="{3A6DB0C9-159B-2A08-8E7B-4AC8A78A3C50}"/>
              </a:ext>
            </a:extLst>
          </p:cNvPr>
          <p:cNvSpPr/>
          <p:nvPr/>
        </p:nvSpPr>
        <p:spPr>
          <a:xfrm>
            <a:off x="6651667" y="3007067"/>
            <a:ext cx="3245802" cy="1057896"/>
          </a:xfrm>
          <a:prstGeom prst="rect">
            <a:avLst/>
          </a:prstGeom>
          <a:noFill/>
          <a:ln/>
        </p:spPr>
        <p:txBody>
          <a:bodyPr wrap="square" lIns="0" tIns="0" rIns="0" bIns="0"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Attention(Q, K, V) = softmax( Q·Kᵀ / √dk ) · V</a:t>
            </a:r>
            <a:endParaRPr lang="en-US" sz="2200" dirty="0"/>
          </a:p>
        </p:txBody>
      </p:sp>
      <p:sp>
        <p:nvSpPr>
          <p:cNvPr id="70" name="Shape 6">
            <a:extLst>
              <a:ext uri="{FF2B5EF4-FFF2-40B4-BE49-F238E27FC236}">
                <a16:creationId xmlns:a16="http://schemas.microsoft.com/office/drawing/2014/main" id="{9F8E6001-84EF-814E-8599-17D58D604063}"/>
              </a:ext>
            </a:extLst>
          </p:cNvPr>
          <p:cNvSpPr/>
          <p:nvPr/>
        </p:nvSpPr>
        <p:spPr>
          <a:xfrm>
            <a:off x="9807445" y="1996253"/>
            <a:ext cx="180048" cy="161391"/>
          </a:xfrm>
          <a:prstGeom prst="rightArrow">
            <a:avLst/>
          </a:prstGeom>
          <a:solidFill>
            <a:srgbClr val="5D7A9C"/>
          </a:solidFill>
          <a:ln/>
        </p:spPr>
      </p:sp>
      <p:sp>
        <p:nvSpPr>
          <p:cNvPr id="74" name="Shape 6">
            <a:extLst>
              <a:ext uri="{FF2B5EF4-FFF2-40B4-BE49-F238E27FC236}">
                <a16:creationId xmlns:a16="http://schemas.microsoft.com/office/drawing/2014/main" id="{C925CA21-9BE5-D7EC-1314-C48C65E67026}"/>
              </a:ext>
            </a:extLst>
          </p:cNvPr>
          <p:cNvSpPr/>
          <p:nvPr/>
        </p:nvSpPr>
        <p:spPr>
          <a:xfrm rot="5400000">
            <a:off x="10634129" y="2804452"/>
            <a:ext cx="180048" cy="161391"/>
          </a:xfrm>
          <a:prstGeom prst="rightArrow">
            <a:avLst/>
          </a:prstGeom>
          <a:solidFill>
            <a:srgbClr val="5D7A9C"/>
          </a:solidFill>
          <a:ln/>
        </p:spPr>
      </p:sp>
      <p:sp>
        <p:nvSpPr>
          <p:cNvPr id="76" name="Text 24">
            <a:extLst>
              <a:ext uri="{FF2B5EF4-FFF2-40B4-BE49-F238E27FC236}">
                <a16:creationId xmlns:a16="http://schemas.microsoft.com/office/drawing/2014/main" id="{50F10E36-9371-C8E6-F89E-7143356A67B6}"/>
              </a:ext>
            </a:extLst>
          </p:cNvPr>
          <p:cNvSpPr/>
          <p:nvPr/>
        </p:nvSpPr>
        <p:spPr>
          <a:xfrm>
            <a:off x="6614209" y="4536652"/>
            <a:ext cx="4998671" cy="456999"/>
          </a:xfrm>
          <a:prstGeom prst="rect">
            <a:avLst/>
          </a:prstGeom>
          <a:noFill/>
          <a:ln/>
        </p:spPr>
        <p:txBody>
          <a:bodyPr wrap="square" lIns="0" tIns="0" rIns="0" bIns="0" rtlCol="0" anchor="ctr"/>
          <a:lstStyle/>
          <a:p>
            <a:pPr>
              <a:lnSpc>
                <a:spcPct val="125000"/>
              </a:lnSpc>
            </a:pPr>
            <a:r>
              <a:rPr lang="en-IN" dirty="0"/>
              <a:t>Scaling by √dk keeps attention scores stable and prevents the SoftMax from becoming too confident.</a:t>
            </a:r>
            <a:endParaRPr lang="en-US" dirty="0"/>
          </a:p>
        </p:txBody>
      </p:sp>
    </p:spTree>
    <p:extLst>
      <p:ext uri="{BB962C8B-B14F-4D97-AF65-F5344CB8AC3E}">
        <p14:creationId xmlns:p14="http://schemas.microsoft.com/office/powerpoint/2010/main" val="1056186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MECHANISM</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Why one attention head isn't enough</a:t>
            </a:r>
            <a:endParaRPr lang="en-US" sz="3200" dirty="0"/>
          </a:p>
        </p:txBody>
      </p:sp>
      <p:sp>
        <p:nvSpPr>
          <p:cNvPr id="4" name="Text 2"/>
          <p:cNvSpPr/>
          <p:nvPr/>
        </p:nvSpPr>
        <p:spPr>
          <a:xfrm>
            <a:off x="548640" y="1417320"/>
            <a:ext cx="4663440" cy="246888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A single attention head produces one weighted average per token.</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Averaging blends everything together — it can't cleanly track several relationships at once (grammar, meaning, coreference...).</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Solution: run h = 8 attention heads in parallel, each with its own learned Q/K/V projections.</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Each head is smaller (dk = dv = 64 = 512 / 8), so total compute stays similar to one full-size head.</a:t>
            </a:r>
            <a:endParaRPr lang="en-US" sz="1500" dirty="0"/>
          </a:p>
        </p:txBody>
      </p:sp>
      <p:sp>
        <p:nvSpPr>
          <p:cNvPr id="6" name="Text 4"/>
          <p:cNvSpPr/>
          <p:nvPr/>
        </p:nvSpPr>
        <p:spPr>
          <a:xfrm>
            <a:off x="548640" y="3995849"/>
            <a:ext cx="5852160" cy="731520"/>
          </a:xfrm>
          <a:prstGeom prst="rect">
            <a:avLst/>
          </a:prstGeom>
          <a:noFill/>
          <a:ln/>
        </p:spPr>
        <p:txBody>
          <a:bodyPr wrap="square" lIns="0" tIns="0" rIns="0" bIns="0" rtlCol="0" anchor="ctr"/>
          <a:lstStyle/>
          <a:p>
            <a:pPr marL="0" indent="0">
              <a:lnSpc>
                <a:spcPct val="125000"/>
              </a:lnSpc>
              <a:buNone/>
            </a:pPr>
            <a:r>
              <a:rPr lang="en-US" sz="1250" b="1" dirty="0">
                <a:latin typeface="Calibri" pitchFamily="34" charset="0"/>
                <a:ea typeface="Calibri" pitchFamily="34" charset="-122"/>
                <a:cs typeface="Calibri" pitchFamily="34" charset="-120"/>
              </a:rPr>
              <a:t>Concatenate + project:  </a:t>
            </a:r>
            <a:r>
              <a:rPr lang="en-US" sz="1250" b="1" dirty="0">
                <a:latin typeface="Courier New" pitchFamily="34" charset="0"/>
                <a:ea typeface="Courier New" pitchFamily="34" charset="-122"/>
                <a:cs typeface="Courier New" pitchFamily="34" charset="-120"/>
              </a:rPr>
              <a:t>MultiHead(Q,K,V) = Concat(head₁,...,head₈)·Wᴼ
</a:t>
            </a:r>
            <a:r>
              <a:rPr lang="en-US" sz="1250" dirty="0">
                <a:latin typeface="Calibri" pitchFamily="34" charset="0"/>
                <a:ea typeface="Calibri" pitchFamily="34" charset="-122"/>
                <a:cs typeface="Calibri" pitchFamily="34" charset="-120"/>
              </a:rPr>
              <a:t>The 8 outputs are stacked side by side and passed through one more learned linear layer Wᴼ.</a:t>
            </a:r>
            <a:endParaRPr lang="en-US" sz="1250" dirty="0"/>
          </a:p>
        </p:txBody>
      </p:sp>
      <p:sp>
        <p:nvSpPr>
          <p:cNvPr id="7" name="Text 5"/>
          <p:cNvSpPr/>
          <p:nvPr/>
        </p:nvSpPr>
        <p:spPr>
          <a:xfrm>
            <a:off x="8140446" y="1098724"/>
            <a:ext cx="1933956" cy="228600"/>
          </a:xfrm>
          <a:prstGeom prst="rect">
            <a:avLst/>
          </a:prstGeom>
          <a:noFill/>
          <a:ln/>
        </p:spPr>
        <p:txBody>
          <a:bodyPr wrap="square" lIns="0" tIns="0" rIns="0" bIns="0" rtlCol="0" anchor="ctr"/>
          <a:lstStyle/>
          <a:p>
            <a:pPr marL="0" indent="0">
              <a:buNone/>
            </a:pPr>
            <a:r>
              <a:rPr lang="en-US" sz="1200" b="1" dirty="0">
                <a:solidFill>
                  <a:srgbClr val="5A6570"/>
                </a:solidFill>
                <a:latin typeface="Calibri" pitchFamily="34" charset="0"/>
                <a:ea typeface="Calibri" pitchFamily="34" charset="-122"/>
                <a:cs typeface="Calibri" pitchFamily="34" charset="-120"/>
              </a:rPr>
              <a:t>8 heads, running in parallel</a:t>
            </a:r>
            <a:endParaRPr lang="en-US" sz="1200" dirty="0"/>
          </a:p>
        </p:txBody>
      </p:sp>
      <p:sp>
        <p:nvSpPr>
          <p:cNvPr id="8" name="Shape 6"/>
          <p:cNvSpPr/>
          <p:nvPr/>
        </p:nvSpPr>
        <p:spPr>
          <a:xfrm>
            <a:off x="6492240" y="1417320"/>
            <a:ext cx="5120640" cy="502920"/>
          </a:xfrm>
          <a:prstGeom prst="roundRect">
            <a:avLst>
              <a:gd name="adj" fmla="val 10909"/>
            </a:avLst>
          </a:prstGeom>
          <a:solidFill>
            <a:srgbClr val="1C2833"/>
          </a:solidFill>
          <a:ln w="12700">
            <a:solidFill>
              <a:srgbClr val="1C2833"/>
            </a:solidFill>
            <a:prstDash val="solid"/>
          </a:ln>
        </p:spPr>
      </p:sp>
      <p:sp>
        <p:nvSpPr>
          <p:cNvPr id="9" name="Text 7"/>
          <p:cNvSpPr/>
          <p:nvPr/>
        </p:nvSpPr>
        <p:spPr>
          <a:xfrm>
            <a:off x="6492240" y="1417320"/>
            <a:ext cx="512064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Q, K, V  (dmodel = 512)</a:t>
            </a:r>
            <a:endParaRPr lang="en-US" sz="1250" dirty="0"/>
          </a:p>
        </p:txBody>
      </p:sp>
      <p:sp>
        <p:nvSpPr>
          <p:cNvPr id="10" name="Shape 8"/>
          <p:cNvSpPr/>
          <p:nvPr/>
        </p:nvSpPr>
        <p:spPr>
          <a:xfrm>
            <a:off x="8997696" y="1920240"/>
            <a:ext cx="109728" cy="228600"/>
          </a:xfrm>
          <a:prstGeom prst="downArrow">
            <a:avLst/>
          </a:prstGeom>
          <a:solidFill>
            <a:srgbClr val="5D7A9C"/>
          </a:solidFill>
          <a:ln/>
        </p:spPr>
      </p:sp>
      <p:sp>
        <p:nvSpPr>
          <p:cNvPr id="11" name="Shape 9"/>
          <p:cNvSpPr/>
          <p:nvPr/>
        </p:nvSpPr>
        <p:spPr>
          <a:xfrm>
            <a:off x="6492240" y="2240280"/>
            <a:ext cx="576072" cy="685800"/>
          </a:xfrm>
          <a:prstGeom prst="roundRect">
            <a:avLst>
              <a:gd name="adj" fmla="val 9524"/>
            </a:avLst>
          </a:prstGeom>
          <a:solidFill>
            <a:srgbClr val="FDF2E3"/>
          </a:solidFill>
          <a:ln w="12700">
            <a:solidFill>
              <a:srgbClr val="D68910"/>
            </a:solidFill>
            <a:prstDash val="solid"/>
          </a:ln>
        </p:spPr>
      </p:sp>
      <p:sp>
        <p:nvSpPr>
          <p:cNvPr id="12" name="Text 10"/>
          <p:cNvSpPr/>
          <p:nvPr/>
        </p:nvSpPr>
        <p:spPr>
          <a:xfrm>
            <a:off x="6492240"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h1</a:t>
            </a:r>
            <a:endParaRPr lang="en-US" sz="1050" dirty="0"/>
          </a:p>
        </p:txBody>
      </p:sp>
      <p:sp>
        <p:nvSpPr>
          <p:cNvPr id="13" name="Shape 11"/>
          <p:cNvSpPr/>
          <p:nvPr/>
        </p:nvSpPr>
        <p:spPr>
          <a:xfrm>
            <a:off x="7136892" y="2240280"/>
            <a:ext cx="576072" cy="685800"/>
          </a:xfrm>
          <a:prstGeom prst="roundRect">
            <a:avLst>
              <a:gd name="adj" fmla="val 9524"/>
            </a:avLst>
          </a:prstGeom>
          <a:solidFill>
            <a:srgbClr val="FDF2E3"/>
          </a:solidFill>
          <a:ln w="12700">
            <a:solidFill>
              <a:srgbClr val="D68910"/>
            </a:solidFill>
            <a:prstDash val="solid"/>
          </a:ln>
        </p:spPr>
      </p:sp>
      <p:sp>
        <p:nvSpPr>
          <p:cNvPr id="14" name="Text 12"/>
          <p:cNvSpPr/>
          <p:nvPr/>
        </p:nvSpPr>
        <p:spPr>
          <a:xfrm>
            <a:off x="7136892"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h2</a:t>
            </a:r>
            <a:endParaRPr lang="en-US" sz="1050" dirty="0"/>
          </a:p>
        </p:txBody>
      </p:sp>
      <p:sp>
        <p:nvSpPr>
          <p:cNvPr id="15" name="Shape 13"/>
          <p:cNvSpPr/>
          <p:nvPr/>
        </p:nvSpPr>
        <p:spPr>
          <a:xfrm>
            <a:off x="7781544" y="2240280"/>
            <a:ext cx="576072" cy="685800"/>
          </a:xfrm>
          <a:prstGeom prst="roundRect">
            <a:avLst>
              <a:gd name="adj" fmla="val 9524"/>
            </a:avLst>
          </a:prstGeom>
          <a:solidFill>
            <a:srgbClr val="FDF2E3"/>
          </a:solidFill>
          <a:ln w="12700">
            <a:solidFill>
              <a:srgbClr val="D68910"/>
            </a:solidFill>
            <a:prstDash val="solid"/>
          </a:ln>
        </p:spPr>
      </p:sp>
      <p:sp>
        <p:nvSpPr>
          <p:cNvPr id="16" name="Text 14"/>
          <p:cNvSpPr/>
          <p:nvPr/>
        </p:nvSpPr>
        <p:spPr>
          <a:xfrm>
            <a:off x="7781544"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h3</a:t>
            </a:r>
            <a:endParaRPr lang="en-US" sz="1050" dirty="0"/>
          </a:p>
        </p:txBody>
      </p:sp>
      <p:sp>
        <p:nvSpPr>
          <p:cNvPr id="17" name="Shape 15"/>
          <p:cNvSpPr/>
          <p:nvPr/>
        </p:nvSpPr>
        <p:spPr>
          <a:xfrm>
            <a:off x="8426196" y="2240280"/>
            <a:ext cx="576072" cy="685800"/>
          </a:xfrm>
          <a:prstGeom prst="roundRect">
            <a:avLst>
              <a:gd name="adj" fmla="val 9524"/>
            </a:avLst>
          </a:prstGeom>
          <a:solidFill>
            <a:srgbClr val="FDF2E3"/>
          </a:solidFill>
          <a:ln w="12700">
            <a:solidFill>
              <a:srgbClr val="D68910"/>
            </a:solidFill>
            <a:prstDash val="solid"/>
          </a:ln>
        </p:spPr>
      </p:sp>
      <p:sp>
        <p:nvSpPr>
          <p:cNvPr id="18" name="Text 16"/>
          <p:cNvSpPr/>
          <p:nvPr/>
        </p:nvSpPr>
        <p:spPr>
          <a:xfrm>
            <a:off x="8426196"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h4</a:t>
            </a:r>
            <a:endParaRPr lang="en-US" sz="1050" dirty="0"/>
          </a:p>
        </p:txBody>
      </p:sp>
      <p:sp>
        <p:nvSpPr>
          <p:cNvPr id="19" name="Shape 17"/>
          <p:cNvSpPr/>
          <p:nvPr/>
        </p:nvSpPr>
        <p:spPr>
          <a:xfrm>
            <a:off x="9070848" y="2240280"/>
            <a:ext cx="576072" cy="685800"/>
          </a:xfrm>
          <a:prstGeom prst="roundRect">
            <a:avLst>
              <a:gd name="adj" fmla="val 9524"/>
            </a:avLst>
          </a:prstGeom>
          <a:solidFill>
            <a:srgbClr val="FDF2E3"/>
          </a:solidFill>
          <a:ln w="12700">
            <a:solidFill>
              <a:srgbClr val="D68910"/>
            </a:solidFill>
            <a:prstDash val="solid"/>
          </a:ln>
        </p:spPr>
      </p:sp>
      <p:sp>
        <p:nvSpPr>
          <p:cNvPr id="20" name="Text 18"/>
          <p:cNvSpPr/>
          <p:nvPr/>
        </p:nvSpPr>
        <p:spPr>
          <a:xfrm>
            <a:off x="9070848"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h5</a:t>
            </a:r>
            <a:endParaRPr lang="en-US" sz="1050" dirty="0"/>
          </a:p>
        </p:txBody>
      </p:sp>
      <p:sp>
        <p:nvSpPr>
          <p:cNvPr id="21" name="Shape 19"/>
          <p:cNvSpPr/>
          <p:nvPr/>
        </p:nvSpPr>
        <p:spPr>
          <a:xfrm>
            <a:off x="9715500" y="2240280"/>
            <a:ext cx="576072" cy="685800"/>
          </a:xfrm>
          <a:prstGeom prst="roundRect">
            <a:avLst>
              <a:gd name="adj" fmla="val 9524"/>
            </a:avLst>
          </a:prstGeom>
          <a:solidFill>
            <a:srgbClr val="FDF2E3"/>
          </a:solidFill>
          <a:ln w="12700">
            <a:solidFill>
              <a:srgbClr val="D68910"/>
            </a:solidFill>
            <a:prstDash val="solid"/>
          </a:ln>
        </p:spPr>
      </p:sp>
      <p:sp>
        <p:nvSpPr>
          <p:cNvPr id="22" name="Text 20"/>
          <p:cNvSpPr/>
          <p:nvPr/>
        </p:nvSpPr>
        <p:spPr>
          <a:xfrm>
            <a:off x="9715500"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h6</a:t>
            </a:r>
            <a:endParaRPr lang="en-US" sz="1050" dirty="0"/>
          </a:p>
        </p:txBody>
      </p:sp>
      <p:sp>
        <p:nvSpPr>
          <p:cNvPr id="23" name="Shape 21"/>
          <p:cNvSpPr/>
          <p:nvPr/>
        </p:nvSpPr>
        <p:spPr>
          <a:xfrm>
            <a:off x="10360152" y="2240280"/>
            <a:ext cx="576072" cy="685800"/>
          </a:xfrm>
          <a:prstGeom prst="roundRect">
            <a:avLst>
              <a:gd name="adj" fmla="val 9524"/>
            </a:avLst>
          </a:prstGeom>
          <a:solidFill>
            <a:srgbClr val="FDF2E3"/>
          </a:solidFill>
          <a:ln w="12700">
            <a:solidFill>
              <a:srgbClr val="D68910"/>
            </a:solidFill>
            <a:prstDash val="solid"/>
          </a:ln>
        </p:spPr>
      </p:sp>
      <p:sp>
        <p:nvSpPr>
          <p:cNvPr id="24" name="Text 22"/>
          <p:cNvSpPr/>
          <p:nvPr/>
        </p:nvSpPr>
        <p:spPr>
          <a:xfrm>
            <a:off x="10360152"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h7</a:t>
            </a:r>
            <a:endParaRPr lang="en-US" sz="1050" dirty="0"/>
          </a:p>
        </p:txBody>
      </p:sp>
      <p:sp>
        <p:nvSpPr>
          <p:cNvPr id="25" name="Shape 23"/>
          <p:cNvSpPr/>
          <p:nvPr/>
        </p:nvSpPr>
        <p:spPr>
          <a:xfrm>
            <a:off x="11004804" y="2240280"/>
            <a:ext cx="576072" cy="685800"/>
          </a:xfrm>
          <a:prstGeom prst="roundRect">
            <a:avLst>
              <a:gd name="adj" fmla="val 9524"/>
            </a:avLst>
          </a:prstGeom>
          <a:solidFill>
            <a:srgbClr val="FDF2E3"/>
          </a:solidFill>
          <a:ln w="12700">
            <a:solidFill>
              <a:srgbClr val="D68910"/>
            </a:solidFill>
            <a:prstDash val="solid"/>
          </a:ln>
        </p:spPr>
      </p:sp>
      <p:sp>
        <p:nvSpPr>
          <p:cNvPr id="26" name="Text 24"/>
          <p:cNvSpPr/>
          <p:nvPr/>
        </p:nvSpPr>
        <p:spPr>
          <a:xfrm>
            <a:off x="11004804" y="2240280"/>
            <a:ext cx="576072" cy="685800"/>
          </a:xfrm>
          <a:prstGeom prst="rect">
            <a:avLst/>
          </a:prstGeom>
          <a:noFill/>
          <a:ln/>
        </p:spPr>
        <p:txBody>
          <a:bodyPr wrap="square" lIns="0" tIns="0" rIns="0" bIns="0" rtlCol="0" anchor="ctr"/>
          <a:lstStyle/>
          <a:p>
            <a:pPr marL="0" indent="0" algn="ctr">
              <a:buNone/>
            </a:pPr>
            <a:r>
              <a:rPr lang="en-US" sz="1050" b="1" dirty="0">
                <a:solidFill>
                  <a:srgbClr val="D68910"/>
                </a:solidFill>
                <a:latin typeface="Calibri" pitchFamily="34" charset="0"/>
                <a:ea typeface="Calibri" pitchFamily="34" charset="-122"/>
                <a:cs typeface="Calibri" pitchFamily="34" charset="-120"/>
              </a:rPr>
              <a:t>h8</a:t>
            </a:r>
            <a:endParaRPr lang="en-US" sz="1050" dirty="0"/>
          </a:p>
        </p:txBody>
      </p:sp>
      <p:sp>
        <p:nvSpPr>
          <p:cNvPr id="27" name="Text 25"/>
          <p:cNvSpPr/>
          <p:nvPr/>
        </p:nvSpPr>
        <p:spPr>
          <a:xfrm>
            <a:off x="6492240" y="2971800"/>
            <a:ext cx="5120640" cy="274320"/>
          </a:xfrm>
          <a:prstGeom prst="rect">
            <a:avLst/>
          </a:prstGeom>
          <a:noFill/>
          <a:ln/>
        </p:spPr>
        <p:txBody>
          <a:bodyPr wrap="square" lIns="0" tIns="0" rIns="0" bIns="0" rtlCol="0" anchor="ctr"/>
          <a:lstStyle/>
          <a:p>
            <a:pPr marL="0" indent="0" algn="ctr">
              <a:buNone/>
            </a:pPr>
            <a:r>
              <a:rPr lang="en-US" sz="1000" i="1" dirty="0">
                <a:solidFill>
                  <a:srgbClr val="5A6570"/>
                </a:solidFill>
                <a:latin typeface="Calibri" pitchFamily="34" charset="0"/>
                <a:ea typeface="Calibri" pitchFamily="34" charset="-122"/>
                <a:cs typeface="Calibri" pitchFamily="34" charset="-120"/>
              </a:rPr>
              <a:t>each head: dk = dv = 64</a:t>
            </a:r>
            <a:endParaRPr lang="en-US" sz="1000" dirty="0"/>
          </a:p>
        </p:txBody>
      </p:sp>
      <p:sp>
        <p:nvSpPr>
          <p:cNvPr id="28" name="Shape 26"/>
          <p:cNvSpPr/>
          <p:nvPr/>
        </p:nvSpPr>
        <p:spPr>
          <a:xfrm>
            <a:off x="8997696" y="3291840"/>
            <a:ext cx="109728" cy="228600"/>
          </a:xfrm>
          <a:prstGeom prst="downArrow">
            <a:avLst/>
          </a:prstGeom>
          <a:solidFill>
            <a:srgbClr val="5D7A9C"/>
          </a:solidFill>
          <a:ln/>
        </p:spPr>
      </p:sp>
      <p:sp>
        <p:nvSpPr>
          <p:cNvPr id="29" name="Shape 27"/>
          <p:cNvSpPr/>
          <p:nvPr/>
        </p:nvSpPr>
        <p:spPr>
          <a:xfrm>
            <a:off x="6492240" y="3566160"/>
            <a:ext cx="5120640" cy="457200"/>
          </a:xfrm>
          <a:prstGeom prst="roundRect">
            <a:avLst>
              <a:gd name="adj" fmla="val 12000"/>
            </a:avLst>
          </a:prstGeom>
          <a:solidFill>
            <a:srgbClr val="5D7A9C"/>
          </a:solidFill>
          <a:ln w="12700">
            <a:solidFill>
              <a:srgbClr val="5D7A9C"/>
            </a:solidFill>
            <a:prstDash val="solid"/>
          </a:ln>
        </p:spPr>
      </p:sp>
      <p:sp>
        <p:nvSpPr>
          <p:cNvPr id="30" name="Text 28"/>
          <p:cNvSpPr/>
          <p:nvPr/>
        </p:nvSpPr>
        <p:spPr>
          <a:xfrm>
            <a:off x="6492240" y="3566160"/>
            <a:ext cx="5120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Concat</a:t>
            </a:r>
            <a:endParaRPr lang="en-US" sz="1200" dirty="0"/>
          </a:p>
        </p:txBody>
      </p:sp>
      <p:sp>
        <p:nvSpPr>
          <p:cNvPr id="31" name="Shape 29"/>
          <p:cNvSpPr/>
          <p:nvPr/>
        </p:nvSpPr>
        <p:spPr>
          <a:xfrm>
            <a:off x="8997696" y="4023360"/>
            <a:ext cx="109728" cy="228600"/>
          </a:xfrm>
          <a:prstGeom prst="downArrow">
            <a:avLst/>
          </a:prstGeom>
          <a:solidFill>
            <a:srgbClr val="5D7A9C"/>
          </a:solidFill>
          <a:ln/>
        </p:spPr>
      </p:sp>
      <p:sp>
        <p:nvSpPr>
          <p:cNvPr id="32" name="Shape 30"/>
          <p:cNvSpPr/>
          <p:nvPr/>
        </p:nvSpPr>
        <p:spPr>
          <a:xfrm>
            <a:off x="6492240" y="4297680"/>
            <a:ext cx="5120640" cy="457200"/>
          </a:xfrm>
          <a:prstGeom prst="roundRect">
            <a:avLst>
              <a:gd name="adj" fmla="val 12000"/>
            </a:avLst>
          </a:prstGeom>
          <a:solidFill>
            <a:srgbClr val="1C2833"/>
          </a:solidFill>
          <a:ln w="12700">
            <a:solidFill>
              <a:srgbClr val="1C2833"/>
            </a:solidFill>
            <a:prstDash val="solid"/>
          </a:ln>
        </p:spPr>
      </p:sp>
      <p:sp>
        <p:nvSpPr>
          <p:cNvPr id="33" name="Text 31"/>
          <p:cNvSpPr/>
          <p:nvPr/>
        </p:nvSpPr>
        <p:spPr>
          <a:xfrm>
            <a:off x="6492240" y="4297680"/>
            <a:ext cx="5120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Linear projection  Wᴼ  →  output (512-dim)</a:t>
            </a:r>
            <a:endParaRPr lang="en-US" sz="1200" dirty="0"/>
          </a:p>
        </p:txBody>
      </p:sp>
      <p:pic>
        <p:nvPicPr>
          <p:cNvPr id="35" name="Picture 34" descr="Create a Three-headed Dragon Meme | Meme Generator">
            <a:extLst>
              <a:ext uri="{FF2B5EF4-FFF2-40B4-BE49-F238E27FC236}">
                <a16:creationId xmlns:a16="http://schemas.microsoft.com/office/drawing/2014/main" id="{01845870-60F3-501C-BD3D-3B7365709D4A}"/>
              </a:ext>
            </a:extLst>
          </p:cNvPr>
          <p:cNvPicPr>
            <a:picLocks noChangeAspect="1"/>
          </p:cNvPicPr>
          <p:nvPr/>
        </p:nvPicPr>
        <p:blipFill>
          <a:blip r:embed="rId3"/>
          <a:stretch>
            <a:fillRect/>
          </a:stretch>
        </p:blipFill>
        <p:spPr>
          <a:xfrm>
            <a:off x="548640" y="4788038"/>
            <a:ext cx="2221693" cy="1777354"/>
          </a:xfrm>
          <a:prstGeom prst="rect">
            <a:avLst/>
          </a:prstGeom>
        </p:spPr>
      </p:pic>
      <p:sp>
        <p:nvSpPr>
          <p:cNvPr id="38" name="TextBox 37">
            <a:extLst>
              <a:ext uri="{FF2B5EF4-FFF2-40B4-BE49-F238E27FC236}">
                <a16:creationId xmlns:a16="http://schemas.microsoft.com/office/drawing/2014/main" id="{43DE158E-638C-7049-0AF6-3D7A5C92C2B2}"/>
              </a:ext>
            </a:extLst>
          </p:cNvPr>
          <p:cNvSpPr txBox="1"/>
          <p:nvPr/>
        </p:nvSpPr>
        <p:spPr>
          <a:xfrm>
            <a:off x="548640" y="5931038"/>
            <a:ext cx="945682" cy="323165"/>
          </a:xfrm>
          <a:prstGeom prst="rect">
            <a:avLst/>
          </a:prstGeom>
          <a:noFill/>
        </p:spPr>
        <p:txBody>
          <a:bodyPr wrap="square">
            <a:spAutoFit/>
          </a:bodyPr>
          <a:lstStyle/>
          <a:p>
            <a:r>
              <a:rPr lang="en-IN" sz="1500" dirty="0">
                <a:solidFill>
                  <a:schemeClr val="bg1"/>
                </a:solidFill>
              </a:rPr>
              <a:t>Subject</a:t>
            </a:r>
          </a:p>
        </p:txBody>
      </p:sp>
      <p:sp>
        <p:nvSpPr>
          <p:cNvPr id="39" name="TextBox 38">
            <a:extLst>
              <a:ext uri="{FF2B5EF4-FFF2-40B4-BE49-F238E27FC236}">
                <a16:creationId xmlns:a16="http://schemas.microsoft.com/office/drawing/2014/main" id="{90C0FA22-148B-00AB-C914-95CC061489E8}"/>
              </a:ext>
            </a:extLst>
          </p:cNvPr>
          <p:cNvSpPr txBox="1"/>
          <p:nvPr/>
        </p:nvSpPr>
        <p:spPr>
          <a:xfrm>
            <a:off x="1289516" y="5769455"/>
            <a:ext cx="945682" cy="323165"/>
          </a:xfrm>
          <a:prstGeom prst="rect">
            <a:avLst/>
          </a:prstGeom>
          <a:noFill/>
        </p:spPr>
        <p:txBody>
          <a:bodyPr wrap="square">
            <a:spAutoFit/>
          </a:bodyPr>
          <a:lstStyle/>
          <a:p>
            <a:r>
              <a:rPr lang="en-IN" sz="1500" dirty="0">
                <a:solidFill>
                  <a:schemeClr val="bg1"/>
                </a:solidFill>
              </a:rPr>
              <a:t>Object</a:t>
            </a:r>
          </a:p>
        </p:txBody>
      </p:sp>
      <p:sp>
        <p:nvSpPr>
          <p:cNvPr id="40" name="TextBox 39">
            <a:extLst>
              <a:ext uri="{FF2B5EF4-FFF2-40B4-BE49-F238E27FC236}">
                <a16:creationId xmlns:a16="http://schemas.microsoft.com/office/drawing/2014/main" id="{D5FE9ABE-E894-C3A4-4162-4FD9D2D7B12D}"/>
              </a:ext>
            </a:extLst>
          </p:cNvPr>
          <p:cNvSpPr txBox="1"/>
          <p:nvPr/>
        </p:nvSpPr>
        <p:spPr>
          <a:xfrm>
            <a:off x="2030391" y="5945260"/>
            <a:ext cx="665346" cy="323165"/>
          </a:xfrm>
          <a:prstGeom prst="rect">
            <a:avLst/>
          </a:prstGeom>
          <a:noFill/>
        </p:spPr>
        <p:txBody>
          <a:bodyPr wrap="square">
            <a:spAutoFit/>
          </a:bodyPr>
          <a:lstStyle/>
          <a:p>
            <a:r>
              <a:rPr lang="en-IN" sz="1500" dirty="0">
                <a:solidFill>
                  <a:schemeClr val="bg1"/>
                </a:solidFill>
              </a:rPr>
              <a:t>“THE”</a:t>
            </a:r>
          </a:p>
        </p:txBody>
      </p:sp>
      <p:sp>
        <p:nvSpPr>
          <p:cNvPr id="42" name="TextBox 41">
            <a:extLst>
              <a:ext uri="{FF2B5EF4-FFF2-40B4-BE49-F238E27FC236}">
                <a16:creationId xmlns:a16="http://schemas.microsoft.com/office/drawing/2014/main" id="{A609DCE1-45B2-4DCA-5559-412BC44839A5}"/>
              </a:ext>
            </a:extLst>
          </p:cNvPr>
          <p:cNvSpPr txBox="1"/>
          <p:nvPr/>
        </p:nvSpPr>
        <p:spPr>
          <a:xfrm>
            <a:off x="2770333" y="6192892"/>
            <a:ext cx="6097604" cy="369332"/>
          </a:xfrm>
          <a:prstGeom prst="rect">
            <a:avLst/>
          </a:prstGeom>
          <a:noFill/>
        </p:spPr>
        <p:txBody>
          <a:bodyPr wrap="square">
            <a:spAutoFit/>
          </a:bodyPr>
          <a:lstStyle/>
          <a:p>
            <a:r>
              <a:rPr lang="en-IN" dirty="0"/>
              <a:t>Not every head becomes a genius... but together, they 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MECHANISM</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a:solidFill>
                  <a:srgbClr val="1C2833"/>
                </a:solidFill>
                <a:latin typeface="Cambria" pitchFamily="34" charset="0"/>
                <a:ea typeface="Cambria" pitchFamily="34" charset="-122"/>
                <a:cs typeface="Cambria" pitchFamily="34" charset="-120"/>
              </a:rPr>
              <a:t>Positional Encoding: teaching order without recurrence</a:t>
            </a:r>
            <a:endParaRPr lang="en-US" sz="3200" dirty="0"/>
          </a:p>
        </p:txBody>
      </p:sp>
      <p:sp>
        <p:nvSpPr>
          <p:cNvPr id="4" name="Text 2"/>
          <p:cNvSpPr/>
          <p:nvPr/>
        </p:nvSpPr>
        <p:spPr>
          <a:xfrm>
            <a:off x="548640" y="1417320"/>
            <a:ext cx="4846320" cy="1692986"/>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Self-attention treats input as a set — shuffle the words and the output is identical.</a:t>
            </a:r>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It has no built-in notion of Sequence order.</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Without positional information:</a:t>
            </a:r>
          </a:p>
          <a:p>
            <a:pPr>
              <a:lnSpc>
                <a:spcPct val="108000"/>
              </a:lnSpc>
              <a:spcAft>
                <a:spcPts val="1000"/>
              </a:spcAft>
              <a:buSzPct val="100000"/>
            </a:pPr>
            <a:r>
              <a:rPr lang="en-US" sz="1500" dirty="0">
                <a:solidFill>
                  <a:srgbClr val="1C2833"/>
                </a:solidFill>
                <a:latin typeface="Calibri" pitchFamily="34" charset="0"/>
                <a:ea typeface="Calibri" pitchFamily="34" charset="-122"/>
                <a:cs typeface="Calibri" pitchFamily="34" charset="-120"/>
              </a:rPr>
              <a:t>	“dog bites man” ≠ “man bites dogs</a:t>
            </a:r>
            <a:endParaRPr lang="en-US" sz="1500" dirty="0"/>
          </a:p>
        </p:txBody>
      </p:sp>
      <p:sp>
        <p:nvSpPr>
          <p:cNvPr id="8" name="Text 6"/>
          <p:cNvSpPr/>
          <p:nvPr/>
        </p:nvSpPr>
        <p:spPr>
          <a:xfrm>
            <a:off x="6537960" y="1234440"/>
            <a:ext cx="5074920" cy="274320"/>
          </a:xfrm>
          <a:prstGeom prst="rect">
            <a:avLst/>
          </a:prstGeom>
          <a:noFill/>
          <a:ln/>
        </p:spPr>
        <p:txBody>
          <a:bodyPr wrap="square" lIns="0" tIns="0" rIns="0" bIns="0" rtlCol="0" anchor="ctr"/>
          <a:lstStyle/>
          <a:p>
            <a:r>
              <a:rPr lang="en-IN" dirty="0"/>
              <a:t>How does it work?</a:t>
            </a:r>
            <a:endParaRPr lang="en-US" dirty="0"/>
          </a:p>
        </p:txBody>
      </p:sp>
      <p:sp>
        <p:nvSpPr>
          <p:cNvPr id="190" name="Text 188"/>
          <p:cNvSpPr/>
          <p:nvPr/>
        </p:nvSpPr>
        <p:spPr>
          <a:xfrm>
            <a:off x="6550321" y="3196790"/>
            <a:ext cx="1097280" cy="274320"/>
          </a:xfrm>
          <a:prstGeom prst="rect">
            <a:avLst/>
          </a:prstGeom>
          <a:noFill/>
          <a:ln/>
        </p:spPr>
        <p:txBody>
          <a:bodyPr wrap="square" lIns="0" tIns="0" rIns="0" bIns="0" rtlCol="0" anchor="ctr"/>
          <a:lstStyle/>
          <a:p>
            <a:r>
              <a:rPr lang="en-IN" sz="1000" dirty="0"/>
              <a:t>-&gt; Paper's Approach</a:t>
            </a:r>
            <a:endParaRPr lang="en-US" sz="1000" dirty="0"/>
          </a:p>
        </p:txBody>
      </p:sp>
      <p:sp>
        <p:nvSpPr>
          <p:cNvPr id="191" name="Shape 189"/>
          <p:cNvSpPr/>
          <p:nvPr/>
        </p:nvSpPr>
        <p:spPr>
          <a:xfrm>
            <a:off x="6535822" y="3461485"/>
            <a:ext cx="5074920" cy="960120"/>
          </a:xfrm>
          <a:prstGeom prst="roundRect">
            <a:avLst>
              <a:gd name="adj" fmla="val 5714"/>
            </a:avLst>
          </a:prstGeom>
          <a:solidFill>
            <a:srgbClr val="FAFAFA"/>
          </a:solidFill>
          <a:ln w="12700">
            <a:solidFill>
              <a:srgbClr val="D5D8DC"/>
            </a:solidFill>
            <a:prstDash val="solid"/>
          </a:ln>
        </p:spPr>
      </p:sp>
      <p:sp>
        <p:nvSpPr>
          <p:cNvPr id="192" name="Text 190"/>
          <p:cNvSpPr/>
          <p:nvPr/>
        </p:nvSpPr>
        <p:spPr>
          <a:xfrm>
            <a:off x="6718702" y="3580357"/>
            <a:ext cx="4709160" cy="731520"/>
          </a:xfrm>
          <a:prstGeom prst="rect">
            <a:avLst/>
          </a:prstGeom>
          <a:noFill/>
          <a:ln/>
        </p:spPr>
        <p:txBody>
          <a:bodyPr wrap="square" lIns="0" tIns="0" rIns="0" bIns="0" rtlCol="0" anchor="ctr"/>
          <a:lstStyle/>
          <a:p>
            <a:pPr>
              <a:lnSpc>
                <a:spcPct val="120000"/>
              </a:lnSpc>
            </a:pPr>
            <a:r>
              <a:rPr lang="en-IN" sz="1200" dirty="0"/>
              <a:t>The paper uses </a:t>
            </a:r>
            <a:r>
              <a:rPr lang="en-IN" sz="1200" b="1" dirty="0"/>
              <a:t>fixed sine and cosine functions of different frequencies</a:t>
            </a:r>
            <a:r>
              <a:rPr lang="en-IN" sz="1200" dirty="0"/>
              <a:t> to generate positional encodings, allowing the model to capture both absolute and relative positions without learning extra parameters.</a:t>
            </a:r>
            <a:endParaRPr lang="en-US" sz="1150" dirty="0"/>
          </a:p>
        </p:txBody>
      </p:sp>
      <p:pic>
        <p:nvPicPr>
          <p:cNvPr id="204" name="Picture 203">
            <a:extLst>
              <a:ext uri="{FF2B5EF4-FFF2-40B4-BE49-F238E27FC236}">
                <a16:creationId xmlns:a16="http://schemas.microsoft.com/office/drawing/2014/main" id="{9FFF4A34-A3E0-CBB3-0CA9-0C0CD040CBFA}"/>
              </a:ext>
            </a:extLst>
          </p:cNvPr>
          <p:cNvPicPr>
            <a:picLocks noChangeAspect="1"/>
          </p:cNvPicPr>
          <p:nvPr/>
        </p:nvPicPr>
        <p:blipFill>
          <a:blip r:embed="rId3"/>
          <a:stretch>
            <a:fillRect/>
          </a:stretch>
        </p:blipFill>
        <p:spPr>
          <a:xfrm>
            <a:off x="530744" y="3063309"/>
            <a:ext cx="3502271" cy="2692372"/>
          </a:xfrm>
          <a:prstGeom prst="rect">
            <a:avLst/>
          </a:prstGeom>
        </p:spPr>
      </p:pic>
      <p:sp>
        <p:nvSpPr>
          <p:cNvPr id="206" name="TextBox 205">
            <a:extLst>
              <a:ext uri="{FF2B5EF4-FFF2-40B4-BE49-F238E27FC236}">
                <a16:creationId xmlns:a16="http://schemas.microsoft.com/office/drawing/2014/main" id="{578E2868-75C4-BF7E-741C-97033BAF9D88}"/>
              </a:ext>
            </a:extLst>
          </p:cNvPr>
          <p:cNvSpPr txBox="1"/>
          <p:nvPr/>
        </p:nvSpPr>
        <p:spPr>
          <a:xfrm>
            <a:off x="548640" y="5194629"/>
            <a:ext cx="1529153" cy="646331"/>
          </a:xfrm>
          <a:prstGeom prst="rect">
            <a:avLst/>
          </a:prstGeom>
          <a:noFill/>
        </p:spPr>
        <p:txBody>
          <a:bodyPr wrap="square">
            <a:spAutoFit/>
          </a:bodyPr>
          <a:lstStyle/>
          <a:p>
            <a:r>
              <a:rPr lang="en-IN" dirty="0"/>
              <a:t>Dog bites man.</a:t>
            </a:r>
          </a:p>
        </p:txBody>
      </p:sp>
      <p:sp>
        <p:nvSpPr>
          <p:cNvPr id="208" name="TextBox 207">
            <a:extLst>
              <a:ext uri="{FF2B5EF4-FFF2-40B4-BE49-F238E27FC236}">
                <a16:creationId xmlns:a16="http://schemas.microsoft.com/office/drawing/2014/main" id="{D772C48D-207F-BE5A-9B16-D9DBFA7ECE05}"/>
              </a:ext>
            </a:extLst>
          </p:cNvPr>
          <p:cNvSpPr txBox="1"/>
          <p:nvPr/>
        </p:nvSpPr>
        <p:spPr>
          <a:xfrm>
            <a:off x="2758780" y="5207669"/>
            <a:ext cx="1816173" cy="369332"/>
          </a:xfrm>
          <a:prstGeom prst="rect">
            <a:avLst/>
          </a:prstGeom>
          <a:noFill/>
        </p:spPr>
        <p:txBody>
          <a:bodyPr wrap="square">
            <a:spAutoFit/>
          </a:bodyPr>
          <a:lstStyle/>
          <a:p>
            <a:r>
              <a:rPr lang="en-IN" dirty="0"/>
              <a:t>Man bites dog.</a:t>
            </a:r>
          </a:p>
        </p:txBody>
      </p:sp>
      <p:sp>
        <p:nvSpPr>
          <p:cNvPr id="210" name="TextBox 209">
            <a:extLst>
              <a:ext uri="{FF2B5EF4-FFF2-40B4-BE49-F238E27FC236}">
                <a16:creationId xmlns:a16="http://schemas.microsoft.com/office/drawing/2014/main" id="{C4394CAD-35F3-FD30-D8E2-59E167D8B9C7}"/>
              </a:ext>
            </a:extLst>
          </p:cNvPr>
          <p:cNvSpPr txBox="1"/>
          <p:nvPr/>
        </p:nvSpPr>
        <p:spPr>
          <a:xfrm>
            <a:off x="748080" y="5840040"/>
            <a:ext cx="3826873" cy="646331"/>
          </a:xfrm>
          <a:prstGeom prst="rect">
            <a:avLst/>
          </a:prstGeom>
          <a:noFill/>
        </p:spPr>
        <p:txBody>
          <a:bodyPr wrap="square">
            <a:spAutoFit/>
          </a:bodyPr>
          <a:lstStyle/>
          <a:p>
            <a:r>
              <a:rPr lang="en-IN" dirty="0">
                <a:latin typeface="+mj-lt"/>
              </a:rPr>
              <a:t>Same words. Different order. Completely different meaning.</a:t>
            </a:r>
          </a:p>
        </p:txBody>
      </p:sp>
      <p:sp>
        <p:nvSpPr>
          <p:cNvPr id="214" name="Text 2">
            <a:extLst>
              <a:ext uri="{FF2B5EF4-FFF2-40B4-BE49-F238E27FC236}">
                <a16:creationId xmlns:a16="http://schemas.microsoft.com/office/drawing/2014/main" id="{4D157841-24C9-654D-08A4-0B43443416B8}"/>
              </a:ext>
            </a:extLst>
          </p:cNvPr>
          <p:cNvSpPr/>
          <p:nvPr/>
        </p:nvSpPr>
        <p:spPr>
          <a:xfrm>
            <a:off x="6583680" y="1525604"/>
            <a:ext cx="4846320" cy="1692986"/>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IN" sz="1600" dirty="0"/>
              <a:t>A unique </a:t>
            </a:r>
            <a:r>
              <a:rPr lang="en-IN" sz="1600" b="1" dirty="0"/>
              <a:t>position vector</a:t>
            </a:r>
            <a:r>
              <a:rPr lang="en-IN" sz="1600" dirty="0"/>
              <a:t> is generated for every token.</a:t>
            </a:r>
          </a:p>
          <a:p>
            <a:pPr marL="177800" indent="-177800">
              <a:lnSpc>
                <a:spcPct val="108000"/>
              </a:lnSpc>
              <a:spcAft>
                <a:spcPts val="1000"/>
              </a:spcAft>
              <a:buSzPct val="100000"/>
              <a:buChar char="•"/>
            </a:pPr>
            <a:r>
              <a:rPr lang="en-IN" sz="1600" dirty="0"/>
              <a:t>This position vector is </a:t>
            </a:r>
            <a:r>
              <a:rPr lang="en-IN" sz="1600" b="1" dirty="0"/>
              <a:t>added</a:t>
            </a:r>
            <a:r>
              <a:rPr lang="en-IN" sz="1600" dirty="0"/>
              <a:t> to the token embedding before entering the Transformer.</a:t>
            </a:r>
          </a:p>
          <a:p>
            <a:pPr>
              <a:lnSpc>
                <a:spcPct val="108000"/>
              </a:lnSpc>
              <a:spcAft>
                <a:spcPts val="1000"/>
              </a:spcAft>
              <a:buSzPct val="100000"/>
            </a:pPr>
            <a:r>
              <a:rPr lang="en-IN" sz="1600" dirty="0"/>
              <a:t>The model now knows </a:t>
            </a:r>
            <a:r>
              <a:rPr lang="en-IN" sz="1600" b="1" dirty="0"/>
              <a:t>both what the word is and where it appears</a:t>
            </a:r>
            <a:r>
              <a:rPr lang="en-IN" sz="1600" dirty="0"/>
              <a:t>.</a:t>
            </a:r>
            <a:r>
              <a:rPr lang="en-US" sz="1500" dirty="0">
                <a:solidFill>
                  <a:srgbClr val="1C2833"/>
                </a:solidFill>
                <a:latin typeface="Calibri" pitchFamily="34" charset="0"/>
                <a:ea typeface="Calibri" pitchFamily="34" charset="-122"/>
                <a:cs typeface="Calibri" pitchFamily="34" charset="-120"/>
              </a:rPr>
              <a:t>	</a:t>
            </a:r>
            <a:endParaRPr lang="en-US" sz="1500" dirty="0"/>
          </a:p>
        </p:txBody>
      </p:sp>
      <p:graphicFrame>
        <p:nvGraphicFramePr>
          <p:cNvPr id="215" name="Table 214">
            <a:extLst>
              <a:ext uri="{FF2B5EF4-FFF2-40B4-BE49-F238E27FC236}">
                <a16:creationId xmlns:a16="http://schemas.microsoft.com/office/drawing/2014/main" id="{DC6DEA41-DD76-E014-E42F-DA9E5F64EDC9}"/>
              </a:ext>
            </a:extLst>
          </p:cNvPr>
          <p:cNvGraphicFramePr>
            <a:graphicFrameLocks noGrp="1"/>
          </p:cNvGraphicFramePr>
          <p:nvPr>
            <p:extLst>
              <p:ext uri="{D42A27DB-BD31-4B8C-83A1-F6EECF244321}">
                <p14:modId xmlns:p14="http://schemas.microsoft.com/office/powerpoint/2010/main" val="1416108198"/>
              </p:ext>
            </p:extLst>
          </p:nvPr>
        </p:nvGraphicFramePr>
        <p:xfrm>
          <a:off x="5255940" y="4639947"/>
          <a:ext cx="6710936" cy="1483360"/>
        </p:xfrm>
        <a:graphic>
          <a:graphicData uri="http://schemas.openxmlformats.org/drawingml/2006/table">
            <a:tbl>
              <a:tblPr firstRow="1" bandRow="1">
                <a:tableStyleId>{073A0DAA-6AF3-43AB-8588-CEC1D06C72B9}</a:tableStyleId>
              </a:tblPr>
              <a:tblGrid>
                <a:gridCol w="1677734">
                  <a:extLst>
                    <a:ext uri="{9D8B030D-6E8A-4147-A177-3AD203B41FA5}">
                      <a16:colId xmlns:a16="http://schemas.microsoft.com/office/drawing/2014/main" val="2820170897"/>
                    </a:ext>
                  </a:extLst>
                </a:gridCol>
                <a:gridCol w="1677734">
                  <a:extLst>
                    <a:ext uri="{9D8B030D-6E8A-4147-A177-3AD203B41FA5}">
                      <a16:colId xmlns:a16="http://schemas.microsoft.com/office/drawing/2014/main" val="1331697849"/>
                    </a:ext>
                  </a:extLst>
                </a:gridCol>
                <a:gridCol w="1677734">
                  <a:extLst>
                    <a:ext uri="{9D8B030D-6E8A-4147-A177-3AD203B41FA5}">
                      <a16:colId xmlns:a16="http://schemas.microsoft.com/office/drawing/2014/main" val="2898708330"/>
                    </a:ext>
                  </a:extLst>
                </a:gridCol>
                <a:gridCol w="1677734">
                  <a:extLst>
                    <a:ext uri="{9D8B030D-6E8A-4147-A177-3AD203B41FA5}">
                      <a16:colId xmlns:a16="http://schemas.microsoft.com/office/drawing/2014/main" val="4176972308"/>
                    </a:ext>
                  </a:extLst>
                </a:gridCol>
              </a:tblGrid>
              <a:tr h="370840">
                <a:tc>
                  <a:txBody>
                    <a:bodyPr/>
                    <a:lstStyle/>
                    <a:p>
                      <a:r>
                        <a:rPr lang="en-IN" dirty="0"/>
                        <a:t>Token</a:t>
                      </a:r>
                    </a:p>
                  </a:txBody>
                  <a:tcPr/>
                </a:tc>
                <a:tc>
                  <a:txBody>
                    <a:bodyPr/>
                    <a:lstStyle/>
                    <a:p>
                      <a:r>
                        <a:rPr lang="en-IN" dirty="0"/>
                        <a:t>Embedding</a:t>
                      </a:r>
                    </a:p>
                  </a:txBody>
                  <a:tcPr/>
                </a:tc>
                <a:tc>
                  <a:txBody>
                    <a:bodyPr/>
                    <a:lstStyle/>
                    <a:p>
                      <a:r>
                        <a:rPr lang="en-IN" dirty="0"/>
                        <a:t>Position</a:t>
                      </a:r>
                    </a:p>
                  </a:txBody>
                  <a:tcPr/>
                </a:tc>
                <a:tc>
                  <a:txBody>
                    <a:bodyPr/>
                    <a:lstStyle/>
                    <a:p>
                      <a:r>
                        <a:rPr lang="en-IN" dirty="0"/>
                        <a:t>Final input</a:t>
                      </a:r>
                    </a:p>
                  </a:txBody>
                  <a:tcPr/>
                </a:tc>
                <a:extLst>
                  <a:ext uri="{0D108BD9-81ED-4DB2-BD59-A6C34878D82A}">
                    <a16:rowId xmlns:a16="http://schemas.microsoft.com/office/drawing/2014/main" val="2130236305"/>
                  </a:ext>
                </a:extLst>
              </a:tr>
              <a:tr h="370840">
                <a:tc>
                  <a:txBody>
                    <a:bodyPr/>
                    <a:lstStyle/>
                    <a:p>
                      <a:r>
                        <a:rPr lang="en-IN" dirty="0"/>
                        <a:t>Dog</a:t>
                      </a:r>
                    </a:p>
                  </a:txBody>
                  <a:tcPr>
                    <a:solidFill>
                      <a:srgbClr val="CBCBCB"/>
                    </a:solidFill>
                  </a:tcPr>
                </a:tc>
                <a:tc>
                  <a:txBody>
                    <a:bodyPr/>
                    <a:lstStyle/>
                    <a:p>
                      <a:r>
                        <a:rPr lang="en-IN" dirty="0"/>
                        <a:t>Word Vector</a:t>
                      </a:r>
                    </a:p>
                  </a:txBody>
                  <a:tcPr/>
                </a:tc>
                <a:tc>
                  <a:txBody>
                    <a:bodyPr/>
                    <a:lstStyle/>
                    <a:p>
                      <a:r>
                        <a:rPr lang="en-IN" dirty="0"/>
                        <a:t>Position 1</a:t>
                      </a:r>
                    </a:p>
                  </a:txBody>
                  <a:tcPr/>
                </a:tc>
                <a:tc>
                  <a:txBody>
                    <a:bodyPr/>
                    <a:lstStyle/>
                    <a:p>
                      <a:r>
                        <a:rPr lang="en-IN" dirty="0"/>
                        <a:t>Word + Position</a:t>
                      </a:r>
                    </a:p>
                  </a:txBody>
                  <a:tcPr/>
                </a:tc>
                <a:extLst>
                  <a:ext uri="{0D108BD9-81ED-4DB2-BD59-A6C34878D82A}">
                    <a16:rowId xmlns:a16="http://schemas.microsoft.com/office/drawing/2014/main" val="2340252704"/>
                  </a:ext>
                </a:extLst>
              </a:tr>
              <a:tr h="370840">
                <a:tc>
                  <a:txBody>
                    <a:bodyPr/>
                    <a:lstStyle/>
                    <a:p>
                      <a:r>
                        <a:rPr lang="en-IN" dirty="0"/>
                        <a:t>Bites</a:t>
                      </a:r>
                    </a:p>
                  </a:txBody>
                  <a:tcPr/>
                </a:tc>
                <a:tc>
                  <a:txBody>
                    <a:bodyPr/>
                    <a:lstStyle/>
                    <a:p>
                      <a:r>
                        <a:rPr lang="en-IN" dirty="0"/>
                        <a:t>Word Vector</a:t>
                      </a:r>
                    </a:p>
                  </a:txBody>
                  <a:tcPr/>
                </a:tc>
                <a:tc>
                  <a:txBody>
                    <a:bodyPr/>
                    <a:lstStyle/>
                    <a:p>
                      <a:r>
                        <a:rPr lang="en-IN" dirty="0"/>
                        <a:t>Position 2</a:t>
                      </a:r>
                    </a:p>
                  </a:txBody>
                  <a:tcPr/>
                </a:tc>
                <a:tc>
                  <a:txBody>
                    <a:bodyPr/>
                    <a:lstStyle/>
                    <a:p>
                      <a:r>
                        <a:rPr lang="en-IN" dirty="0"/>
                        <a:t>Word + Position</a:t>
                      </a:r>
                    </a:p>
                  </a:txBody>
                  <a:tcPr/>
                </a:tc>
                <a:extLst>
                  <a:ext uri="{0D108BD9-81ED-4DB2-BD59-A6C34878D82A}">
                    <a16:rowId xmlns:a16="http://schemas.microsoft.com/office/drawing/2014/main" val="3902275937"/>
                  </a:ext>
                </a:extLst>
              </a:tr>
              <a:tr h="370840">
                <a:tc>
                  <a:txBody>
                    <a:bodyPr/>
                    <a:lstStyle/>
                    <a:p>
                      <a:r>
                        <a:rPr lang="en-IN" dirty="0"/>
                        <a:t>Man</a:t>
                      </a:r>
                    </a:p>
                  </a:txBody>
                  <a:tcPr/>
                </a:tc>
                <a:tc>
                  <a:txBody>
                    <a:bodyPr/>
                    <a:lstStyle/>
                    <a:p>
                      <a:r>
                        <a:rPr lang="en-IN" dirty="0"/>
                        <a:t>Work Vector</a:t>
                      </a:r>
                    </a:p>
                  </a:txBody>
                  <a:tcPr/>
                </a:tc>
                <a:tc>
                  <a:txBody>
                    <a:bodyPr/>
                    <a:lstStyle/>
                    <a:p>
                      <a:r>
                        <a:rPr lang="en-IN" dirty="0"/>
                        <a:t>Position 3</a:t>
                      </a:r>
                    </a:p>
                  </a:txBody>
                  <a:tcPr/>
                </a:tc>
                <a:tc>
                  <a:txBody>
                    <a:bodyPr/>
                    <a:lstStyle/>
                    <a:p>
                      <a:r>
                        <a:rPr lang="en-IN" dirty="0"/>
                        <a:t>Word + Position</a:t>
                      </a:r>
                    </a:p>
                  </a:txBody>
                  <a:tcPr/>
                </a:tc>
                <a:extLst>
                  <a:ext uri="{0D108BD9-81ED-4DB2-BD59-A6C34878D82A}">
                    <a16:rowId xmlns:a16="http://schemas.microsoft.com/office/drawing/2014/main" val="356101003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Why Transformers wins over RNNs</a:t>
            </a:r>
            <a:endParaRPr lang="en-US" sz="3200" dirty="0"/>
          </a:p>
        </p:txBody>
      </p:sp>
      <p:sp>
        <p:nvSpPr>
          <p:cNvPr id="32" name="Text 30"/>
          <p:cNvSpPr/>
          <p:nvPr/>
        </p:nvSpPr>
        <p:spPr>
          <a:xfrm>
            <a:off x="548640" y="5632704"/>
            <a:ext cx="10424160" cy="658368"/>
          </a:xfrm>
          <a:prstGeom prst="rect">
            <a:avLst/>
          </a:prstGeom>
          <a:noFill/>
          <a:ln/>
        </p:spPr>
        <p:txBody>
          <a:bodyPr wrap="square" lIns="0" tIns="0" rIns="0" bIns="0" rtlCol="0" anchor="ctr"/>
          <a:lstStyle/>
          <a:p>
            <a:pPr marL="0" indent="0">
              <a:lnSpc>
                <a:spcPct val="120000"/>
              </a:lnSpc>
              <a:buNone/>
            </a:pPr>
            <a:r>
              <a:rPr lang="en-US" sz="1400" i="1" dirty="0">
                <a:latin typeface="Calibri" pitchFamily="34" charset="0"/>
                <a:ea typeface="Calibri" pitchFamily="34" charset="-122"/>
                <a:cs typeface="Calibri" pitchFamily="34" charset="-120"/>
              </a:rPr>
              <a:t>n = sequence length, d = representation dimension. When n &lt; d (typical for sentence-length inputs), self-attention is actually cheaper per layer too.</a:t>
            </a:r>
            <a:endParaRPr lang="en-US" sz="1400" dirty="0"/>
          </a:p>
        </p:txBody>
      </p:sp>
      <p:pic>
        <p:nvPicPr>
          <p:cNvPr id="34" name="Picture 33" descr="World Press Photo Exhibition 2017 #photography #worldpressphoto2017 ...">
            <a:extLst>
              <a:ext uri="{FF2B5EF4-FFF2-40B4-BE49-F238E27FC236}">
                <a16:creationId xmlns:a16="http://schemas.microsoft.com/office/drawing/2014/main" id="{3A5CF345-2C06-122E-B43A-8241DEB75D48}"/>
              </a:ext>
            </a:extLst>
          </p:cNvPr>
          <p:cNvPicPr>
            <a:picLocks noChangeAspect="1"/>
          </p:cNvPicPr>
          <p:nvPr/>
        </p:nvPicPr>
        <p:blipFill>
          <a:blip r:embed="rId3"/>
          <a:stretch>
            <a:fillRect/>
          </a:stretch>
        </p:blipFill>
        <p:spPr>
          <a:xfrm>
            <a:off x="9480884" y="1708000"/>
            <a:ext cx="2345051" cy="2164483"/>
          </a:xfrm>
          <a:prstGeom prst="rect">
            <a:avLst/>
          </a:prstGeom>
        </p:spPr>
      </p:pic>
      <p:sp>
        <p:nvSpPr>
          <p:cNvPr id="37" name="TextBox 36">
            <a:extLst>
              <a:ext uri="{FF2B5EF4-FFF2-40B4-BE49-F238E27FC236}">
                <a16:creationId xmlns:a16="http://schemas.microsoft.com/office/drawing/2014/main" id="{31E722E3-E6CE-A4D0-1212-5085C228A5DC}"/>
              </a:ext>
            </a:extLst>
          </p:cNvPr>
          <p:cNvSpPr txBox="1"/>
          <p:nvPr/>
        </p:nvSpPr>
        <p:spPr>
          <a:xfrm>
            <a:off x="9732534" y="2622561"/>
            <a:ext cx="2216217" cy="369332"/>
          </a:xfrm>
          <a:prstGeom prst="rect">
            <a:avLst/>
          </a:prstGeom>
          <a:noFill/>
        </p:spPr>
        <p:txBody>
          <a:bodyPr wrap="square">
            <a:spAutoFit/>
          </a:bodyPr>
          <a:lstStyle/>
          <a:p>
            <a:r>
              <a:rPr lang="en-IN" dirty="0">
                <a:solidFill>
                  <a:schemeClr val="bg1"/>
                </a:solidFill>
              </a:rPr>
              <a:t>Transformer</a:t>
            </a:r>
            <a:r>
              <a:rPr lang="en-IN" dirty="0"/>
              <a:t>.</a:t>
            </a:r>
          </a:p>
        </p:txBody>
      </p:sp>
      <p:sp>
        <p:nvSpPr>
          <p:cNvPr id="39" name="TextBox 38">
            <a:extLst>
              <a:ext uri="{FF2B5EF4-FFF2-40B4-BE49-F238E27FC236}">
                <a16:creationId xmlns:a16="http://schemas.microsoft.com/office/drawing/2014/main" id="{3F73E971-E772-750E-665E-E8E84EAB7015}"/>
              </a:ext>
            </a:extLst>
          </p:cNvPr>
          <p:cNvSpPr txBox="1"/>
          <p:nvPr/>
        </p:nvSpPr>
        <p:spPr>
          <a:xfrm>
            <a:off x="11125744" y="2896862"/>
            <a:ext cx="1436571" cy="369332"/>
          </a:xfrm>
          <a:prstGeom prst="rect">
            <a:avLst/>
          </a:prstGeom>
          <a:noFill/>
        </p:spPr>
        <p:txBody>
          <a:bodyPr wrap="square">
            <a:spAutoFit/>
          </a:bodyPr>
          <a:lstStyle/>
          <a:p>
            <a:r>
              <a:rPr lang="en-IN" dirty="0">
                <a:solidFill>
                  <a:schemeClr val="bg1"/>
                </a:solidFill>
              </a:rPr>
              <a:t>RNN</a:t>
            </a:r>
          </a:p>
        </p:txBody>
      </p:sp>
      <p:graphicFrame>
        <p:nvGraphicFramePr>
          <p:cNvPr id="40" name="Table 39">
            <a:extLst>
              <a:ext uri="{FF2B5EF4-FFF2-40B4-BE49-F238E27FC236}">
                <a16:creationId xmlns:a16="http://schemas.microsoft.com/office/drawing/2014/main" id="{EB799FB2-0435-1A24-C243-84FDECC3A294}"/>
              </a:ext>
            </a:extLst>
          </p:cNvPr>
          <p:cNvGraphicFramePr>
            <a:graphicFrameLocks noGrp="1"/>
          </p:cNvGraphicFramePr>
          <p:nvPr>
            <p:extLst>
              <p:ext uri="{D42A27DB-BD31-4B8C-83A1-F6EECF244321}">
                <p14:modId xmlns:p14="http://schemas.microsoft.com/office/powerpoint/2010/main" val="3336687776"/>
              </p:ext>
            </p:extLst>
          </p:nvPr>
        </p:nvGraphicFramePr>
        <p:xfrm>
          <a:off x="599440" y="1298448"/>
          <a:ext cx="8592687" cy="3956946"/>
        </p:xfrm>
        <a:graphic>
          <a:graphicData uri="http://schemas.openxmlformats.org/drawingml/2006/table">
            <a:tbl>
              <a:tblPr firstRow="1" bandRow="1">
                <a:tableStyleId>{5C22544A-7EE6-4342-B048-85BDC9FD1C3A}</a:tableStyleId>
              </a:tblPr>
              <a:tblGrid>
                <a:gridCol w="2864229">
                  <a:extLst>
                    <a:ext uri="{9D8B030D-6E8A-4147-A177-3AD203B41FA5}">
                      <a16:colId xmlns:a16="http://schemas.microsoft.com/office/drawing/2014/main" val="1882392828"/>
                    </a:ext>
                  </a:extLst>
                </a:gridCol>
                <a:gridCol w="2864229">
                  <a:extLst>
                    <a:ext uri="{9D8B030D-6E8A-4147-A177-3AD203B41FA5}">
                      <a16:colId xmlns:a16="http://schemas.microsoft.com/office/drawing/2014/main" val="1973580395"/>
                    </a:ext>
                  </a:extLst>
                </a:gridCol>
                <a:gridCol w="2864229">
                  <a:extLst>
                    <a:ext uri="{9D8B030D-6E8A-4147-A177-3AD203B41FA5}">
                      <a16:colId xmlns:a16="http://schemas.microsoft.com/office/drawing/2014/main" val="2162427709"/>
                    </a:ext>
                  </a:extLst>
                </a:gridCol>
              </a:tblGrid>
              <a:tr h="689592">
                <a:tc>
                  <a:txBody>
                    <a:bodyPr/>
                    <a:lstStyle/>
                    <a:p>
                      <a:r>
                        <a:rPr lang="en-IN" dirty="0"/>
                        <a:t>Dimension</a:t>
                      </a:r>
                    </a:p>
                  </a:txBody>
                  <a:tcPr>
                    <a:solidFill>
                      <a:schemeClr val="tx1"/>
                    </a:solidFill>
                  </a:tcPr>
                </a:tc>
                <a:tc>
                  <a:txBody>
                    <a:bodyPr/>
                    <a:lstStyle/>
                    <a:p>
                      <a:r>
                        <a:rPr lang="en-IN" dirty="0"/>
                        <a:t>Recurrent(RNN/LSTM)</a:t>
                      </a:r>
                    </a:p>
                  </a:txBody>
                  <a:tcPr>
                    <a:solidFill>
                      <a:schemeClr val="tx1"/>
                    </a:solidFill>
                  </a:tcPr>
                </a:tc>
                <a:tc>
                  <a:txBody>
                    <a:bodyPr/>
                    <a:lstStyle/>
                    <a:p>
                      <a:r>
                        <a:rPr lang="en-IN" dirty="0"/>
                        <a:t>Transformer(Self-Attention)</a:t>
                      </a:r>
                    </a:p>
                  </a:txBody>
                  <a:tcPr>
                    <a:solidFill>
                      <a:schemeClr val="tx1"/>
                    </a:solidFill>
                  </a:tcPr>
                </a:tc>
                <a:extLst>
                  <a:ext uri="{0D108BD9-81ED-4DB2-BD59-A6C34878D82A}">
                    <a16:rowId xmlns:a16="http://schemas.microsoft.com/office/drawing/2014/main" val="1276769400"/>
                  </a:ext>
                </a:extLst>
              </a:tr>
              <a:tr h="3995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1C2833"/>
                          </a:solidFill>
                          <a:latin typeface="Calibri" pitchFamily="34" charset="0"/>
                          <a:ea typeface="Calibri" pitchFamily="34" charset="-122"/>
                          <a:cs typeface="Calibri" pitchFamily="34" charset="-120"/>
                        </a:rPr>
                        <a:t>Per-layer complexity</a:t>
                      </a:r>
                      <a:endParaRPr lang="en-US" sz="1800" dirty="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O(n · d²)</a:t>
                      </a:r>
                      <a:endParaRPr lang="en-US" sz="1800" dirty="0">
                        <a:solidFill>
                          <a:schemeClr val="tx1"/>
                        </a:solidFill>
                      </a:endParaRPr>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O(n² · d)</a:t>
                      </a:r>
                      <a:endParaRPr lang="en-US" sz="1800" dirty="0">
                        <a:solidFill>
                          <a:schemeClr val="tx1"/>
                        </a:solidFill>
                      </a:endParaRPr>
                    </a:p>
                  </a:txBody>
                  <a:tcPr>
                    <a:solidFill>
                      <a:srgbClr val="CBCBCB"/>
                    </a:solidFill>
                  </a:tcPr>
                </a:tc>
                <a:extLst>
                  <a:ext uri="{0D108BD9-81ED-4DB2-BD59-A6C34878D82A}">
                    <a16:rowId xmlns:a16="http://schemas.microsoft.com/office/drawing/2014/main" val="3402757836"/>
                  </a:ext>
                </a:extLst>
              </a:tr>
              <a:tr h="3995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1C2833"/>
                          </a:solidFill>
                          <a:latin typeface="Calibri" pitchFamily="34" charset="0"/>
                          <a:ea typeface="Calibri" pitchFamily="34" charset="-122"/>
                          <a:cs typeface="Calibri" pitchFamily="34" charset="-120"/>
                        </a:rPr>
                        <a:t>Sequential operations</a:t>
                      </a:r>
                      <a:endParaRPr lang="en-US" sz="1800" dirty="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O(n) — one step at a time</a:t>
                      </a:r>
                      <a:endParaRPr lang="en-US" sz="1800" dirty="0">
                        <a:solidFill>
                          <a:schemeClr val="tx1"/>
                        </a:solidFill>
                      </a:endParaRPr>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O(1) — fully parallel</a:t>
                      </a:r>
                      <a:endParaRPr lang="en-US" sz="1800" dirty="0">
                        <a:solidFill>
                          <a:schemeClr val="tx1"/>
                        </a:solidFill>
                      </a:endParaRPr>
                    </a:p>
                  </a:txBody>
                  <a:tcPr>
                    <a:solidFill>
                      <a:srgbClr val="E7E7E7"/>
                    </a:solidFill>
                  </a:tcPr>
                </a:tc>
                <a:extLst>
                  <a:ext uri="{0D108BD9-81ED-4DB2-BD59-A6C34878D82A}">
                    <a16:rowId xmlns:a16="http://schemas.microsoft.com/office/drawing/2014/main" val="3580656993"/>
                  </a:ext>
                </a:extLst>
              </a:tr>
              <a:tr h="3995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1C2833"/>
                          </a:solidFill>
                          <a:latin typeface="Calibri" pitchFamily="34" charset="0"/>
                          <a:ea typeface="Calibri" pitchFamily="34" charset="-122"/>
                          <a:cs typeface="Calibri" pitchFamily="34" charset="-120"/>
                        </a:rPr>
                        <a:t>Max path length</a:t>
                      </a:r>
                      <a:endParaRPr lang="en-US" sz="1800" dirty="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O(n)</a:t>
                      </a:r>
                      <a:endParaRPr lang="en-US" sz="1800" dirty="0">
                        <a:solidFill>
                          <a:schemeClr val="tx1"/>
                        </a:solidFill>
                      </a:endParaRPr>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O(1)</a:t>
                      </a:r>
                      <a:endParaRPr lang="en-US" sz="1800" dirty="0">
                        <a:solidFill>
                          <a:schemeClr val="tx1"/>
                        </a:solidFill>
                      </a:endParaRPr>
                    </a:p>
                  </a:txBody>
                  <a:tcPr>
                    <a:solidFill>
                      <a:srgbClr val="CBCBCB"/>
                    </a:solidFill>
                  </a:tcPr>
                </a:tc>
                <a:extLst>
                  <a:ext uri="{0D108BD9-81ED-4DB2-BD59-A6C34878D82A}">
                    <a16:rowId xmlns:a16="http://schemas.microsoft.com/office/drawing/2014/main" val="190718084"/>
                  </a:ext>
                </a:extLst>
              </a:tr>
              <a:tr h="6895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1C2833"/>
                          </a:solidFill>
                          <a:latin typeface="Calibri" pitchFamily="34" charset="0"/>
                          <a:ea typeface="Calibri" pitchFamily="34" charset="-122"/>
                          <a:cs typeface="Calibri" pitchFamily="34" charset="-120"/>
                        </a:rPr>
                        <a:t>Training speed</a:t>
                      </a:r>
                      <a:endParaRPr lang="en-US" sz="1800" dirty="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Slow — can't parallelize over time</a:t>
                      </a:r>
                      <a:endParaRPr lang="en-US" sz="1800" dirty="0">
                        <a:solidFill>
                          <a:schemeClr val="tx1"/>
                        </a:solidFill>
                      </a:endParaRPr>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Fast — whole sequence at once on GPU/TPU</a:t>
                      </a:r>
                      <a:endParaRPr lang="en-US" sz="1800" dirty="0">
                        <a:solidFill>
                          <a:schemeClr val="tx1"/>
                        </a:solidFill>
                      </a:endParaRPr>
                    </a:p>
                  </a:txBody>
                  <a:tcPr>
                    <a:solidFill>
                      <a:srgbClr val="E7E7E7"/>
                    </a:solidFill>
                  </a:tcPr>
                </a:tc>
                <a:extLst>
                  <a:ext uri="{0D108BD9-81ED-4DB2-BD59-A6C34878D82A}">
                    <a16:rowId xmlns:a16="http://schemas.microsoft.com/office/drawing/2014/main" val="1060630492"/>
                  </a:ext>
                </a:extLst>
              </a:tr>
              <a:tr h="6895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1C2833"/>
                          </a:solidFill>
                          <a:latin typeface="Calibri" pitchFamily="34" charset="0"/>
                          <a:ea typeface="Calibri" pitchFamily="34" charset="-122"/>
                          <a:cs typeface="Calibri" pitchFamily="34" charset="-120"/>
                        </a:rPr>
                        <a:t>Long-range dependencies</a:t>
                      </a:r>
                      <a:endParaRPr lang="en-US" sz="1800" dirty="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Degrade with distance</a:t>
                      </a:r>
                      <a:endParaRPr lang="en-US" sz="1800" dirty="0">
                        <a:solidFill>
                          <a:schemeClr val="tx1"/>
                        </a:solidFill>
                      </a:endParaRPr>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Equally easy at any distance</a:t>
                      </a:r>
                      <a:endParaRPr lang="en-US" sz="1800" dirty="0">
                        <a:solidFill>
                          <a:schemeClr val="tx1"/>
                        </a:solidFill>
                      </a:endParaRPr>
                    </a:p>
                  </a:txBody>
                  <a:tcPr>
                    <a:solidFill>
                      <a:srgbClr val="CBCBCB"/>
                    </a:solidFill>
                  </a:tcPr>
                </a:tc>
                <a:extLst>
                  <a:ext uri="{0D108BD9-81ED-4DB2-BD59-A6C34878D82A}">
                    <a16:rowId xmlns:a16="http://schemas.microsoft.com/office/drawing/2014/main" val="788868684"/>
                  </a:ext>
                </a:extLst>
              </a:tr>
              <a:tr h="689592">
                <a:tc>
                  <a:txBody>
                    <a:bodyPr/>
                    <a:lstStyle/>
                    <a:p>
                      <a:r>
                        <a:rPr lang="en-US" sz="1800" b="1" dirty="0">
                          <a:solidFill>
                            <a:srgbClr val="1C2833"/>
                          </a:solidFill>
                          <a:latin typeface="Calibri" pitchFamily="34" charset="0"/>
                          <a:ea typeface="Calibri" pitchFamily="34" charset="-122"/>
                          <a:cs typeface="Calibri" pitchFamily="34" charset="-120"/>
                        </a:rPr>
                        <a:t>Interpretability</a:t>
                      </a:r>
                      <a:endParaRPr lang="en-IN" dirty="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Hidden state is opaque</a:t>
                      </a:r>
                      <a:endParaRPr lang="en-US" sz="1800" dirty="0">
                        <a:solidFill>
                          <a:schemeClr val="tx1"/>
                        </a:solidFill>
                      </a:endParaRPr>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Attention weights are directly inspectable</a:t>
                      </a:r>
                      <a:endParaRPr lang="en-US" sz="1800" dirty="0">
                        <a:solidFill>
                          <a:schemeClr val="tx1"/>
                        </a:solidFill>
                      </a:endParaRPr>
                    </a:p>
                  </a:txBody>
                  <a:tcPr>
                    <a:solidFill>
                      <a:srgbClr val="E7E7E7"/>
                    </a:solidFill>
                  </a:tcPr>
                </a:tc>
                <a:extLst>
                  <a:ext uri="{0D108BD9-81ED-4DB2-BD59-A6C34878D82A}">
                    <a16:rowId xmlns:a16="http://schemas.microsoft.com/office/drawing/2014/main" val="15138845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87434B-26D6-2D29-2B49-0F7109495B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99E047-D754-B26A-F40F-88DAB243B42B}"/>
              </a:ext>
            </a:extLst>
          </p:cNvPr>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RESULTS</a:t>
            </a:r>
            <a:endParaRPr lang="en-US" sz="1200" dirty="0"/>
          </a:p>
        </p:txBody>
      </p:sp>
      <p:sp>
        <p:nvSpPr>
          <p:cNvPr id="3" name="Text 1">
            <a:extLst>
              <a:ext uri="{FF2B5EF4-FFF2-40B4-BE49-F238E27FC236}">
                <a16:creationId xmlns:a16="http://schemas.microsoft.com/office/drawing/2014/main" id="{E163AF41-3DD3-FCE9-C40C-F28238E43348}"/>
              </a:ext>
            </a:extLst>
          </p:cNvPr>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Results : Better quality , Far less compute</a:t>
            </a:r>
            <a:endParaRPr lang="en-US" sz="3200" dirty="0"/>
          </a:p>
        </p:txBody>
      </p:sp>
      <p:sp>
        <p:nvSpPr>
          <p:cNvPr id="33" name="Text 31">
            <a:extLst>
              <a:ext uri="{FF2B5EF4-FFF2-40B4-BE49-F238E27FC236}">
                <a16:creationId xmlns:a16="http://schemas.microsoft.com/office/drawing/2014/main" id="{615FBFDC-A279-FCB2-C78E-6B40E620934B}"/>
              </a:ext>
            </a:extLst>
          </p:cNvPr>
          <p:cNvSpPr/>
          <p:nvPr/>
        </p:nvSpPr>
        <p:spPr>
          <a:xfrm>
            <a:off x="548640" y="6537960"/>
            <a:ext cx="8229600" cy="274320"/>
          </a:xfrm>
          <a:prstGeom prst="rect">
            <a:avLst/>
          </a:prstGeom>
          <a:noFill/>
          <a:ln/>
        </p:spPr>
        <p:txBody>
          <a:bodyPr wrap="square" lIns="0" tIns="0" rIns="0" bIns="0" rtlCol="0" anchor="ctr"/>
          <a:lstStyle/>
          <a:p>
            <a:pPr marL="0" indent="0">
              <a:buNone/>
            </a:pPr>
            <a:r>
              <a:rPr lang="en-US" sz="900" i="1" dirty="0">
                <a:solidFill>
                  <a:srgbClr val="909497"/>
                </a:solidFill>
                <a:latin typeface="Calibri" pitchFamily="34" charset="0"/>
                <a:ea typeface="Calibri" pitchFamily="34" charset="-122"/>
                <a:cs typeface="Calibri" pitchFamily="34" charset="-120"/>
              </a:rPr>
              <a:t>Vaswani et al., 2017 — Table 1, Section 4</a:t>
            </a:r>
            <a:endParaRPr lang="en-US" sz="900" dirty="0"/>
          </a:p>
        </p:txBody>
      </p:sp>
      <p:sp>
        <p:nvSpPr>
          <p:cNvPr id="37" name="TextBox 36">
            <a:extLst>
              <a:ext uri="{FF2B5EF4-FFF2-40B4-BE49-F238E27FC236}">
                <a16:creationId xmlns:a16="http://schemas.microsoft.com/office/drawing/2014/main" id="{77B9FB35-A412-30D1-22D5-B73A0623C2A9}"/>
              </a:ext>
            </a:extLst>
          </p:cNvPr>
          <p:cNvSpPr txBox="1"/>
          <p:nvPr/>
        </p:nvSpPr>
        <p:spPr>
          <a:xfrm>
            <a:off x="548640" y="1298448"/>
            <a:ext cx="2052587" cy="369332"/>
          </a:xfrm>
          <a:prstGeom prst="rect">
            <a:avLst/>
          </a:prstGeom>
          <a:noFill/>
        </p:spPr>
        <p:txBody>
          <a:bodyPr wrap="square">
            <a:spAutoFit/>
          </a:bodyPr>
          <a:lstStyle/>
          <a:p>
            <a:r>
              <a:rPr lang="en-IN" dirty="0"/>
              <a:t>Key Achievements</a:t>
            </a:r>
          </a:p>
        </p:txBody>
      </p:sp>
      <p:sp>
        <p:nvSpPr>
          <p:cNvPr id="39" name="TextBox 38">
            <a:extLst>
              <a:ext uri="{FF2B5EF4-FFF2-40B4-BE49-F238E27FC236}">
                <a16:creationId xmlns:a16="http://schemas.microsoft.com/office/drawing/2014/main" id="{AE5D9866-9A19-A14D-BB87-B0B3DD8AC670}"/>
              </a:ext>
            </a:extLst>
          </p:cNvPr>
          <p:cNvSpPr txBox="1"/>
          <p:nvPr/>
        </p:nvSpPr>
        <p:spPr>
          <a:xfrm>
            <a:off x="548640" y="1821784"/>
            <a:ext cx="5370897" cy="2308324"/>
          </a:xfrm>
          <a:prstGeom prst="rect">
            <a:avLst/>
          </a:prstGeom>
          <a:noFill/>
        </p:spPr>
        <p:txBody>
          <a:bodyPr wrap="square">
            <a:spAutoFit/>
          </a:bodyPr>
          <a:lstStyle/>
          <a:p>
            <a:pPr marL="285750" indent="-285750">
              <a:buFont typeface="Arial" panose="020B0604020202020204" pitchFamily="34" charset="0"/>
              <a:buChar char="•"/>
            </a:pPr>
            <a:r>
              <a:rPr lang="en-IN" dirty="0"/>
              <a:t>Achieved </a:t>
            </a:r>
            <a:r>
              <a:rPr lang="en-IN" b="1" dirty="0"/>
              <a:t>State-of-the-Art</a:t>
            </a:r>
            <a:r>
              <a:rPr lang="en-IN" dirty="0"/>
              <a:t> machine translation performance.</a:t>
            </a:r>
          </a:p>
          <a:p>
            <a:pPr marL="285750" indent="-285750">
              <a:buFont typeface="Arial" panose="020B0604020202020204" pitchFamily="34" charset="0"/>
              <a:buChar char="•"/>
            </a:pPr>
            <a:r>
              <a:rPr lang="en-IN" dirty="0"/>
              <a:t>Outperformed previous RNN- and CNN-based sequence models.</a:t>
            </a:r>
          </a:p>
          <a:p>
            <a:pPr marL="285750" indent="-285750">
              <a:buFont typeface="Arial" panose="020B0604020202020204" pitchFamily="34" charset="0"/>
              <a:buChar char="•"/>
            </a:pPr>
            <a:r>
              <a:rPr lang="en-IN" dirty="0"/>
              <a:t>Trained significantly faster through parallel computation.</a:t>
            </a:r>
          </a:p>
          <a:p>
            <a:pPr marL="285750" indent="-285750">
              <a:buFont typeface="Arial" panose="020B0604020202020204" pitchFamily="34" charset="0"/>
              <a:buChar char="•"/>
            </a:pPr>
            <a:r>
              <a:rPr lang="en-IN" dirty="0"/>
              <a:t>Required less training cost for the base model while improving translation quality.</a:t>
            </a:r>
          </a:p>
        </p:txBody>
      </p:sp>
      <p:graphicFrame>
        <p:nvGraphicFramePr>
          <p:cNvPr id="41" name="Table 40">
            <a:extLst>
              <a:ext uri="{FF2B5EF4-FFF2-40B4-BE49-F238E27FC236}">
                <a16:creationId xmlns:a16="http://schemas.microsoft.com/office/drawing/2014/main" id="{D064C828-0E79-FF4E-DC7A-F9399160A199}"/>
              </a:ext>
            </a:extLst>
          </p:cNvPr>
          <p:cNvGraphicFramePr>
            <a:graphicFrameLocks noGrp="1"/>
          </p:cNvGraphicFramePr>
          <p:nvPr>
            <p:extLst>
              <p:ext uri="{D42A27DB-BD31-4B8C-83A1-F6EECF244321}">
                <p14:modId xmlns:p14="http://schemas.microsoft.com/office/powerpoint/2010/main" val="1520514592"/>
              </p:ext>
            </p:extLst>
          </p:nvPr>
        </p:nvGraphicFramePr>
        <p:xfrm>
          <a:off x="6179418" y="1483114"/>
          <a:ext cx="5058612" cy="2999781"/>
        </p:xfrm>
        <a:graphic>
          <a:graphicData uri="http://schemas.openxmlformats.org/drawingml/2006/table">
            <a:tbl>
              <a:tblPr firstRow="1" bandRow="1">
                <a:tableStyleId>{073A0DAA-6AF3-43AB-8588-CEC1D06C72B9}</a:tableStyleId>
              </a:tblPr>
              <a:tblGrid>
                <a:gridCol w="2529306">
                  <a:extLst>
                    <a:ext uri="{9D8B030D-6E8A-4147-A177-3AD203B41FA5}">
                      <a16:colId xmlns:a16="http://schemas.microsoft.com/office/drawing/2014/main" val="2054325023"/>
                    </a:ext>
                  </a:extLst>
                </a:gridCol>
                <a:gridCol w="2529306">
                  <a:extLst>
                    <a:ext uri="{9D8B030D-6E8A-4147-A177-3AD203B41FA5}">
                      <a16:colId xmlns:a16="http://schemas.microsoft.com/office/drawing/2014/main" val="301793745"/>
                    </a:ext>
                  </a:extLst>
                </a:gridCol>
              </a:tblGrid>
              <a:tr h="445996">
                <a:tc>
                  <a:txBody>
                    <a:bodyPr/>
                    <a:lstStyle/>
                    <a:p>
                      <a:r>
                        <a:rPr lang="en-IN" dirty="0"/>
                        <a:t>Metric</a:t>
                      </a:r>
                    </a:p>
                  </a:txBody>
                  <a:tcPr/>
                </a:tc>
                <a:tc>
                  <a:txBody>
                    <a:bodyPr/>
                    <a:lstStyle/>
                    <a:p>
                      <a:r>
                        <a:rPr lang="en-IN" dirty="0"/>
                        <a:t>Transformer</a:t>
                      </a:r>
                    </a:p>
                  </a:txBody>
                  <a:tcPr/>
                </a:tc>
                <a:extLst>
                  <a:ext uri="{0D108BD9-81ED-4DB2-BD59-A6C34878D82A}">
                    <a16:rowId xmlns:a16="http://schemas.microsoft.com/office/drawing/2014/main" val="1517951159"/>
                  </a:ext>
                </a:extLst>
              </a:tr>
              <a:tr h="445996">
                <a:tc>
                  <a:txBody>
                    <a:bodyPr/>
                    <a:lstStyle/>
                    <a:p>
                      <a:r>
                        <a:rPr lang="en-IN" dirty="0"/>
                        <a:t>Translation Quality</a:t>
                      </a:r>
                    </a:p>
                  </a:txBody>
                  <a:tcPr/>
                </a:tc>
                <a:tc>
                  <a:txBody>
                    <a:bodyPr/>
                    <a:lstStyle/>
                    <a:p>
                      <a:r>
                        <a:rPr lang="en-IN" dirty="0"/>
                        <a:t>State-of-the-Art (BLEU)</a:t>
                      </a:r>
                    </a:p>
                  </a:txBody>
                  <a:tcPr/>
                </a:tc>
                <a:extLst>
                  <a:ext uri="{0D108BD9-81ED-4DB2-BD59-A6C34878D82A}">
                    <a16:rowId xmlns:a16="http://schemas.microsoft.com/office/drawing/2014/main" val="3331239359"/>
                  </a:ext>
                </a:extLst>
              </a:tr>
              <a:tr h="445996">
                <a:tc>
                  <a:txBody>
                    <a:bodyPr/>
                    <a:lstStyle/>
                    <a:p>
                      <a:r>
                        <a:rPr lang="en-IN" dirty="0"/>
                        <a:t>Training Speed</a:t>
                      </a:r>
                    </a:p>
                  </a:txBody>
                  <a:tcPr/>
                </a:tc>
                <a:tc>
                  <a:txBody>
                    <a:bodyPr/>
                    <a:lstStyle/>
                    <a:p>
                      <a:r>
                        <a:rPr lang="en-IN" dirty="0"/>
                        <a:t>Faster</a:t>
                      </a:r>
                    </a:p>
                  </a:txBody>
                  <a:tcPr/>
                </a:tc>
                <a:extLst>
                  <a:ext uri="{0D108BD9-81ED-4DB2-BD59-A6C34878D82A}">
                    <a16:rowId xmlns:a16="http://schemas.microsoft.com/office/drawing/2014/main" val="3990624823"/>
                  </a:ext>
                </a:extLst>
              </a:tr>
              <a:tr h="445996">
                <a:tc>
                  <a:txBody>
                    <a:bodyPr/>
                    <a:lstStyle/>
                    <a:p>
                      <a:r>
                        <a:rPr lang="en-IN" dirty="0"/>
                        <a:t>Parallelization</a:t>
                      </a:r>
                    </a:p>
                  </a:txBody>
                  <a:tcPr/>
                </a:tc>
                <a:tc>
                  <a:txBody>
                    <a:bodyPr/>
                    <a:lstStyle/>
                    <a:p>
                      <a:r>
                        <a:rPr lang="en-IN" dirty="0"/>
                        <a:t>Fully Parallel</a:t>
                      </a:r>
                    </a:p>
                  </a:txBody>
                  <a:tcPr/>
                </a:tc>
                <a:extLst>
                  <a:ext uri="{0D108BD9-81ED-4DB2-BD59-A6C34878D82A}">
                    <a16:rowId xmlns:a16="http://schemas.microsoft.com/office/drawing/2014/main" val="3499462462"/>
                  </a:ext>
                </a:extLst>
              </a:tr>
              <a:tr h="769801">
                <a:tc>
                  <a:txBody>
                    <a:bodyPr/>
                    <a:lstStyle/>
                    <a:p>
                      <a:r>
                        <a:rPr lang="en-IN" dirty="0"/>
                        <a:t>Long-range Dependencies</a:t>
                      </a:r>
                    </a:p>
                  </a:txBody>
                  <a:tcPr>
                    <a:solidFill>
                      <a:srgbClr val="E7E7E7"/>
                    </a:solidFill>
                  </a:tcPr>
                </a:tc>
                <a:tc>
                  <a:txBody>
                    <a:bodyPr/>
                    <a:lstStyle/>
                    <a:p>
                      <a:r>
                        <a:rPr lang="en-IN" dirty="0"/>
                        <a:t>Better Captured</a:t>
                      </a:r>
                    </a:p>
                  </a:txBody>
                  <a:tcPr/>
                </a:tc>
                <a:extLst>
                  <a:ext uri="{0D108BD9-81ED-4DB2-BD59-A6C34878D82A}">
                    <a16:rowId xmlns:a16="http://schemas.microsoft.com/office/drawing/2014/main" val="184732022"/>
                  </a:ext>
                </a:extLst>
              </a:tr>
              <a:tr h="445996">
                <a:tc>
                  <a:txBody>
                    <a:bodyPr/>
                    <a:lstStyle/>
                    <a:p>
                      <a:r>
                        <a:rPr lang="en-IN" dirty="0"/>
                        <a:t>Scalability</a:t>
                      </a:r>
                    </a:p>
                  </a:txBody>
                  <a:tcPr/>
                </a:tc>
                <a:tc>
                  <a:txBody>
                    <a:bodyPr/>
                    <a:lstStyle/>
                    <a:p>
                      <a:r>
                        <a:rPr lang="en-IN" dirty="0"/>
                        <a:t>Excellent</a:t>
                      </a:r>
                    </a:p>
                  </a:txBody>
                  <a:tcPr/>
                </a:tc>
                <a:extLst>
                  <a:ext uri="{0D108BD9-81ED-4DB2-BD59-A6C34878D82A}">
                    <a16:rowId xmlns:a16="http://schemas.microsoft.com/office/drawing/2014/main" val="1189275508"/>
                  </a:ext>
                </a:extLst>
              </a:tr>
            </a:tbl>
          </a:graphicData>
        </a:graphic>
      </p:graphicFrame>
      <p:sp>
        <p:nvSpPr>
          <p:cNvPr id="43" name="TextBox 42">
            <a:extLst>
              <a:ext uri="{FF2B5EF4-FFF2-40B4-BE49-F238E27FC236}">
                <a16:creationId xmlns:a16="http://schemas.microsoft.com/office/drawing/2014/main" id="{82B47F1D-85A6-366B-87F8-B7220E85F664}"/>
              </a:ext>
            </a:extLst>
          </p:cNvPr>
          <p:cNvSpPr txBox="1"/>
          <p:nvPr/>
        </p:nvSpPr>
        <p:spPr>
          <a:xfrm>
            <a:off x="632861" y="4482894"/>
            <a:ext cx="5370898" cy="1477328"/>
          </a:xfrm>
          <a:prstGeom prst="rect">
            <a:avLst/>
          </a:prstGeom>
          <a:noFill/>
        </p:spPr>
        <p:txBody>
          <a:bodyPr wrap="square">
            <a:spAutoFit/>
          </a:bodyPr>
          <a:lstStyle/>
          <a:p>
            <a:r>
              <a:rPr lang="en-IN" b="1" dirty="0"/>
              <a:t>Attention alone is sufficient for sequence modelling. By removing recurrence, the Transformer achieved better accuracy while training faster, establishing a new foundation for modern deep learning architectures.</a:t>
            </a:r>
          </a:p>
        </p:txBody>
      </p:sp>
    </p:spTree>
    <p:extLst>
      <p:ext uri="{BB962C8B-B14F-4D97-AF65-F5344CB8AC3E}">
        <p14:creationId xmlns:p14="http://schemas.microsoft.com/office/powerpoint/2010/main" val="1326653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COMPUTER VISION APPLICATION</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From words to pixels: how this becomes Vision Transformer (ViT)</a:t>
            </a:r>
            <a:endParaRPr lang="en-US" sz="3200" dirty="0"/>
          </a:p>
        </p:txBody>
      </p:sp>
      <p:sp>
        <p:nvSpPr>
          <p:cNvPr id="4" name="Text 2"/>
          <p:cNvSpPr/>
          <p:nvPr/>
        </p:nvSpPr>
        <p:spPr>
          <a:xfrm>
            <a:off x="557784" y="1495044"/>
            <a:ext cx="4206240" cy="274320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The core insight isn't specific to text: self-attention just needs a sequence of vectors.</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ViT (Dosovitskiy et al., 2020) treats an image as a sequence of flattened patches — “words” made of pixels.</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The exact same encoder from this paper (multi-head self-attention + FFN + Add&amp;Norm) is reused, unmodified.</a:t>
            </a:r>
            <a:endParaRPr lang="en-US" sz="1500" dirty="0"/>
          </a:p>
          <a:p>
            <a:pPr marL="177800" indent="-177800">
              <a:lnSpc>
                <a:spcPct val="108000"/>
              </a:lnSpc>
              <a:spcAft>
                <a:spcPts val="1000"/>
              </a:spcAft>
              <a:buSzPct val="100000"/>
              <a:buChar char="•"/>
            </a:pPr>
            <a:r>
              <a:rPr lang="en-US" sz="1500" dirty="0">
                <a:solidFill>
                  <a:srgbClr val="1C2833"/>
                </a:solidFill>
                <a:latin typeface="Calibri" pitchFamily="34" charset="0"/>
                <a:ea typeface="Calibri" pitchFamily="34" charset="-122"/>
                <a:cs typeface="Calibri" pitchFamily="34" charset="-120"/>
              </a:rPr>
              <a:t>A learnable [CLS] token collects global information for classification — borrowed straight from BERT.</a:t>
            </a:r>
            <a:endParaRPr lang="en-US" sz="1500" dirty="0"/>
          </a:p>
        </p:txBody>
      </p:sp>
      <p:sp>
        <p:nvSpPr>
          <p:cNvPr id="6" name="Text 4"/>
          <p:cNvSpPr/>
          <p:nvPr/>
        </p:nvSpPr>
        <p:spPr>
          <a:xfrm>
            <a:off x="731520" y="4389120"/>
            <a:ext cx="3840480" cy="1600200"/>
          </a:xfrm>
          <a:prstGeom prst="rect">
            <a:avLst/>
          </a:prstGeom>
          <a:noFill/>
          <a:ln/>
        </p:spPr>
        <p:txBody>
          <a:bodyPr wrap="square" lIns="0" tIns="0" rIns="0" bIns="0" rtlCol="0" anchor="ctr"/>
          <a:lstStyle/>
          <a:p>
            <a:pPr marL="0" indent="0">
              <a:lnSpc>
                <a:spcPct val="125000"/>
              </a:lnSpc>
              <a:buNone/>
            </a:pPr>
            <a:r>
              <a:rPr lang="en-US" sz="1400" b="1" dirty="0">
                <a:latin typeface="Calibri" pitchFamily="34" charset="0"/>
                <a:ea typeface="Calibri" pitchFamily="34" charset="-122"/>
                <a:cs typeface="Calibri" pitchFamily="34" charset="-120"/>
              </a:rPr>
              <a:t>Why this matters for CV:  </a:t>
            </a:r>
            <a:r>
              <a:rPr lang="en-US" sz="1400" dirty="0">
                <a:latin typeface="Calibri" pitchFamily="34" charset="0"/>
                <a:ea typeface="Calibri" pitchFamily="34" charset="-122"/>
                <a:cs typeface="Calibri" pitchFamily="34" charset="-120"/>
              </a:rPr>
              <a:t>CNNs bake in a strong inductive bias (locality, translation invariance) via convolutions. ViT removes that bias and instead lets attention learn spatial relationships directly from data — which scales exceptionally well with more data and compute.</a:t>
            </a:r>
            <a:endParaRPr lang="en-US" sz="1400" dirty="0"/>
          </a:p>
        </p:txBody>
      </p:sp>
      <p:sp>
        <p:nvSpPr>
          <p:cNvPr id="7" name="Shape 5"/>
          <p:cNvSpPr/>
          <p:nvPr/>
        </p:nvSpPr>
        <p:spPr>
          <a:xfrm>
            <a:off x="5623560" y="1371600"/>
            <a:ext cx="6035040" cy="566928"/>
          </a:xfrm>
          <a:prstGeom prst="roundRect">
            <a:avLst>
              <a:gd name="adj" fmla="val 9677"/>
            </a:avLst>
          </a:prstGeom>
          <a:solidFill>
            <a:srgbClr val="F4F6F7"/>
          </a:solidFill>
          <a:ln w="12700">
            <a:solidFill>
              <a:srgbClr val="D5D8DC"/>
            </a:solidFill>
            <a:prstDash val="solid"/>
          </a:ln>
        </p:spPr>
      </p:sp>
      <p:sp>
        <p:nvSpPr>
          <p:cNvPr id="8" name="Text 6"/>
          <p:cNvSpPr/>
          <p:nvPr/>
        </p:nvSpPr>
        <p:spPr>
          <a:xfrm>
            <a:off x="5760720" y="1371600"/>
            <a:ext cx="5760720" cy="566928"/>
          </a:xfrm>
          <a:prstGeom prst="rect">
            <a:avLst/>
          </a:prstGeom>
          <a:noFill/>
          <a:ln/>
        </p:spPr>
        <p:txBody>
          <a:bodyPr wrap="square" lIns="0" tIns="0" rIns="0" bIns="0" rtlCol="0" anchor="ctr"/>
          <a:lstStyle/>
          <a:p>
            <a:pPr marL="0" indent="0" algn="ctr">
              <a:lnSpc>
                <a:spcPct val="105000"/>
              </a:lnSpc>
              <a:buNone/>
            </a:pPr>
            <a:r>
              <a:rPr lang="en-US" sz="1150" dirty="0">
                <a:solidFill>
                  <a:srgbClr val="1C2833"/>
                </a:solidFill>
                <a:latin typeface="Calibri" pitchFamily="34" charset="0"/>
                <a:ea typeface="Calibri" pitchFamily="34" charset="-122"/>
                <a:cs typeface="Calibri" pitchFamily="34" charset="-120"/>
              </a:rPr>
              <a:t>Input Image</a:t>
            </a:r>
            <a:endParaRPr lang="en-US" sz="1150" dirty="0"/>
          </a:p>
        </p:txBody>
      </p:sp>
      <p:sp>
        <p:nvSpPr>
          <p:cNvPr id="9" name="Shape 7"/>
          <p:cNvSpPr/>
          <p:nvPr/>
        </p:nvSpPr>
        <p:spPr>
          <a:xfrm>
            <a:off x="8586216" y="1938528"/>
            <a:ext cx="109728" cy="109728"/>
          </a:xfrm>
          <a:prstGeom prst="downArrow">
            <a:avLst/>
          </a:prstGeom>
          <a:solidFill>
            <a:srgbClr val="5D7A9C"/>
          </a:solidFill>
          <a:ln/>
        </p:spPr>
      </p:sp>
      <p:sp>
        <p:nvSpPr>
          <p:cNvPr id="10" name="Shape 8"/>
          <p:cNvSpPr/>
          <p:nvPr/>
        </p:nvSpPr>
        <p:spPr>
          <a:xfrm>
            <a:off x="5623560" y="2066544"/>
            <a:ext cx="6035040" cy="566928"/>
          </a:xfrm>
          <a:prstGeom prst="roundRect">
            <a:avLst>
              <a:gd name="adj" fmla="val 9677"/>
            </a:avLst>
          </a:prstGeom>
          <a:solidFill>
            <a:srgbClr val="FFFFFF"/>
          </a:solidFill>
          <a:ln w="12700">
            <a:solidFill>
              <a:srgbClr val="D5D8DC"/>
            </a:solidFill>
            <a:prstDash val="solid"/>
          </a:ln>
        </p:spPr>
      </p:sp>
      <p:sp>
        <p:nvSpPr>
          <p:cNvPr id="11" name="Text 9"/>
          <p:cNvSpPr/>
          <p:nvPr/>
        </p:nvSpPr>
        <p:spPr>
          <a:xfrm>
            <a:off x="5760720" y="2066544"/>
            <a:ext cx="5760720" cy="566928"/>
          </a:xfrm>
          <a:prstGeom prst="rect">
            <a:avLst/>
          </a:prstGeom>
          <a:noFill/>
          <a:ln/>
        </p:spPr>
        <p:txBody>
          <a:bodyPr wrap="square" lIns="0" tIns="0" rIns="0" bIns="0" rtlCol="0" anchor="ctr"/>
          <a:lstStyle/>
          <a:p>
            <a:pPr marL="0" indent="0" algn="l">
              <a:lnSpc>
                <a:spcPct val="105000"/>
              </a:lnSpc>
              <a:buNone/>
            </a:pPr>
            <a:r>
              <a:rPr lang="en-US" sz="1150" dirty="0">
                <a:solidFill>
                  <a:srgbClr val="1C2833"/>
                </a:solidFill>
                <a:latin typeface="Calibri" pitchFamily="34" charset="0"/>
                <a:ea typeface="Calibri" pitchFamily="34" charset="-122"/>
                <a:cs typeface="Calibri" pitchFamily="34" charset="-120"/>
              </a:rPr>
              <a:t>Split into fixed-size patches</a:t>
            </a:r>
            <a:endParaRPr lang="en-US" sz="1150" dirty="0"/>
          </a:p>
        </p:txBody>
      </p:sp>
      <p:sp>
        <p:nvSpPr>
          <p:cNvPr id="12" name="Shape 10"/>
          <p:cNvSpPr/>
          <p:nvPr/>
        </p:nvSpPr>
        <p:spPr>
          <a:xfrm>
            <a:off x="8586216" y="2633472"/>
            <a:ext cx="109728" cy="109728"/>
          </a:xfrm>
          <a:prstGeom prst="downArrow">
            <a:avLst/>
          </a:prstGeom>
          <a:solidFill>
            <a:srgbClr val="5D7A9C"/>
          </a:solidFill>
          <a:ln/>
        </p:spPr>
      </p:sp>
      <p:sp>
        <p:nvSpPr>
          <p:cNvPr id="13" name="Shape 11"/>
          <p:cNvSpPr/>
          <p:nvPr/>
        </p:nvSpPr>
        <p:spPr>
          <a:xfrm>
            <a:off x="5623560" y="2761488"/>
            <a:ext cx="6035040" cy="566928"/>
          </a:xfrm>
          <a:prstGeom prst="roundRect">
            <a:avLst>
              <a:gd name="adj" fmla="val 9677"/>
            </a:avLst>
          </a:prstGeom>
          <a:solidFill>
            <a:srgbClr val="FFFFFF"/>
          </a:solidFill>
          <a:ln w="12700">
            <a:solidFill>
              <a:srgbClr val="D5D8DC"/>
            </a:solidFill>
            <a:prstDash val="solid"/>
          </a:ln>
        </p:spPr>
      </p:sp>
      <p:sp>
        <p:nvSpPr>
          <p:cNvPr id="14" name="Text 12"/>
          <p:cNvSpPr/>
          <p:nvPr/>
        </p:nvSpPr>
        <p:spPr>
          <a:xfrm>
            <a:off x="5760720" y="2761488"/>
            <a:ext cx="5760720" cy="566928"/>
          </a:xfrm>
          <a:prstGeom prst="rect">
            <a:avLst/>
          </a:prstGeom>
          <a:noFill/>
          <a:ln/>
        </p:spPr>
        <p:txBody>
          <a:bodyPr wrap="square" lIns="0" tIns="0" rIns="0" bIns="0" rtlCol="0" anchor="ctr"/>
          <a:lstStyle/>
          <a:p>
            <a:pPr marL="0" indent="0" algn="l">
              <a:lnSpc>
                <a:spcPct val="105000"/>
              </a:lnSpc>
              <a:buNone/>
            </a:pPr>
            <a:r>
              <a:rPr lang="en-US" sz="1150" dirty="0">
                <a:solidFill>
                  <a:srgbClr val="1C2833"/>
                </a:solidFill>
                <a:latin typeface="Calibri" pitchFamily="34" charset="0"/>
                <a:ea typeface="Calibri" pitchFamily="34" charset="-122"/>
                <a:cs typeface="Calibri" pitchFamily="34" charset="-120"/>
              </a:rPr>
              <a:t>Flatten + Linear projection</a:t>
            </a:r>
            <a:endParaRPr lang="en-US" sz="1150" dirty="0"/>
          </a:p>
          <a:p>
            <a:pPr marL="0" indent="0" algn="l">
              <a:lnSpc>
                <a:spcPct val="105000"/>
              </a:lnSpc>
              <a:buNone/>
            </a:pPr>
            <a:r>
              <a:rPr lang="en-US" sz="1150" dirty="0">
                <a:solidFill>
                  <a:srgbClr val="1C2833"/>
                </a:solidFill>
                <a:latin typeface="Calibri" pitchFamily="34" charset="0"/>
                <a:ea typeface="Calibri" pitchFamily="34" charset="-122"/>
                <a:cs typeface="Calibri" pitchFamily="34" charset="-120"/>
              </a:rPr>
              <a:t>(patch embeddings)</a:t>
            </a:r>
            <a:endParaRPr lang="en-US" sz="1150" dirty="0"/>
          </a:p>
        </p:txBody>
      </p:sp>
      <p:sp>
        <p:nvSpPr>
          <p:cNvPr id="15" name="Shape 13"/>
          <p:cNvSpPr/>
          <p:nvPr/>
        </p:nvSpPr>
        <p:spPr>
          <a:xfrm>
            <a:off x="8586216" y="3328416"/>
            <a:ext cx="109728" cy="109728"/>
          </a:xfrm>
          <a:prstGeom prst="downArrow">
            <a:avLst/>
          </a:prstGeom>
          <a:solidFill>
            <a:srgbClr val="5D7A9C"/>
          </a:solidFill>
          <a:ln/>
        </p:spPr>
      </p:sp>
      <p:sp>
        <p:nvSpPr>
          <p:cNvPr id="16" name="Shape 14"/>
          <p:cNvSpPr/>
          <p:nvPr/>
        </p:nvSpPr>
        <p:spPr>
          <a:xfrm>
            <a:off x="5623560" y="3456432"/>
            <a:ext cx="6035040" cy="566928"/>
          </a:xfrm>
          <a:prstGeom prst="roundRect">
            <a:avLst>
              <a:gd name="adj" fmla="val 9677"/>
            </a:avLst>
          </a:prstGeom>
          <a:solidFill>
            <a:srgbClr val="FFFFFF"/>
          </a:solidFill>
          <a:ln w="12700">
            <a:solidFill>
              <a:srgbClr val="D5D8DC"/>
            </a:solidFill>
            <a:prstDash val="solid"/>
          </a:ln>
        </p:spPr>
      </p:sp>
      <p:sp>
        <p:nvSpPr>
          <p:cNvPr id="17" name="Text 15"/>
          <p:cNvSpPr/>
          <p:nvPr/>
        </p:nvSpPr>
        <p:spPr>
          <a:xfrm>
            <a:off x="5760720" y="3456432"/>
            <a:ext cx="5760720" cy="566928"/>
          </a:xfrm>
          <a:prstGeom prst="rect">
            <a:avLst/>
          </a:prstGeom>
          <a:noFill/>
          <a:ln/>
        </p:spPr>
        <p:txBody>
          <a:bodyPr wrap="square" lIns="0" tIns="0" rIns="0" bIns="0" rtlCol="0" anchor="ctr"/>
          <a:lstStyle/>
          <a:p>
            <a:pPr marL="0" indent="0" algn="l">
              <a:lnSpc>
                <a:spcPct val="105000"/>
              </a:lnSpc>
              <a:buNone/>
            </a:pPr>
            <a:r>
              <a:rPr lang="en-US" sz="1150" dirty="0">
                <a:solidFill>
                  <a:srgbClr val="1C2833"/>
                </a:solidFill>
                <a:latin typeface="Calibri" pitchFamily="34" charset="0"/>
                <a:ea typeface="Calibri" pitchFamily="34" charset="-122"/>
                <a:cs typeface="Calibri" pitchFamily="34" charset="-120"/>
              </a:rPr>
              <a:t>Add positional embeddings</a:t>
            </a:r>
            <a:endParaRPr lang="en-US" sz="1150" dirty="0"/>
          </a:p>
        </p:txBody>
      </p:sp>
      <p:sp>
        <p:nvSpPr>
          <p:cNvPr id="18" name="Shape 16"/>
          <p:cNvSpPr/>
          <p:nvPr/>
        </p:nvSpPr>
        <p:spPr>
          <a:xfrm>
            <a:off x="8586216" y="4023360"/>
            <a:ext cx="109728" cy="109728"/>
          </a:xfrm>
          <a:prstGeom prst="downArrow">
            <a:avLst/>
          </a:prstGeom>
          <a:solidFill>
            <a:srgbClr val="5D7A9C"/>
          </a:solidFill>
          <a:ln/>
        </p:spPr>
      </p:sp>
      <p:sp>
        <p:nvSpPr>
          <p:cNvPr id="19" name="Shape 17"/>
          <p:cNvSpPr/>
          <p:nvPr/>
        </p:nvSpPr>
        <p:spPr>
          <a:xfrm>
            <a:off x="5623560" y="4151376"/>
            <a:ext cx="6035040" cy="566928"/>
          </a:xfrm>
          <a:prstGeom prst="roundRect">
            <a:avLst>
              <a:gd name="adj" fmla="val 9677"/>
            </a:avLst>
          </a:prstGeom>
          <a:solidFill>
            <a:srgbClr val="FFFFFF"/>
          </a:solidFill>
          <a:ln w="12700">
            <a:solidFill>
              <a:srgbClr val="D5D8DC"/>
            </a:solidFill>
            <a:prstDash val="solid"/>
          </a:ln>
        </p:spPr>
      </p:sp>
      <p:sp>
        <p:nvSpPr>
          <p:cNvPr id="20" name="Text 18"/>
          <p:cNvSpPr/>
          <p:nvPr/>
        </p:nvSpPr>
        <p:spPr>
          <a:xfrm>
            <a:off x="5760720" y="4151376"/>
            <a:ext cx="5760720" cy="566928"/>
          </a:xfrm>
          <a:prstGeom prst="rect">
            <a:avLst/>
          </a:prstGeom>
          <a:noFill/>
          <a:ln/>
        </p:spPr>
        <p:txBody>
          <a:bodyPr wrap="square" lIns="0" tIns="0" rIns="0" bIns="0" rtlCol="0" anchor="ctr"/>
          <a:lstStyle/>
          <a:p>
            <a:pPr marL="0" indent="0" algn="l">
              <a:lnSpc>
                <a:spcPct val="105000"/>
              </a:lnSpc>
              <a:buNone/>
            </a:pPr>
            <a:r>
              <a:rPr lang="en-US" sz="1150" dirty="0">
                <a:solidFill>
                  <a:srgbClr val="1C2833"/>
                </a:solidFill>
                <a:latin typeface="Calibri" pitchFamily="34" charset="0"/>
                <a:ea typeface="Calibri" pitchFamily="34" charset="-122"/>
                <a:cs typeface="Calibri" pitchFamily="34" charset="-120"/>
              </a:rPr>
              <a:t>+ prepend [CLS] token</a:t>
            </a:r>
            <a:endParaRPr lang="en-US" sz="1150" dirty="0"/>
          </a:p>
        </p:txBody>
      </p:sp>
      <p:sp>
        <p:nvSpPr>
          <p:cNvPr id="21" name="Shape 19"/>
          <p:cNvSpPr/>
          <p:nvPr/>
        </p:nvSpPr>
        <p:spPr>
          <a:xfrm>
            <a:off x="8586216" y="4718304"/>
            <a:ext cx="109728" cy="109728"/>
          </a:xfrm>
          <a:prstGeom prst="downArrow">
            <a:avLst/>
          </a:prstGeom>
          <a:solidFill>
            <a:srgbClr val="5D7A9C"/>
          </a:solidFill>
          <a:ln/>
        </p:spPr>
      </p:sp>
      <p:sp>
        <p:nvSpPr>
          <p:cNvPr id="22" name="Shape 20"/>
          <p:cNvSpPr/>
          <p:nvPr/>
        </p:nvSpPr>
        <p:spPr>
          <a:xfrm>
            <a:off x="5623560" y="4846320"/>
            <a:ext cx="6035040" cy="566928"/>
          </a:xfrm>
          <a:prstGeom prst="roundRect">
            <a:avLst>
              <a:gd name="adj" fmla="val 9677"/>
            </a:avLst>
          </a:prstGeom>
          <a:solidFill>
            <a:srgbClr val="1C2833"/>
          </a:solidFill>
          <a:ln w="12700">
            <a:solidFill>
              <a:srgbClr val="1C2833"/>
            </a:solidFill>
            <a:prstDash val="solid"/>
          </a:ln>
        </p:spPr>
      </p:sp>
      <p:sp>
        <p:nvSpPr>
          <p:cNvPr id="23" name="Text 21"/>
          <p:cNvSpPr/>
          <p:nvPr/>
        </p:nvSpPr>
        <p:spPr>
          <a:xfrm>
            <a:off x="5760720" y="4846320"/>
            <a:ext cx="5760720" cy="566928"/>
          </a:xfrm>
          <a:prstGeom prst="rect">
            <a:avLst/>
          </a:prstGeom>
          <a:noFill/>
          <a:ln/>
        </p:spPr>
        <p:txBody>
          <a:bodyPr wrap="square" lIns="0" tIns="0" rIns="0" bIns="0" rtlCol="0" anchor="ctr"/>
          <a:lstStyle/>
          <a:p>
            <a:pPr marL="0" indent="0" algn="l">
              <a:lnSpc>
                <a:spcPct val="105000"/>
              </a:lnSpc>
              <a:buNone/>
            </a:pPr>
            <a:r>
              <a:rPr lang="en-US" sz="1150" b="1" dirty="0">
                <a:solidFill>
                  <a:srgbClr val="FFFFFF"/>
                </a:solidFill>
                <a:latin typeface="Calibri" pitchFamily="34" charset="0"/>
                <a:ea typeface="Calibri" pitchFamily="34" charset="-122"/>
                <a:cs typeface="Calibri" pitchFamily="34" charset="-120"/>
              </a:rPr>
              <a:t>Transformer Encoder (same as this paper)</a:t>
            </a:r>
            <a:endParaRPr lang="en-US" sz="1150" dirty="0"/>
          </a:p>
        </p:txBody>
      </p:sp>
      <p:sp>
        <p:nvSpPr>
          <p:cNvPr id="24" name="Shape 22"/>
          <p:cNvSpPr/>
          <p:nvPr/>
        </p:nvSpPr>
        <p:spPr>
          <a:xfrm>
            <a:off x="8586216" y="5413248"/>
            <a:ext cx="109728" cy="109728"/>
          </a:xfrm>
          <a:prstGeom prst="downArrow">
            <a:avLst/>
          </a:prstGeom>
          <a:solidFill>
            <a:srgbClr val="5D7A9C"/>
          </a:solidFill>
          <a:ln/>
        </p:spPr>
      </p:sp>
      <p:sp>
        <p:nvSpPr>
          <p:cNvPr id="25" name="Shape 23"/>
          <p:cNvSpPr/>
          <p:nvPr/>
        </p:nvSpPr>
        <p:spPr>
          <a:xfrm>
            <a:off x="5623560" y="5541264"/>
            <a:ext cx="6035040" cy="566928"/>
          </a:xfrm>
          <a:prstGeom prst="roundRect">
            <a:avLst>
              <a:gd name="adj" fmla="val 9677"/>
            </a:avLst>
          </a:prstGeom>
          <a:solidFill>
            <a:srgbClr val="FFFFFF"/>
          </a:solidFill>
          <a:ln w="19050">
            <a:solidFill>
              <a:srgbClr val="D68910"/>
            </a:solidFill>
            <a:prstDash val="solid"/>
          </a:ln>
        </p:spPr>
      </p:sp>
      <p:sp>
        <p:nvSpPr>
          <p:cNvPr id="26" name="Text 24"/>
          <p:cNvSpPr/>
          <p:nvPr/>
        </p:nvSpPr>
        <p:spPr>
          <a:xfrm>
            <a:off x="5760720" y="5541264"/>
            <a:ext cx="5760720" cy="566928"/>
          </a:xfrm>
          <a:prstGeom prst="rect">
            <a:avLst/>
          </a:prstGeom>
          <a:noFill/>
          <a:ln/>
        </p:spPr>
        <p:txBody>
          <a:bodyPr wrap="square" lIns="0" tIns="0" rIns="0" bIns="0" rtlCol="0" anchor="ctr"/>
          <a:lstStyle/>
          <a:p>
            <a:pPr marL="0" indent="0" algn="l">
              <a:lnSpc>
                <a:spcPct val="105000"/>
              </a:lnSpc>
              <a:buNone/>
            </a:pPr>
            <a:r>
              <a:rPr lang="en-US" sz="1150" b="1" dirty="0">
                <a:solidFill>
                  <a:srgbClr val="1C2833"/>
                </a:solidFill>
                <a:latin typeface="Calibri" pitchFamily="34" charset="0"/>
                <a:ea typeface="Calibri" pitchFamily="34" charset="-122"/>
                <a:cs typeface="Calibri" pitchFamily="34" charset="-120"/>
              </a:rPr>
              <a:t>[CLS] token output → MLP head → class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marL="0" indent="0">
              <a:buNone/>
            </a:pPr>
            <a:r>
              <a:rPr lang="en-US" sz="1200" b="1" kern="0" spc="200" dirty="0">
                <a:solidFill>
                  <a:srgbClr val="D68910"/>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1C2833"/>
                </a:solidFill>
                <a:latin typeface="Cambria" pitchFamily="34" charset="0"/>
                <a:ea typeface="Cambria" pitchFamily="34" charset="-122"/>
                <a:cs typeface="Cambria" pitchFamily="34" charset="-120"/>
              </a:rPr>
              <a:t>Strengths                                                              Limitations</a:t>
            </a:r>
            <a:endParaRPr lang="en-US" sz="3200" dirty="0"/>
          </a:p>
        </p:txBody>
      </p:sp>
      <p:sp>
        <p:nvSpPr>
          <p:cNvPr id="4" name="Shape 2"/>
          <p:cNvSpPr/>
          <p:nvPr/>
        </p:nvSpPr>
        <p:spPr>
          <a:xfrm>
            <a:off x="548640" y="1234440"/>
            <a:ext cx="3465095" cy="731520"/>
          </a:xfrm>
          <a:prstGeom prst="roundRect">
            <a:avLst>
              <a:gd name="adj" fmla="val 3871"/>
            </a:avLst>
          </a:prstGeom>
          <a:solidFill>
            <a:srgbClr val="FAFAFA"/>
          </a:solidFill>
          <a:ln w="12700">
            <a:solidFill>
              <a:srgbClr val="D5D8DC"/>
            </a:solidFill>
            <a:prstDash val="solid"/>
          </a:ln>
        </p:spPr>
      </p:sp>
      <p:sp>
        <p:nvSpPr>
          <p:cNvPr id="5" name="Shape 3"/>
          <p:cNvSpPr/>
          <p:nvPr/>
        </p:nvSpPr>
        <p:spPr>
          <a:xfrm>
            <a:off x="731520" y="1417320"/>
            <a:ext cx="309383" cy="206477"/>
          </a:xfrm>
          <a:prstGeom prst="line">
            <a:avLst/>
          </a:prstGeom>
          <a:solidFill>
            <a:srgbClr val="1C2833"/>
          </a:solidFill>
          <a:ln/>
        </p:spPr>
      </p:sp>
      <p:sp>
        <p:nvSpPr>
          <p:cNvPr id="7" name="Text 5"/>
          <p:cNvSpPr/>
          <p:nvPr/>
        </p:nvSpPr>
        <p:spPr>
          <a:xfrm>
            <a:off x="686316" y="1310814"/>
            <a:ext cx="2846328" cy="144534"/>
          </a:xfrm>
          <a:prstGeom prst="rect">
            <a:avLst/>
          </a:prstGeom>
          <a:noFill/>
          <a:ln/>
        </p:spPr>
        <p:txBody>
          <a:bodyPr wrap="square" lIns="0" tIns="0" rIns="0" bIns="0" rtlCol="0" anchor="ctr"/>
          <a:lstStyle/>
          <a:p>
            <a:pPr marL="0" indent="0">
              <a:buNone/>
            </a:pPr>
            <a:r>
              <a:rPr lang="en-US" sz="1400" b="1" dirty="0">
                <a:solidFill>
                  <a:srgbClr val="1C2833"/>
                </a:solidFill>
                <a:latin typeface="Calibri" pitchFamily="34" charset="0"/>
                <a:ea typeface="Calibri" pitchFamily="34" charset="-122"/>
                <a:cs typeface="Calibri" pitchFamily="34" charset="-120"/>
              </a:rPr>
              <a:t>Simple architecture</a:t>
            </a:r>
            <a:endParaRPr lang="en-US" sz="1400" dirty="0"/>
          </a:p>
        </p:txBody>
      </p:sp>
      <p:sp>
        <p:nvSpPr>
          <p:cNvPr id="8" name="Text 6"/>
          <p:cNvSpPr/>
          <p:nvPr/>
        </p:nvSpPr>
        <p:spPr>
          <a:xfrm>
            <a:off x="686316" y="1502861"/>
            <a:ext cx="2846328" cy="371659"/>
          </a:xfrm>
          <a:prstGeom prst="rect">
            <a:avLst/>
          </a:prstGeom>
          <a:noFill/>
          <a:ln/>
        </p:spPr>
        <p:txBody>
          <a:bodyPr wrap="square" lIns="0" tIns="0" rIns="0" bIns="0" rtlCol="0" anchor="ctr"/>
          <a:lstStyle/>
          <a:p>
            <a:pPr marL="0" indent="0">
              <a:lnSpc>
                <a:spcPct val="115000"/>
              </a:lnSpc>
              <a:buNone/>
            </a:pPr>
            <a:r>
              <a:rPr lang="en-US" sz="1150" dirty="0">
                <a:latin typeface="Calibri" pitchFamily="34" charset="0"/>
                <a:ea typeface="Calibri" pitchFamily="34" charset="-122"/>
                <a:cs typeface="Calibri" pitchFamily="34" charset="-120"/>
              </a:rPr>
              <a:t>No recurrence, no convolutions — just attention and feed-forward layers.</a:t>
            </a:r>
            <a:endParaRPr lang="en-US" sz="1150" dirty="0"/>
          </a:p>
        </p:txBody>
      </p:sp>
      <p:sp>
        <p:nvSpPr>
          <p:cNvPr id="9" name="Shape 7"/>
          <p:cNvSpPr/>
          <p:nvPr/>
        </p:nvSpPr>
        <p:spPr>
          <a:xfrm>
            <a:off x="548640" y="3775270"/>
            <a:ext cx="3465095" cy="751010"/>
          </a:xfrm>
          <a:prstGeom prst="roundRect">
            <a:avLst>
              <a:gd name="adj" fmla="val 3871"/>
            </a:avLst>
          </a:prstGeom>
          <a:solidFill>
            <a:srgbClr val="FAFAFA"/>
          </a:solidFill>
          <a:ln w="12700">
            <a:solidFill>
              <a:srgbClr val="D5D8DC"/>
            </a:solidFill>
            <a:prstDash val="solid"/>
          </a:ln>
        </p:spPr>
      </p:sp>
      <p:sp>
        <p:nvSpPr>
          <p:cNvPr id="10" name="Shape 8"/>
          <p:cNvSpPr/>
          <p:nvPr/>
        </p:nvSpPr>
        <p:spPr>
          <a:xfrm>
            <a:off x="731520" y="3958150"/>
            <a:ext cx="309383" cy="457200"/>
          </a:xfrm>
          <a:prstGeom prst="line">
            <a:avLst/>
          </a:prstGeom>
          <a:solidFill>
            <a:srgbClr val="1C2833"/>
          </a:solidFill>
          <a:ln/>
        </p:spPr>
      </p:sp>
      <p:sp>
        <p:nvSpPr>
          <p:cNvPr id="12" name="Text 10"/>
          <p:cNvSpPr/>
          <p:nvPr/>
        </p:nvSpPr>
        <p:spPr>
          <a:xfrm>
            <a:off x="686316" y="3825187"/>
            <a:ext cx="2846328" cy="320040"/>
          </a:xfrm>
          <a:prstGeom prst="rect">
            <a:avLst/>
          </a:prstGeom>
          <a:noFill/>
          <a:ln/>
        </p:spPr>
        <p:txBody>
          <a:bodyPr wrap="square" lIns="0" tIns="0" rIns="0" bIns="0" rtlCol="0" anchor="ctr"/>
          <a:lstStyle/>
          <a:p>
            <a:pPr marL="0" indent="0">
              <a:buNone/>
            </a:pPr>
            <a:r>
              <a:rPr lang="en-US" sz="1400" b="1" dirty="0">
                <a:solidFill>
                  <a:srgbClr val="1C2833"/>
                </a:solidFill>
                <a:latin typeface="Calibri" pitchFamily="34" charset="0"/>
                <a:ea typeface="Calibri" pitchFamily="34" charset="-122"/>
                <a:cs typeface="Calibri" pitchFamily="34" charset="-120"/>
              </a:rPr>
              <a:t>Fully parallel computation</a:t>
            </a:r>
            <a:endParaRPr lang="en-US" sz="1400" dirty="0"/>
          </a:p>
        </p:txBody>
      </p:sp>
      <p:sp>
        <p:nvSpPr>
          <p:cNvPr id="13" name="Text 11"/>
          <p:cNvSpPr/>
          <p:nvPr/>
        </p:nvSpPr>
        <p:spPr>
          <a:xfrm>
            <a:off x="686316" y="4070730"/>
            <a:ext cx="2846328" cy="488652"/>
          </a:xfrm>
          <a:prstGeom prst="rect">
            <a:avLst/>
          </a:prstGeom>
          <a:noFill/>
          <a:ln/>
        </p:spPr>
        <p:txBody>
          <a:bodyPr wrap="square" lIns="0" tIns="0" rIns="0" bIns="0" rtlCol="0" anchor="ctr"/>
          <a:lstStyle/>
          <a:p>
            <a:pPr marL="0" indent="0">
              <a:lnSpc>
                <a:spcPct val="115000"/>
              </a:lnSpc>
              <a:buNone/>
            </a:pPr>
            <a:r>
              <a:rPr lang="en-US" sz="1150" dirty="0">
                <a:latin typeface="Calibri" pitchFamily="34" charset="0"/>
                <a:ea typeface="Calibri" pitchFamily="34" charset="-122"/>
                <a:cs typeface="Calibri" pitchFamily="34" charset="-120"/>
              </a:rPr>
              <a:t>Whole sequences processed at once — makes full use of modern GPUs/TPUs.</a:t>
            </a:r>
            <a:endParaRPr lang="en-US" sz="1150" dirty="0"/>
          </a:p>
        </p:txBody>
      </p:sp>
      <p:sp>
        <p:nvSpPr>
          <p:cNvPr id="14" name="Shape 12"/>
          <p:cNvSpPr/>
          <p:nvPr/>
        </p:nvSpPr>
        <p:spPr>
          <a:xfrm>
            <a:off x="548640" y="2076977"/>
            <a:ext cx="3465095" cy="731520"/>
          </a:xfrm>
          <a:prstGeom prst="roundRect">
            <a:avLst>
              <a:gd name="adj" fmla="val 3871"/>
            </a:avLst>
          </a:prstGeom>
          <a:solidFill>
            <a:srgbClr val="FAFAFA"/>
          </a:solidFill>
          <a:ln w="12700">
            <a:solidFill>
              <a:srgbClr val="D5D8DC"/>
            </a:solidFill>
            <a:prstDash val="solid"/>
          </a:ln>
        </p:spPr>
      </p:sp>
      <p:sp>
        <p:nvSpPr>
          <p:cNvPr id="15" name="Shape 13"/>
          <p:cNvSpPr/>
          <p:nvPr/>
        </p:nvSpPr>
        <p:spPr>
          <a:xfrm>
            <a:off x="731520" y="3193026"/>
            <a:ext cx="309383" cy="235974"/>
          </a:xfrm>
          <a:prstGeom prst="line">
            <a:avLst/>
          </a:prstGeom>
          <a:solidFill>
            <a:srgbClr val="1C2833"/>
          </a:solidFill>
          <a:ln/>
        </p:spPr>
      </p:sp>
      <p:sp>
        <p:nvSpPr>
          <p:cNvPr id="17" name="Text 15"/>
          <p:cNvSpPr/>
          <p:nvPr/>
        </p:nvSpPr>
        <p:spPr>
          <a:xfrm>
            <a:off x="731520" y="2136156"/>
            <a:ext cx="2846328" cy="165182"/>
          </a:xfrm>
          <a:prstGeom prst="rect">
            <a:avLst/>
          </a:prstGeom>
          <a:noFill/>
          <a:ln/>
        </p:spPr>
        <p:txBody>
          <a:bodyPr wrap="square" lIns="0" tIns="0" rIns="0" bIns="0" rtlCol="0" anchor="ctr"/>
          <a:lstStyle/>
          <a:p>
            <a:pPr marL="0" indent="0">
              <a:buNone/>
            </a:pPr>
            <a:r>
              <a:rPr lang="en-US" sz="1400" b="1" dirty="0">
                <a:solidFill>
                  <a:srgbClr val="1C2833"/>
                </a:solidFill>
                <a:latin typeface="Calibri" pitchFamily="34" charset="0"/>
                <a:ea typeface="Calibri" pitchFamily="34" charset="-122"/>
                <a:cs typeface="Calibri" pitchFamily="34" charset="-120"/>
              </a:rPr>
              <a:t>Excellent scalability</a:t>
            </a:r>
            <a:endParaRPr lang="en-US" sz="1400" dirty="0"/>
          </a:p>
        </p:txBody>
      </p:sp>
      <p:sp>
        <p:nvSpPr>
          <p:cNvPr id="18" name="Text 16"/>
          <p:cNvSpPr/>
          <p:nvPr/>
        </p:nvSpPr>
        <p:spPr>
          <a:xfrm>
            <a:off x="731520" y="2301338"/>
            <a:ext cx="2846328" cy="424754"/>
          </a:xfrm>
          <a:prstGeom prst="rect">
            <a:avLst/>
          </a:prstGeom>
          <a:noFill/>
          <a:ln/>
        </p:spPr>
        <p:txBody>
          <a:bodyPr wrap="square" lIns="0" tIns="0" rIns="0" bIns="0" rtlCol="0" anchor="ctr"/>
          <a:lstStyle/>
          <a:p>
            <a:pPr marL="0" indent="0">
              <a:lnSpc>
                <a:spcPct val="115000"/>
              </a:lnSpc>
              <a:buNone/>
            </a:pPr>
            <a:r>
              <a:rPr lang="en-US" sz="1150" dirty="0">
                <a:latin typeface="Calibri" pitchFamily="34" charset="0"/>
                <a:ea typeface="Calibri" pitchFamily="34" charset="-122"/>
                <a:cs typeface="Calibri" pitchFamily="34" charset="-120"/>
              </a:rPr>
              <a:t>Performance keeps improving as you add data, parameters, and compute.</a:t>
            </a:r>
            <a:endParaRPr lang="en-US" sz="1150" dirty="0"/>
          </a:p>
        </p:txBody>
      </p:sp>
      <p:sp>
        <p:nvSpPr>
          <p:cNvPr id="19" name="Shape 17"/>
          <p:cNvSpPr/>
          <p:nvPr/>
        </p:nvSpPr>
        <p:spPr>
          <a:xfrm>
            <a:off x="548640" y="4617530"/>
            <a:ext cx="3465095" cy="751010"/>
          </a:xfrm>
          <a:prstGeom prst="roundRect">
            <a:avLst>
              <a:gd name="adj" fmla="val 3871"/>
            </a:avLst>
          </a:prstGeom>
          <a:solidFill>
            <a:srgbClr val="FAFAFA"/>
          </a:solidFill>
          <a:ln w="12700">
            <a:solidFill>
              <a:srgbClr val="D5D8DC"/>
            </a:solidFill>
            <a:prstDash val="solid"/>
          </a:ln>
        </p:spPr>
      </p:sp>
      <p:sp>
        <p:nvSpPr>
          <p:cNvPr id="22" name="Text 20"/>
          <p:cNvSpPr/>
          <p:nvPr/>
        </p:nvSpPr>
        <p:spPr>
          <a:xfrm>
            <a:off x="686316" y="4675501"/>
            <a:ext cx="2846328" cy="320040"/>
          </a:xfrm>
          <a:prstGeom prst="rect">
            <a:avLst/>
          </a:prstGeom>
          <a:noFill/>
          <a:ln/>
        </p:spPr>
        <p:txBody>
          <a:bodyPr wrap="square" lIns="0" tIns="0" rIns="0" bIns="0" rtlCol="0" anchor="ctr"/>
          <a:lstStyle/>
          <a:p>
            <a:pPr marL="0" indent="0">
              <a:buNone/>
            </a:pPr>
            <a:r>
              <a:rPr lang="en-US" sz="1400" b="1" dirty="0">
                <a:solidFill>
                  <a:srgbClr val="1C2833"/>
                </a:solidFill>
                <a:latin typeface="Calibri" pitchFamily="34" charset="0"/>
                <a:ea typeface="Calibri" pitchFamily="34" charset="-122"/>
                <a:cs typeface="Calibri" pitchFamily="34" charset="-120"/>
              </a:rPr>
              <a:t>Long-range dependency modeling</a:t>
            </a:r>
            <a:endParaRPr lang="en-US" sz="1400" dirty="0"/>
          </a:p>
        </p:txBody>
      </p:sp>
      <p:sp>
        <p:nvSpPr>
          <p:cNvPr id="23" name="Text 21"/>
          <p:cNvSpPr/>
          <p:nvPr/>
        </p:nvSpPr>
        <p:spPr>
          <a:xfrm>
            <a:off x="686316" y="4928919"/>
            <a:ext cx="2846328" cy="480797"/>
          </a:xfrm>
          <a:prstGeom prst="rect">
            <a:avLst/>
          </a:prstGeom>
          <a:noFill/>
          <a:ln/>
        </p:spPr>
        <p:txBody>
          <a:bodyPr wrap="square" lIns="0" tIns="0" rIns="0" bIns="0" rtlCol="0" anchor="ctr"/>
          <a:lstStyle/>
          <a:p>
            <a:pPr marL="0" indent="0">
              <a:lnSpc>
                <a:spcPct val="115000"/>
              </a:lnSpc>
              <a:buNone/>
            </a:pPr>
            <a:r>
              <a:rPr lang="en-US" sz="1150" dirty="0">
                <a:latin typeface="Calibri" pitchFamily="34" charset="0"/>
                <a:ea typeface="Calibri" pitchFamily="34" charset="-122"/>
                <a:cs typeface="Calibri" pitchFamily="34" charset="-120"/>
              </a:rPr>
              <a:t>O(1) path length between any two tokens, regardless of distance.</a:t>
            </a:r>
            <a:endParaRPr lang="en-US" sz="1150" dirty="0"/>
          </a:p>
        </p:txBody>
      </p:sp>
      <p:sp>
        <p:nvSpPr>
          <p:cNvPr id="24" name="Shape 22"/>
          <p:cNvSpPr/>
          <p:nvPr/>
        </p:nvSpPr>
        <p:spPr>
          <a:xfrm>
            <a:off x="548640" y="2919250"/>
            <a:ext cx="3465095" cy="731520"/>
          </a:xfrm>
          <a:prstGeom prst="roundRect">
            <a:avLst>
              <a:gd name="adj" fmla="val 3871"/>
            </a:avLst>
          </a:prstGeom>
          <a:solidFill>
            <a:srgbClr val="FAFAFA"/>
          </a:solidFill>
          <a:ln w="12700">
            <a:solidFill>
              <a:srgbClr val="D5D8DC"/>
            </a:solidFill>
            <a:prstDash val="solid"/>
          </a:ln>
        </p:spPr>
      </p:sp>
      <p:sp>
        <p:nvSpPr>
          <p:cNvPr id="25" name="Shape 23"/>
          <p:cNvSpPr/>
          <p:nvPr/>
        </p:nvSpPr>
        <p:spPr>
          <a:xfrm>
            <a:off x="731521" y="3102130"/>
            <a:ext cx="211756" cy="325581"/>
          </a:xfrm>
          <a:prstGeom prst="line">
            <a:avLst/>
          </a:prstGeom>
          <a:solidFill>
            <a:srgbClr val="1C2833"/>
          </a:solidFill>
          <a:ln/>
        </p:spPr>
      </p:sp>
      <p:sp>
        <p:nvSpPr>
          <p:cNvPr id="27" name="Text 25"/>
          <p:cNvSpPr/>
          <p:nvPr/>
        </p:nvSpPr>
        <p:spPr>
          <a:xfrm>
            <a:off x="686316" y="2977630"/>
            <a:ext cx="2846328" cy="320040"/>
          </a:xfrm>
          <a:prstGeom prst="rect">
            <a:avLst/>
          </a:prstGeom>
          <a:noFill/>
          <a:ln/>
        </p:spPr>
        <p:txBody>
          <a:bodyPr wrap="square" lIns="0" tIns="0" rIns="0" bIns="0" rtlCol="0" anchor="ctr"/>
          <a:lstStyle/>
          <a:p>
            <a:pPr marL="0" indent="0">
              <a:buNone/>
            </a:pPr>
            <a:r>
              <a:rPr lang="en-US" sz="1400" b="1" dirty="0">
                <a:solidFill>
                  <a:srgbClr val="1C2833"/>
                </a:solidFill>
                <a:latin typeface="Calibri" pitchFamily="34" charset="0"/>
                <a:ea typeface="Calibri" pitchFamily="34" charset="-122"/>
                <a:cs typeface="Calibri" pitchFamily="34" charset="-120"/>
              </a:rPr>
              <a:t>State-of-the-art results</a:t>
            </a:r>
            <a:endParaRPr lang="en-US" sz="1400" dirty="0"/>
          </a:p>
        </p:txBody>
      </p:sp>
      <p:sp>
        <p:nvSpPr>
          <p:cNvPr id="28" name="Text 26"/>
          <p:cNvSpPr/>
          <p:nvPr/>
        </p:nvSpPr>
        <p:spPr>
          <a:xfrm>
            <a:off x="686316" y="3142307"/>
            <a:ext cx="2846328" cy="570808"/>
          </a:xfrm>
          <a:prstGeom prst="rect">
            <a:avLst/>
          </a:prstGeom>
          <a:noFill/>
          <a:ln/>
        </p:spPr>
        <p:txBody>
          <a:bodyPr wrap="square" lIns="0" tIns="0" rIns="0" bIns="0" rtlCol="0" anchor="ctr"/>
          <a:lstStyle/>
          <a:p>
            <a:pPr marL="0" indent="0">
              <a:lnSpc>
                <a:spcPct val="115000"/>
              </a:lnSpc>
              <a:buNone/>
            </a:pPr>
            <a:r>
              <a:rPr lang="en-US" sz="1150" dirty="0">
                <a:latin typeface="Calibri" pitchFamily="34" charset="0"/>
                <a:ea typeface="Calibri" pitchFamily="34" charset="-122"/>
                <a:cs typeface="Calibri" pitchFamily="34" charset="-120"/>
              </a:rPr>
              <a:t>New SOTA BLEU scores at a fraction of prior training cost.</a:t>
            </a:r>
            <a:endParaRPr lang="en-US" sz="1150" dirty="0"/>
          </a:p>
        </p:txBody>
      </p:sp>
      <p:sp>
        <p:nvSpPr>
          <p:cNvPr id="29" name="Shape 27"/>
          <p:cNvSpPr/>
          <p:nvPr/>
        </p:nvSpPr>
        <p:spPr>
          <a:xfrm>
            <a:off x="548640" y="5459790"/>
            <a:ext cx="3465095" cy="751010"/>
          </a:xfrm>
          <a:prstGeom prst="roundRect">
            <a:avLst>
              <a:gd name="adj" fmla="val 3871"/>
            </a:avLst>
          </a:prstGeom>
          <a:solidFill>
            <a:srgbClr val="FDF2E3"/>
          </a:solidFill>
          <a:ln w="12700">
            <a:solidFill>
              <a:srgbClr val="D68910"/>
            </a:solidFill>
            <a:prstDash val="solid"/>
          </a:ln>
        </p:spPr>
      </p:sp>
      <p:sp>
        <p:nvSpPr>
          <p:cNvPr id="30" name="Shape 28"/>
          <p:cNvSpPr/>
          <p:nvPr/>
        </p:nvSpPr>
        <p:spPr>
          <a:xfrm>
            <a:off x="6228576" y="4673376"/>
            <a:ext cx="309383" cy="242261"/>
          </a:xfrm>
          <a:prstGeom prst="line">
            <a:avLst/>
          </a:prstGeom>
          <a:solidFill>
            <a:srgbClr val="1C2833"/>
          </a:solidFill>
          <a:ln/>
        </p:spPr>
      </p:sp>
      <p:sp>
        <p:nvSpPr>
          <p:cNvPr id="32" name="Text 30"/>
          <p:cNvSpPr/>
          <p:nvPr/>
        </p:nvSpPr>
        <p:spPr>
          <a:xfrm>
            <a:off x="707627" y="5583310"/>
            <a:ext cx="2846328" cy="169583"/>
          </a:xfrm>
          <a:prstGeom prst="rect">
            <a:avLst/>
          </a:prstGeom>
          <a:noFill/>
          <a:ln/>
        </p:spPr>
        <p:txBody>
          <a:bodyPr wrap="square" lIns="0" tIns="0" rIns="0" bIns="0" rtlCol="0" anchor="ctr"/>
          <a:lstStyle/>
          <a:p>
            <a:pPr marL="0" indent="0">
              <a:buNone/>
            </a:pPr>
            <a:r>
              <a:rPr lang="en-US" sz="1400" b="1" dirty="0">
                <a:solidFill>
                  <a:srgbClr val="1C2833"/>
                </a:solidFill>
                <a:latin typeface="Calibri" pitchFamily="34" charset="0"/>
                <a:ea typeface="Calibri" pitchFamily="34" charset="-122"/>
                <a:cs typeface="Calibri" pitchFamily="34" charset="-120"/>
              </a:rPr>
              <a:t>Foundation of modern AI</a:t>
            </a:r>
            <a:endParaRPr lang="en-US" sz="1400" dirty="0"/>
          </a:p>
        </p:txBody>
      </p:sp>
      <p:sp>
        <p:nvSpPr>
          <p:cNvPr id="33" name="Text 31"/>
          <p:cNvSpPr/>
          <p:nvPr/>
        </p:nvSpPr>
        <p:spPr>
          <a:xfrm>
            <a:off x="707627" y="5785648"/>
            <a:ext cx="2846328" cy="436070"/>
          </a:xfrm>
          <a:prstGeom prst="rect">
            <a:avLst/>
          </a:prstGeom>
          <a:noFill/>
          <a:ln/>
        </p:spPr>
        <p:txBody>
          <a:bodyPr wrap="square" lIns="0" tIns="0" rIns="0" bIns="0" rtlCol="0" anchor="ctr"/>
          <a:lstStyle/>
          <a:p>
            <a:pPr marL="0" indent="0">
              <a:lnSpc>
                <a:spcPct val="115000"/>
              </a:lnSpc>
              <a:buNone/>
            </a:pPr>
            <a:r>
              <a:rPr lang="en-US" sz="1150" dirty="0">
                <a:latin typeface="Calibri" pitchFamily="34" charset="0"/>
                <a:ea typeface="Calibri" pitchFamily="34" charset="-122"/>
                <a:cs typeface="Calibri" pitchFamily="34" charset="-120"/>
              </a:rPr>
              <a:t>Basis for BERT, GPT, Vision Transformers, CLIP, and SAM.</a:t>
            </a:r>
            <a:endParaRPr lang="en-US" sz="1150" dirty="0"/>
          </a:p>
        </p:txBody>
      </p:sp>
      <p:pic>
        <p:nvPicPr>
          <p:cNvPr id="35" name="Picture 34" descr="Create meme &quot;Schwarzenegger shakes hands, arnold schwarzenegger ...">
            <a:extLst>
              <a:ext uri="{FF2B5EF4-FFF2-40B4-BE49-F238E27FC236}">
                <a16:creationId xmlns:a16="http://schemas.microsoft.com/office/drawing/2014/main" id="{9102AC72-07CE-3522-91E4-C7C949109B31}"/>
              </a:ext>
            </a:extLst>
          </p:cNvPr>
          <p:cNvPicPr>
            <a:picLocks noChangeAspect="1"/>
          </p:cNvPicPr>
          <p:nvPr/>
        </p:nvPicPr>
        <p:blipFill>
          <a:blip r:embed="rId3"/>
          <a:stretch>
            <a:fillRect/>
          </a:stretch>
        </p:blipFill>
        <p:spPr>
          <a:xfrm>
            <a:off x="2716962" y="53494"/>
            <a:ext cx="2326676" cy="1090038"/>
          </a:xfrm>
          <a:prstGeom prst="rect">
            <a:avLst/>
          </a:prstGeom>
        </p:spPr>
      </p:pic>
      <p:sp>
        <p:nvSpPr>
          <p:cNvPr id="38" name="TextBox 37">
            <a:extLst>
              <a:ext uri="{FF2B5EF4-FFF2-40B4-BE49-F238E27FC236}">
                <a16:creationId xmlns:a16="http://schemas.microsoft.com/office/drawing/2014/main" id="{EC4712F2-D06B-2491-A639-ACE457B83B72}"/>
              </a:ext>
            </a:extLst>
          </p:cNvPr>
          <p:cNvSpPr txBox="1"/>
          <p:nvPr/>
        </p:nvSpPr>
        <p:spPr>
          <a:xfrm>
            <a:off x="2685449" y="652040"/>
            <a:ext cx="1400475" cy="523220"/>
          </a:xfrm>
          <a:prstGeom prst="rect">
            <a:avLst/>
          </a:prstGeom>
          <a:noFill/>
        </p:spPr>
        <p:txBody>
          <a:bodyPr wrap="square">
            <a:spAutoFit/>
          </a:bodyPr>
          <a:lstStyle/>
          <a:p>
            <a:r>
              <a:rPr lang="en-IN" sz="1400" dirty="0"/>
              <a:t>Parallel</a:t>
            </a:r>
            <a:r>
              <a:rPr lang="en-IN" sz="1400" dirty="0">
                <a:solidFill>
                  <a:schemeClr val="bg1"/>
                </a:solidFill>
              </a:rPr>
              <a:t> Processing</a:t>
            </a:r>
          </a:p>
        </p:txBody>
      </p:sp>
      <p:sp>
        <p:nvSpPr>
          <p:cNvPr id="40" name="TextBox 39">
            <a:extLst>
              <a:ext uri="{FF2B5EF4-FFF2-40B4-BE49-F238E27FC236}">
                <a16:creationId xmlns:a16="http://schemas.microsoft.com/office/drawing/2014/main" id="{07001FD5-269A-A13E-0496-D1B59FA9F108}"/>
              </a:ext>
            </a:extLst>
          </p:cNvPr>
          <p:cNvSpPr txBox="1"/>
          <p:nvPr/>
        </p:nvSpPr>
        <p:spPr>
          <a:xfrm>
            <a:off x="3880300" y="142215"/>
            <a:ext cx="1316511" cy="523220"/>
          </a:xfrm>
          <a:prstGeom prst="rect">
            <a:avLst/>
          </a:prstGeom>
          <a:noFill/>
        </p:spPr>
        <p:txBody>
          <a:bodyPr wrap="square">
            <a:spAutoFit/>
          </a:bodyPr>
          <a:lstStyle/>
          <a:p>
            <a:r>
              <a:rPr lang="en-IN" sz="1400" dirty="0">
                <a:solidFill>
                  <a:schemeClr val="bg1"/>
                </a:solidFill>
              </a:rPr>
              <a:t>Long-range Dependencies</a:t>
            </a:r>
          </a:p>
        </p:txBody>
      </p:sp>
      <p:sp>
        <p:nvSpPr>
          <p:cNvPr id="42" name="Shape 7">
            <a:extLst>
              <a:ext uri="{FF2B5EF4-FFF2-40B4-BE49-F238E27FC236}">
                <a16:creationId xmlns:a16="http://schemas.microsoft.com/office/drawing/2014/main" id="{2088FA98-6E1A-E54A-F397-1F15D60965A2}"/>
              </a:ext>
            </a:extLst>
          </p:cNvPr>
          <p:cNvSpPr/>
          <p:nvPr/>
        </p:nvSpPr>
        <p:spPr>
          <a:xfrm>
            <a:off x="7901654" y="2932733"/>
            <a:ext cx="3465095" cy="751010"/>
          </a:xfrm>
          <a:prstGeom prst="roundRect">
            <a:avLst>
              <a:gd name="adj" fmla="val 3871"/>
            </a:avLst>
          </a:prstGeom>
          <a:solidFill>
            <a:srgbClr val="FAFAFA"/>
          </a:solidFill>
          <a:ln w="12700">
            <a:solidFill>
              <a:srgbClr val="D5D8DC"/>
            </a:solidFill>
            <a:prstDash val="solid"/>
          </a:ln>
        </p:spPr>
      </p:sp>
      <p:sp>
        <p:nvSpPr>
          <p:cNvPr id="44" name="Shape 8">
            <a:extLst>
              <a:ext uri="{FF2B5EF4-FFF2-40B4-BE49-F238E27FC236}">
                <a16:creationId xmlns:a16="http://schemas.microsoft.com/office/drawing/2014/main" id="{F444410F-681B-B646-271C-A655057B2DF5}"/>
              </a:ext>
            </a:extLst>
          </p:cNvPr>
          <p:cNvSpPr/>
          <p:nvPr/>
        </p:nvSpPr>
        <p:spPr>
          <a:xfrm>
            <a:off x="8084534" y="3115613"/>
            <a:ext cx="309383" cy="457200"/>
          </a:xfrm>
          <a:prstGeom prst="line">
            <a:avLst/>
          </a:prstGeom>
          <a:solidFill>
            <a:srgbClr val="1C2833"/>
          </a:solidFill>
          <a:ln/>
        </p:spPr>
      </p:sp>
      <p:sp>
        <p:nvSpPr>
          <p:cNvPr id="46" name="Text 10">
            <a:extLst>
              <a:ext uri="{FF2B5EF4-FFF2-40B4-BE49-F238E27FC236}">
                <a16:creationId xmlns:a16="http://schemas.microsoft.com/office/drawing/2014/main" id="{0631EDBB-7699-8EE8-0310-B5B1B28F93DE}"/>
              </a:ext>
            </a:extLst>
          </p:cNvPr>
          <p:cNvSpPr/>
          <p:nvPr/>
        </p:nvSpPr>
        <p:spPr>
          <a:xfrm>
            <a:off x="8039330" y="2982650"/>
            <a:ext cx="2846328" cy="320040"/>
          </a:xfrm>
          <a:prstGeom prst="rect">
            <a:avLst/>
          </a:prstGeom>
          <a:noFill/>
          <a:ln/>
        </p:spPr>
        <p:txBody>
          <a:bodyPr wrap="square" lIns="0" tIns="0" rIns="0" bIns="0" rtlCol="0" anchor="ctr"/>
          <a:lstStyle/>
          <a:p>
            <a:r>
              <a:rPr lang="en-US" sz="1400" b="1" dirty="0">
                <a:solidFill>
                  <a:srgbClr val="1C2833"/>
                </a:solidFill>
                <a:latin typeface="Calibri" pitchFamily="34" charset="0"/>
                <a:ea typeface="Calibri" pitchFamily="34" charset="-122"/>
                <a:cs typeface="Calibri" pitchFamily="34" charset="-120"/>
              </a:rPr>
              <a:t>Needs large datasets</a:t>
            </a:r>
            <a:endParaRPr lang="en-US" sz="1400" dirty="0"/>
          </a:p>
          <a:p>
            <a:pPr marL="0" indent="0">
              <a:buNone/>
            </a:pPr>
            <a:endParaRPr lang="en-US" sz="1400" dirty="0"/>
          </a:p>
        </p:txBody>
      </p:sp>
      <p:sp>
        <p:nvSpPr>
          <p:cNvPr id="48" name="Text 11">
            <a:extLst>
              <a:ext uri="{FF2B5EF4-FFF2-40B4-BE49-F238E27FC236}">
                <a16:creationId xmlns:a16="http://schemas.microsoft.com/office/drawing/2014/main" id="{1988DF27-C655-D003-8715-1C75E94E1B37}"/>
              </a:ext>
            </a:extLst>
          </p:cNvPr>
          <p:cNvSpPr/>
          <p:nvPr/>
        </p:nvSpPr>
        <p:spPr>
          <a:xfrm>
            <a:off x="8039330" y="3228193"/>
            <a:ext cx="2846328" cy="488652"/>
          </a:xfrm>
          <a:prstGeom prst="rect">
            <a:avLst/>
          </a:prstGeom>
          <a:noFill/>
          <a:ln/>
        </p:spPr>
        <p:txBody>
          <a:bodyPr wrap="square" lIns="0" tIns="0" rIns="0" bIns="0" rtlCol="0" anchor="ctr"/>
          <a:lstStyle/>
          <a:p>
            <a:pPr>
              <a:lnSpc>
                <a:spcPct val="115000"/>
              </a:lnSpc>
            </a:pPr>
            <a:r>
              <a:rPr lang="en-US" sz="1200" dirty="0">
                <a:latin typeface="Calibri" pitchFamily="34" charset="0"/>
                <a:ea typeface="Calibri" pitchFamily="34" charset="-122"/>
                <a:cs typeface="Calibri" pitchFamily="34" charset="-120"/>
              </a:rPr>
              <a:t>With less inductive bias, it needs more data to learn patterns CNNs get for free.</a:t>
            </a:r>
            <a:endParaRPr lang="en-US" sz="1200" dirty="0"/>
          </a:p>
          <a:p>
            <a:pPr marL="0" indent="0">
              <a:lnSpc>
                <a:spcPct val="115000"/>
              </a:lnSpc>
              <a:buNone/>
            </a:pPr>
            <a:endParaRPr lang="en-US" sz="1150" dirty="0"/>
          </a:p>
        </p:txBody>
      </p:sp>
      <p:sp>
        <p:nvSpPr>
          <p:cNvPr id="50" name="Shape 12">
            <a:extLst>
              <a:ext uri="{FF2B5EF4-FFF2-40B4-BE49-F238E27FC236}">
                <a16:creationId xmlns:a16="http://schemas.microsoft.com/office/drawing/2014/main" id="{69A515CD-7B9D-A927-07DA-3EDAD39D9221}"/>
              </a:ext>
            </a:extLst>
          </p:cNvPr>
          <p:cNvSpPr/>
          <p:nvPr/>
        </p:nvSpPr>
        <p:spPr>
          <a:xfrm>
            <a:off x="7901654" y="1234440"/>
            <a:ext cx="3465095" cy="731520"/>
          </a:xfrm>
          <a:prstGeom prst="roundRect">
            <a:avLst>
              <a:gd name="adj" fmla="val 3871"/>
            </a:avLst>
          </a:prstGeom>
          <a:solidFill>
            <a:srgbClr val="FAFAFA"/>
          </a:solidFill>
          <a:ln w="12700">
            <a:solidFill>
              <a:srgbClr val="D5D8DC"/>
            </a:solidFill>
            <a:prstDash val="solid"/>
          </a:ln>
        </p:spPr>
      </p:sp>
      <p:sp>
        <p:nvSpPr>
          <p:cNvPr id="52" name="Shape 13">
            <a:extLst>
              <a:ext uri="{FF2B5EF4-FFF2-40B4-BE49-F238E27FC236}">
                <a16:creationId xmlns:a16="http://schemas.microsoft.com/office/drawing/2014/main" id="{B6AEF428-D292-C261-B153-11B8D0977332}"/>
              </a:ext>
            </a:extLst>
          </p:cNvPr>
          <p:cNvSpPr/>
          <p:nvPr/>
        </p:nvSpPr>
        <p:spPr>
          <a:xfrm>
            <a:off x="8084534" y="2350489"/>
            <a:ext cx="309383" cy="235974"/>
          </a:xfrm>
          <a:prstGeom prst="line">
            <a:avLst/>
          </a:prstGeom>
          <a:solidFill>
            <a:srgbClr val="1C2833"/>
          </a:solidFill>
          <a:ln/>
        </p:spPr>
      </p:sp>
      <p:sp>
        <p:nvSpPr>
          <p:cNvPr id="54" name="Text 15">
            <a:extLst>
              <a:ext uri="{FF2B5EF4-FFF2-40B4-BE49-F238E27FC236}">
                <a16:creationId xmlns:a16="http://schemas.microsoft.com/office/drawing/2014/main" id="{98C27D38-9977-C564-F6A7-ABA396C4DF18}"/>
              </a:ext>
            </a:extLst>
          </p:cNvPr>
          <p:cNvSpPr/>
          <p:nvPr/>
        </p:nvSpPr>
        <p:spPr>
          <a:xfrm>
            <a:off x="8084534" y="1293619"/>
            <a:ext cx="2846328" cy="330178"/>
          </a:xfrm>
          <a:prstGeom prst="rect">
            <a:avLst/>
          </a:prstGeom>
          <a:noFill/>
          <a:ln/>
        </p:spPr>
        <p:txBody>
          <a:bodyPr wrap="square" lIns="0" tIns="0" rIns="0" bIns="0" rtlCol="0" anchor="ctr"/>
          <a:lstStyle/>
          <a:p>
            <a:r>
              <a:rPr lang="en-US" sz="1400" b="1" dirty="0">
                <a:solidFill>
                  <a:srgbClr val="1C2833"/>
                </a:solidFill>
                <a:latin typeface="Calibri" pitchFamily="34" charset="0"/>
                <a:ea typeface="Calibri" pitchFamily="34" charset="-122"/>
                <a:cs typeface="Calibri" pitchFamily="34" charset="-120"/>
              </a:rPr>
              <a:t>Quadratic complexity</a:t>
            </a:r>
            <a:endParaRPr lang="en-US" sz="1400" dirty="0"/>
          </a:p>
          <a:p>
            <a:pPr marL="0" indent="0">
              <a:buNone/>
            </a:pPr>
            <a:endParaRPr lang="en-US" sz="1400" dirty="0"/>
          </a:p>
        </p:txBody>
      </p:sp>
      <p:sp>
        <p:nvSpPr>
          <p:cNvPr id="56" name="Text 16">
            <a:extLst>
              <a:ext uri="{FF2B5EF4-FFF2-40B4-BE49-F238E27FC236}">
                <a16:creationId xmlns:a16="http://schemas.microsoft.com/office/drawing/2014/main" id="{BF023571-7F95-D84C-4F66-C175DD4D8813}"/>
              </a:ext>
            </a:extLst>
          </p:cNvPr>
          <p:cNvSpPr/>
          <p:nvPr/>
        </p:nvSpPr>
        <p:spPr>
          <a:xfrm>
            <a:off x="8084534" y="1566243"/>
            <a:ext cx="2846328" cy="424754"/>
          </a:xfrm>
          <a:prstGeom prst="rect">
            <a:avLst/>
          </a:prstGeom>
          <a:noFill/>
          <a:ln/>
        </p:spPr>
        <p:txBody>
          <a:bodyPr wrap="square" lIns="0" tIns="0" rIns="0" bIns="0" rtlCol="0" anchor="ctr"/>
          <a:lstStyle/>
          <a:p>
            <a:pPr>
              <a:lnSpc>
                <a:spcPct val="115000"/>
              </a:lnSpc>
            </a:pPr>
            <a:r>
              <a:rPr lang="en-US" sz="1200" dirty="0">
                <a:latin typeface="Calibri" pitchFamily="34" charset="0"/>
                <a:ea typeface="Calibri" pitchFamily="34" charset="-122"/>
                <a:cs typeface="Calibri" pitchFamily="34" charset="-120"/>
              </a:rPr>
              <a:t>Self-attention costs O(n²·d) — doubling sequence length quadruples the compute.</a:t>
            </a:r>
            <a:endParaRPr lang="en-US" sz="1200" dirty="0"/>
          </a:p>
          <a:p>
            <a:pPr marL="0" indent="0">
              <a:lnSpc>
                <a:spcPct val="115000"/>
              </a:lnSpc>
              <a:buNone/>
            </a:pPr>
            <a:endParaRPr lang="en-US" sz="1150" dirty="0"/>
          </a:p>
        </p:txBody>
      </p:sp>
      <p:sp>
        <p:nvSpPr>
          <p:cNvPr id="58" name="Shape 17">
            <a:extLst>
              <a:ext uri="{FF2B5EF4-FFF2-40B4-BE49-F238E27FC236}">
                <a16:creationId xmlns:a16="http://schemas.microsoft.com/office/drawing/2014/main" id="{3421CBD1-EC39-1A91-6456-3243E09F15EA}"/>
              </a:ext>
            </a:extLst>
          </p:cNvPr>
          <p:cNvSpPr/>
          <p:nvPr/>
        </p:nvSpPr>
        <p:spPr>
          <a:xfrm>
            <a:off x="7901654" y="3774993"/>
            <a:ext cx="3465095" cy="751010"/>
          </a:xfrm>
          <a:prstGeom prst="roundRect">
            <a:avLst>
              <a:gd name="adj" fmla="val 3871"/>
            </a:avLst>
          </a:prstGeom>
          <a:solidFill>
            <a:srgbClr val="FAFAFA"/>
          </a:solidFill>
          <a:ln w="12700">
            <a:solidFill>
              <a:srgbClr val="D5D8DC"/>
            </a:solidFill>
            <a:prstDash val="solid"/>
          </a:ln>
        </p:spPr>
      </p:sp>
      <p:sp>
        <p:nvSpPr>
          <p:cNvPr id="60" name="Text 20">
            <a:extLst>
              <a:ext uri="{FF2B5EF4-FFF2-40B4-BE49-F238E27FC236}">
                <a16:creationId xmlns:a16="http://schemas.microsoft.com/office/drawing/2014/main" id="{EA6B9354-92E3-7404-2F2F-137F21391021}"/>
              </a:ext>
            </a:extLst>
          </p:cNvPr>
          <p:cNvSpPr/>
          <p:nvPr/>
        </p:nvSpPr>
        <p:spPr>
          <a:xfrm>
            <a:off x="8039330" y="3832964"/>
            <a:ext cx="2846328" cy="320040"/>
          </a:xfrm>
          <a:prstGeom prst="rect">
            <a:avLst/>
          </a:prstGeom>
          <a:noFill/>
          <a:ln/>
        </p:spPr>
        <p:txBody>
          <a:bodyPr wrap="square" lIns="0" tIns="0" rIns="0" bIns="0" rtlCol="0" anchor="ctr"/>
          <a:lstStyle/>
          <a:p>
            <a:r>
              <a:rPr lang="en-US" sz="1400" b="1" dirty="0">
                <a:solidFill>
                  <a:srgbClr val="1C2833"/>
                </a:solidFill>
                <a:latin typeface="Calibri" pitchFamily="34" charset="0"/>
                <a:ea typeface="Calibri" pitchFamily="34" charset="-122"/>
                <a:cs typeface="Calibri" pitchFamily="34" charset="-120"/>
              </a:rPr>
              <a:t>Weak inductive bias vs. CNNs</a:t>
            </a:r>
            <a:endParaRPr lang="en-US" sz="1400" dirty="0"/>
          </a:p>
          <a:p>
            <a:pPr marL="0" indent="0">
              <a:buNone/>
            </a:pPr>
            <a:endParaRPr lang="en-US" sz="1400" dirty="0"/>
          </a:p>
        </p:txBody>
      </p:sp>
      <p:sp>
        <p:nvSpPr>
          <p:cNvPr id="62" name="Text 21">
            <a:extLst>
              <a:ext uri="{FF2B5EF4-FFF2-40B4-BE49-F238E27FC236}">
                <a16:creationId xmlns:a16="http://schemas.microsoft.com/office/drawing/2014/main" id="{92C170AD-5FE0-65E5-82CE-512E67B825B8}"/>
              </a:ext>
            </a:extLst>
          </p:cNvPr>
          <p:cNvSpPr/>
          <p:nvPr/>
        </p:nvSpPr>
        <p:spPr>
          <a:xfrm>
            <a:off x="8039330" y="4086382"/>
            <a:ext cx="2846328" cy="480797"/>
          </a:xfrm>
          <a:prstGeom prst="rect">
            <a:avLst/>
          </a:prstGeom>
          <a:noFill/>
          <a:ln/>
        </p:spPr>
        <p:txBody>
          <a:bodyPr wrap="square" lIns="0" tIns="0" rIns="0" bIns="0" rtlCol="0" anchor="ctr"/>
          <a:lstStyle/>
          <a:p>
            <a:pPr>
              <a:lnSpc>
                <a:spcPct val="115000"/>
              </a:lnSpc>
            </a:pPr>
            <a:r>
              <a:rPr lang="en-US" sz="1200" dirty="0">
                <a:latin typeface="Calibri" pitchFamily="34" charset="0"/>
                <a:ea typeface="Calibri" pitchFamily="34" charset="-122"/>
                <a:cs typeface="Calibri" pitchFamily="34" charset="-120"/>
              </a:rPr>
              <a:t>No built-in notion of locality or translation invariance — must be learned.</a:t>
            </a:r>
            <a:endParaRPr lang="en-US" sz="1200" dirty="0"/>
          </a:p>
          <a:p>
            <a:pPr marL="0" indent="0">
              <a:lnSpc>
                <a:spcPct val="115000"/>
              </a:lnSpc>
              <a:buNone/>
            </a:pPr>
            <a:endParaRPr lang="en-US" sz="1150" dirty="0"/>
          </a:p>
        </p:txBody>
      </p:sp>
      <p:sp>
        <p:nvSpPr>
          <p:cNvPr id="64" name="Shape 22">
            <a:extLst>
              <a:ext uri="{FF2B5EF4-FFF2-40B4-BE49-F238E27FC236}">
                <a16:creationId xmlns:a16="http://schemas.microsoft.com/office/drawing/2014/main" id="{C0C5C43F-EDCD-61C1-4743-CB66CD030DDC}"/>
              </a:ext>
            </a:extLst>
          </p:cNvPr>
          <p:cNvSpPr/>
          <p:nvPr/>
        </p:nvSpPr>
        <p:spPr>
          <a:xfrm>
            <a:off x="7901654" y="2076713"/>
            <a:ext cx="3465095" cy="731520"/>
          </a:xfrm>
          <a:prstGeom prst="roundRect">
            <a:avLst>
              <a:gd name="adj" fmla="val 3871"/>
            </a:avLst>
          </a:prstGeom>
          <a:solidFill>
            <a:srgbClr val="FAFAFA"/>
          </a:solidFill>
          <a:ln w="12700">
            <a:solidFill>
              <a:srgbClr val="D5D8DC"/>
            </a:solidFill>
            <a:prstDash val="solid"/>
          </a:ln>
        </p:spPr>
      </p:sp>
      <p:sp>
        <p:nvSpPr>
          <p:cNvPr id="66" name="Shape 23">
            <a:extLst>
              <a:ext uri="{FF2B5EF4-FFF2-40B4-BE49-F238E27FC236}">
                <a16:creationId xmlns:a16="http://schemas.microsoft.com/office/drawing/2014/main" id="{129EA26C-897B-0E2D-975F-0E3107DE30D2}"/>
              </a:ext>
            </a:extLst>
          </p:cNvPr>
          <p:cNvSpPr/>
          <p:nvPr/>
        </p:nvSpPr>
        <p:spPr>
          <a:xfrm>
            <a:off x="8084535" y="2259593"/>
            <a:ext cx="211756" cy="325581"/>
          </a:xfrm>
          <a:prstGeom prst="line">
            <a:avLst/>
          </a:prstGeom>
          <a:solidFill>
            <a:srgbClr val="1C2833"/>
          </a:solidFill>
          <a:ln/>
        </p:spPr>
      </p:sp>
      <p:sp>
        <p:nvSpPr>
          <p:cNvPr id="68" name="Text 25">
            <a:extLst>
              <a:ext uri="{FF2B5EF4-FFF2-40B4-BE49-F238E27FC236}">
                <a16:creationId xmlns:a16="http://schemas.microsoft.com/office/drawing/2014/main" id="{26C2A9C4-8CAF-2DB9-BE9E-9BC87C43DD5C}"/>
              </a:ext>
            </a:extLst>
          </p:cNvPr>
          <p:cNvSpPr/>
          <p:nvPr/>
        </p:nvSpPr>
        <p:spPr>
          <a:xfrm>
            <a:off x="8039330" y="2135093"/>
            <a:ext cx="2846328" cy="320040"/>
          </a:xfrm>
          <a:prstGeom prst="rect">
            <a:avLst/>
          </a:prstGeom>
          <a:noFill/>
          <a:ln/>
        </p:spPr>
        <p:txBody>
          <a:bodyPr wrap="square" lIns="0" tIns="0" rIns="0" bIns="0" rtlCol="0" anchor="ctr"/>
          <a:lstStyle/>
          <a:p>
            <a:r>
              <a:rPr lang="en-US" sz="1400" b="1" dirty="0">
                <a:solidFill>
                  <a:srgbClr val="1C2833"/>
                </a:solidFill>
                <a:latin typeface="Calibri" pitchFamily="34" charset="0"/>
                <a:ea typeface="Calibri" pitchFamily="34" charset="-122"/>
                <a:cs typeface="Calibri" pitchFamily="34" charset="-120"/>
              </a:rPr>
              <a:t>Large memory consumption</a:t>
            </a:r>
            <a:endParaRPr lang="en-US" sz="1400" dirty="0"/>
          </a:p>
          <a:p>
            <a:pPr marL="0" indent="0">
              <a:buNone/>
            </a:pPr>
            <a:endParaRPr lang="en-US" sz="1400" dirty="0"/>
          </a:p>
        </p:txBody>
      </p:sp>
      <p:sp>
        <p:nvSpPr>
          <p:cNvPr id="70" name="Text 26">
            <a:extLst>
              <a:ext uri="{FF2B5EF4-FFF2-40B4-BE49-F238E27FC236}">
                <a16:creationId xmlns:a16="http://schemas.microsoft.com/office/drawing/2014/main" id="{6C1CC622-678B-2E70-78C7-828CB47131BF}"/>
              </a:ext>
            </a:extLst>
          </p:cNvPr>
          <p:cNvSpPr/>
          <p:nvPr/>
        </p:nvSpPr>
        <p:spPr>
          <a:xfrm>
            <a:off x="8039330" y="2299770"/>
            <a:ext cx="2846328" cy="570808"/>
          </a:xfrm>
          <a:prstGeom prst="rect">
            <a:avLst/>
          </a:prstGeom>
          <a:noFill/>
          <a:ln/>
        </p:spPr>
        <p:txBody>
          <a:bodyPr wrap="square" lIns="0" tIns="0" rIns="0" bIns="0" rtlCol="0" anchor="ctr"/>
          <a:lstStyle/>
          <a:p>
            <a:pPr>
              <a:lnSpc>
                <a:spcPct val="115000"/>
              </a:lnSpc>
            </a:pPr>
            <a:r>
              <a:rPr lang="en-US" sz="1200" dirty="0">
                <a:latin typeface="Calibri" pitchFamily="34" charset="0"/>
                <a:ea typeface="Calibri" pitchFamily="34" charset="-122"/>
                <a:cs typeface="Calibri" pitchFamily="34" charset="-120"/>
              </a:rPr>
              <a:t>The </a:t>
            </a:r>
            <a:r>
              <a:rPr lang="en-US" sz="1200" dirty="0" err="1">
                <a:latin typeface="Calibri" pitchFamily="34" charset="0"/>
                <a:ea typeface="Calibri" pitchFamily="34" charset="-122"/>
                <a:cs typeface="Calibri" pitchFamily="34" charset="-120"/>
              </a:rPr>
              <a:t>n×n</a:t>
            </a:r>
            <a:r>
              <a:rPr lang="en-US" sz="1200" dirty="0">
                <a:latin typeface="Calibri" pitchFamily="34" charset="0"/>
                <a:ea typeface="Calibri" pitchFamily="34" charset="-122"/>
                <a:cs typeface="Calibri" pitchFamily="34" charset="-120"/>
              </a:rPr>
              <a:t> attention matrix must be stored for every head, every layer.</a:t>
            </a:r>
            <a:endParaRPr lang="en-US" sz="1200" dirty="0"/>
          </a:p>
          <a:p>
            <a:pPr marL="0" indent="0">
              <a:lnSpc>
                <a:spcPct val="115000"/>
              </a:lnSpc>
              <a:buNone/>
            </a:pPr>
            <a:endParaRPr lang="en-US" sz="1150" dirty="0"/>
          </a:p>
        </p:txBody>
      </p:sp>
      <p:sp>
        <p:nvSpPr>
          <p:cNvPr id="72" name="Shape 27">
            <a:extLst>
              <a:ext uri="{FF2B5EF4-FFF2-40B4-BE49-F238E27FC236}">
                <a16:creationId xmlns:a16="http://schemas.microsoft.com/office/drawing/2014/main" id="{63828F00-2778-7AD0-7CCD-E324FEE52887}"/>
              </a:ext>
            </a:extLst>
          </p:cNvPr>
          <p:cNvSpPr/>
          <p:nvPr/>
        </p:nvSpPr>
        <p:spPr>
          <a:xfrm>
            <a:off x="7901654" y="4617253"/>
            <a:ext cx="3465095" cy="751010"/>
          </a:xfrm>
          <a:prstGeom prst="roundRect">
            <a:avLst>
              <a:gd name="adj" fmla="val 3871"/>
            </a:avLst>
          </a:prstGeom>
          <a:solidFill>
            <a:srgbClr val="FDF2E3"/>
          </a:solidFill>
          <a:ln w="12700">
            <a:solidFill>
              <a:srgbClr val="D68910"/>
            </a:solidFill>
            <a:prstDash val="solid"/>
          </a:ln>
        </p:spPr>
      </p:sp>
      <p:sp>
        <p:nvSpPr>
          <p:cNvPr id="74" name="Text 30">
            <a:extLst>
              <a:ext uri="{FF2B5EF4-FFF2-40B4-BE49-F238E27FC236}">
                <a16:creationId xmlns:a16="http://schemas.microsoft.com/office/drawing/2014/main" id="{4A15FFB5-DCE6-B642-2DC6-B34713774726}"/>
              </a:ext>
            </a:extLst>
          </p:cNvPr>
          <p:cNvSpPr/>
          <p:nvPr/>
        </p:nvSpPr>
        <p:spPr>
          <a:xfrm>
            <a:off x="8039330" y="4752475"/>
            <a:ext cx="2846328" cy="169583"/>
          </a:xfrm>
          <a:prstGeom prst="rect">
            <a:avLst/>
          </a:prstGeom>
          <a:noFill/>
          <a:ln/>
        </p:spPr>
        <p:txBody>
          <a:bodyPr wrap="square" lIns="0" tIns="0" rIns="0" bIns="0" rtlCol="0" anchor="ctr"/>
          <a:lstStyle/>
          <a:p>
            <a:r>
              <a:rPr lang="en-US" sz="1400" b="1" dirty="0">
                <a:solidFill>
                  <a:srgbClr val="1C2833"/>
                </a:solidFill>
                <a:latin typeface="Calibri" pitchFamily="34" charset="0"/>
                <a:ea typeface="Calibri" pitchFamily="34" charset="-122"/>
                <a:cs typeface="Calibri" pitchFamily="34" charset="-120"/>
              </a:rPr>
              <a:t>Computationally expensive</a:t>
            </a:r>
            <a:endParaRPr lang="en-US" sz="1400" dirty="0"/>
          </a:p>
          <a:p>
            <a:pPr marL="0" indent="0">
              <a:buNone/>
            </a:pPr>
            <a:endParaRPr lang="en-US" sz="1400" dirty="0"/>
          </a:p>
        </p:txBody>
      </p:sp>
      <p:sp>
        <p:nvSpPr>
          <p:cNvPr id="76" name="Text 31">
            <a:extLst>
              <a:ext uri="{FF2B5EF4-FFF2-40B4-BE49-F238E27FC236}">
                <a16:creationId xmlns:a16="http://schemas.microsoft.com/office/drawing/2014/main" id="{927CE862-A216-0B32-2106-05BC52DA2020}"/>
              </a:ext>
            </a:extLst>
          </p:cNvPr>
          <p:cNvSpPr/>
          <p:nvPr/>
        </p:nvSpPr>
        <p:spPr>
          <a:xfrm>
            <a:off x="8039330" y="4922058"/>
            <a:ext cx="2846328" cy="436070"/>
          </a:xfrm>
          <a:prstGeom prst="rect">
            <a:avLst/>
          </a:prstGeom>
          <a:noFill/>
          <a:ln/>
        </p:spPr>
        <p:txBody>
          <a:bodyPr wrap="square" lIns="0" tIns="0" rIns="0" bIns="0" rtlCol="0" anchor="ctr"/>
          <a:lstStyle/>
          <a:p>
            <a:pPr>
              <a:lnSpc>
                <a:spcPct val="115000"/>
              </a:lnSpc>
            </a:pPr>
            <a:r>
              <a:rPr lang="en-US" sz="1200" dirty="0">
                <a:latin typeface="Calibri" pitchFamily="34" charset="0"/>
                <a:ea typeface="Calibri" pitchFamily="34" charset="-122"/>
                <a:cs typeface="Calibri" pitchFamily="34" charset="-120"/>
              </a:rPr>
              <a:t>Training competitive models still requires serious GPU/TPU budgets.</a:t>
            </a:r>
            <a:endParaRPr lang="en-US" sz="1200" dirty="0"/>
          </a:p>
          <a:p>
            <a:pPr marL="0" indent="0">
              <a:lnSpc>
                <a:spcPct val="115000"/>
              </a:lnSpc>
              <a:buNone/>
            </a:pPr>
            <a:endParaRPr lang="en-US" sz="1150" dirty="0"/>
          </a:p>
        </p:txBody>
      </p:sp>
      <p:pic>
        <p:nvPicPr>
          <p:cNvPr id="78" name="Picture 77" descr="Empty wallet meme drawing | Empty pocket meme, Holding money meme, Meme ...">
            <a:extLst>
              <a:ext uri="{FF2B5EF4-FFF2-40B4-BE49-F238E27FC236}">
                <a16:creationId xmlns:a16="http://schemas.microsoft.com/office/drawing/2014/main" id="{BF52BE6E-23F9-A10B-9835-C08214E8F2D3}"/>
              </a:ext>
            </a:extLst>
          </p:cNvPr>
          <p:cNvPicPr>
            <a:picLocks noChangeAspect="1"/>
          </p:cNvPicPr>
          <p:nvPr/>
        </p:nvPicPr>
        <p:blipFill>
          <a:blip r:embed="rId4"/>
          <a:stretch>
            <a:fillRect/>
          </a:stretch>
        </p:blipFill>
        <p:spPr>
          <a:xfrm>
            <a:off x="7901654" y="5459513"/>
            <a:ext cx="1254500" cy="732628"/>
          </a:xfrm>
          <a:prstGeom prst="rect">
            <a:avLst/>
          </a:prstGeom>
        </p:spPr>
      </p:pic>
      <p:sp>
        <p:nvSpPr>
          <p:cNvPr id="80" name="TextBox 79">
            <a:extLst>
              <a:ext uri="{FF2B5EF4-FFF2-40B4-BE49-F238E27FC236}">
                <a16:creationId xmlns:a16="http://schemas.microsoft.com/office/drawing/2014/main" id="{9199F8A8-96A5-FF4E-CCFE-AAC0E0FAEC80}"/>
              </a:ext>
            </a:extLst>
          </p:cNvPr>
          <p:cNvSpPr txBox="1"/>
          <p:nvPr/>
        </p:nvSpPr>
        <p:spPr>
          <a:xfrm>
            <a:off x="4151411" y="2591459"/>
            <a:ext cx="3952116" cy="1200329"/>
          </a:xfrm>
          <a:prstGeom prst="rect">
            <a:avLst/>
          </a:prstGeom>
          <a:noFill/>
        </p:spPr>
        <p:txBody>
          <a:bodyPr wrap="square">
            <a:spAutoFit/>
          </a:bodyPr>
          <a:lstStyle/>
          <a:p>
            <a:r>
              <a:rPr lang="en-IN" dirty="0"/>
              <a:t>Like every breakthrough, the Transformer trades simplicity and scalability for higher computational cost.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ext 0"/>
          <p:cNvSpPr/>
          <p:nvPr/>
        </p:nvSpPr>
        <p:spPr>
          <a:xfrm>
            <a:off x="548640" y="640080"/>
            <a:ext cx="7315200" cy="365760"/>
          </a:xfrm>
          <a:prstGeom prst="rect">
            <a:avLst/>
          </a:prstGeom>
          <a:noFill/>
          <a:ln/>
        </p:spPr>
        <p:txBody>
          <a:bodyPr wrap="square" lIns="0" tIns="0" rIns="0" bIns="0" rtlCol="0" anchor="ctr"/>
          <a:lstStyle/>
          <a:p>
            <a:pPr marL="0" indent="0">
              <a:buNone/>
            </a:pPr>
            <a:r>
              <a:rPr lang="en-US" sz="1300" b="1" kern="0" spc="200" dirty="0">
                <a:solidFill>
                  <a:srgbClr val="D68910"/>
                </a:solidFill>
                <a:latin typeface="Calibri" pitchFamily="34" charset="0"/>
                <a:ea typeface="Calibri" pitchFamily="34" charset="-122"/>
                <a:cs typeface="Calibri" pitchFamily="34" charset="-120"/>
              </a:rPr>
              <a:t>KEY TAKEAWAYS</a:t>
            </a:r>
            <a:endParaRPr lang="en-US" sz="1300" dirty="0"/>
          </a:p>
        </p:txBody>
      </p:sp>
      <p:sp>
        <p:nvSpPr>
          <p:cNvPr id="3" name="Text 1"/>
          <p:cNvSpPr/>
          <p:nvPr/>
        </p:nvSpPr>
        <p:spPr>
          <a:xfrm>
            <a:off x="548640" y="1005840"/>
            <a:ext cx="100584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this paper changed AI forever</a:t>
            </a:r>
            <a:endParaRPr lang="en-US" sz="3200" dirty="0"/>
          </a:p>
        </p:txBody>
      </p:sp>
      <p:sp>
        <p:nvSpPr>
          <p:cNvPr id="4" name="Shape 2"/>
          <p:cNvSpPr/>
          <p:nvPr/>
        </p:nvSpPr>
        <p:spPr>
          <a:xfrm>
            <a:off x="548640" y="2084832"/>
            <a:ext cx="128016" cy="128016"/>
          </a:xfrm>
          <a:prstGeom prst="line">
            <a:avLst/>
          </a:prstGeom>
          <a:solidFill>
            <a:srgbClr val="D68910"/>
          </a:solidFill>
          <a:ln/>
        </p:spPr>
      </p:sp>
      <p:sp>
        <p:nvSpPr>
          <p:cNvPr id="5" name="Text 3"/>
          <p:cNvSpPr/>
          <p:nvPr/>
        </p:nvSpPr>
        <p:spPr>
          <a:xfrm>
            <a:off x="868680" y="1929384"/>
            <a:ext cx="10241280" cy="548640"/>
          </a:xfrm>
          <a:prstGeom prst="rect">
            <a:avLst/>
          </a:prstGeom>
          <a:noFill/>
          <a:ln/>
        </p:spPr>
        <p:txBody>
          <a:bodyPr wrap="square" lIns="0" tIns="0" rIns="0" bIns="0" rtlCol="0" anchor="ctr"/>
          <a:lstStyle/>
          <a:p>
            <a:pPr marL="0" indent="0">
              <a:lnSpc>
                <a:spcPct val="115000"/>
              </a:lnSpc>
              <a:buNone/>
            </a:pPr>
            <a:r>
              <a:rPr lang="en-US" sz="1450" b="1" dirty="0">
                <a:solidFill>
                  <a:schemeClr val="bg1"/>
                </a:solidFill>
                <a:latin typeface="Calibri" pitchFamily="34" charset="0"/>
                <a:ea typeface="Calibri" pitchFamily="34" charset="-122"/>
                <a:cs typeface="Calibri" pitchFamily="34" charset="-120"/>
              </a:rPr>
              <a:t>Replaced recurrence with attention — </a:t>
            </a:r>
            <a:r>
              <a:rPr lang="en-US" sz="1450" dirty="0">
                <a:solidFill>
                  <a:schemeClr val="bg1"/>
                </a:solidFill>
                <a:latin typeface="Calibri" pitchFamily="34" charset="0"/>
                <a:ea typeface="Calibri" pitchFamily="34" charset="-122"/>
                <a:cs typeface="Calibri" pitchFamily="34" charset="-120"/>
              </a:rPr>
              <a:t>and made sequence models fully parallelizable and far faster to train.</a:t>
            </a:r>
            <a:endParaRPr lang="en-US" sz="1450" dirty="0">
              <a:solidFill>
                <a:schemeClr val="bg1"/>
              </a:solidFill>
            </a:endParaRPr>
          </a:p>
        </p:txBody>
      </p:sp>
      <p:sp>
        <p:nvSpPr>
          <p:cNvPr id="6" name="Shape 4"/>
          <p:cNvSpPr/>
          <p:nvPr/>
        </p:nvSpPr>
        <p:spPr>
          <a:xfrm>
            <a:off x="548640" y="2743200"/>
            <a:ext cx="128016" cy="128016"/>
          </a:xfrm>
          <a:prstGeom prst="line">
            <a:avLst/>
          </a:prstGeom>
          <a:solidFill>
            <a:srgbClr val="D68910"/>
          </a:solidFill>
          <a:ln/>
        </p:spPr>
      </p:sp>
      <p:sp>
        <p:nvSpPr>
          <p:cNvPr id="7" name="Text 5"/>
          <p:cNvSpPr/>
          <p:nvPr/>
        </p:nvSpPr>
        <p:spPr>
          <a:xfrm>
            <a:off x="868680" y="2587752"/>
            <a:ext cx="10241280" cy="548640"/>
          </a:xfrm>
          <a:prstGeom prst="rect">
            <a:avLst/>
          </a:prstGeom>
          <a:noFill/>
          <a:ln/>
        </p:spPr>
        <p:txBody>
          <a:bodyPr wrap="square" lIns="0" tIns="0" rIns="0" bIns="0" rtlCol="0" anchor="ctr"/>
          <a:lstStyle/>
          <a:p>
            <a:pPr marL="0" indent="0">
              <a:lnSpc>
                <a:spcPct val="115000"/>
              </a:lnSpc>
              <a:buNone/>
            </a:pPr>
            <a:r>
              <a:rPr lang="en-US" sz="1450" b="1" dirty="0">
                <a:solidFill>
                  <a:schemeClr val="bg1"/>
                </a:solidFill>
                <a:latin typeface="Calibri" pitchFamily="34" charset="0"/>
                <a:ea typeface="Calibri" pitchFamily="34" charset="-122"/>
                <a:cs typeface="Calibri" pitchFamily="34" charset="-120"/>
              </a:rPr>
              <a:t>Introduced a general-purpose building block — </a:t>
            </a:r>
            <a:r>
              <a:rPr lang="en-US" sz="1450" dirty="0">
                <a:solidFill>
                  <a:schemeClr val="bg1"/>
                </a:solidFill>
                <a:latin typeface="Calibri" pitchFamily="34" charset="0"/>
                <a:ea typeface="Calibri" pitchFamily="34" charset="-122"/>
                <a:cs typeface="Calibri" pitchFamily="34" charset="-120"/>
              </a:rPr>
              <a:t>self-attention doesn't care if the input is text, image patches, or audio frames.</a:t>
            </a:r>
            <a:endParaRPr lang="en-US" sz="1450" dirty="0">
              <a:solidFill>
                <a:schemeClr val="bg1"/>
              </a:solidFill>
            </a:endParaRPr>
          </a:p>
        </p:txBody>
      </p:sp>
      <p:sp>
        <p:nvSpPr>
          <p:cNvPr id="8" name="Shape 6"/>
          <p:cNvSpPr/>
          <p:nvPr/>
        </p:nvSpPr>
        <p:spPr>
          <a:xfrm>
            <a:off x="548640" y="3401568"/>
            <a:ext cx="128016" cy="128016"/>
          </a:xfrm>
          <a:prstGeom prst="line">
            <a:avLst/>
          </a:prstGeom>
          <a:solidFill>
            <a:srgbClr val="D68910"/>
          </a:solidFill>
          <a:ln/>
        </p:spPr>
      </p:sp>
      <p:sp>
        <p:nvSpPr>
          <p:cNvPr id="9" name="Text 7"/>
          <p:cNvSpPr/>
          <p:nvPr/>
        </p:nvSpPr>
        <p:spPr>
          <a:xfrm>
            <a:off x="868680" y="3246120"/>
            <a:ext cx="10241280" cy="548640"/>
          </a:xfrm>
          <a:prstGeom prst="rect">
            <a:avLst/>
          </a:prstGeom>
          <a:noFill/>
          <a:ln/>
        </p:spPr>
        <p:txBody>
          <a:bodyPr wrap="square" lIns="0" tIns="0" rIns="0" bIns="0" rtlCol="0" anchor="ctr"/>
          <a:lstStyle/>
          <a:p>
            <a:pPr marL="0" indent="0">
              <a:lnSpc>
                <a:spcPct val="115000"/>
              </a:lnSpc>
              <a:buNone/>
            </a:pPr>
            <a:r>
              <a:rPr lang="en-US" sz="1450" b="1" dirty="0">
                <a:solidFill>
                  <a:schemeClr val="bg1"/>
                </a:solidFill>
                <a:latin typeface="Calibri" pitchFamily="34" charset="0"/>
                <a:ea typeface="Calibri" pitchFamily="34" charset="-122"/>
                <a:cs typeface="Calibri" pitchFamily="34" charset="-120"/>
              </a:rPr>
              <a:t>Directly enabled the LLM era — </a:t>
            </a:r>
            <a:r>
              <a:rPr lang="en-US" sz="1450" dirty="0">
                <a:solidFill>
                  <a:schemeClr val="bg1"/>
                </a:solidFill>
                <a:latin typeface="Calibri" pitchFamily="34" charset="0"/>
                <a:ea typeface="Calibri" pitchFamily="34" charset="-122"/>
                <a:cs typeface="Calibri" pitchFamily="34" charset="-120"/>
              </a:rPr>
              <a:t>BERT and GPT are this encoder and decoder stack, scaled up.</a:t>
            </a:r>
            <a:endParaRPr lang="en-US" sz="1450" dirty="0">
              <a:solidFill>
                <a:schemeClr val="bg1"/>
              </a:solidFill>
            </a:endParaRPr>
          </a:p>
        </p:txBody>
      </p:sp>
      <p:sp>
        <p:nvSpPr>
          <p:cNvPr id="10" name="Shape 8"/>
          <p:cNvSpPr/>
          <p:nvPr/>
        </p:nvSpPr>
        <p:spPr>
          <a:xfrm>
            <a:off x="548640" y="4059936"/>
            <a:ext cx="128016" cy="128016"/>
          </a:xfrm>
          <a:prstGeom prst="line">
            <a:avLst/>
          </a:prstGeom>
          <a:solidFill>
            <a:srgbClr val="D68910"/>
          </a:solidFill>
          <a:ln/>
        </p:spPr>
      </p:sp>
      <p:sp>
        <p:nvSpPr>
          <p:cNvPr id="11" name="Text 9"/>
          <p:cNvSpPr/>
          <p:nvPr/>
        </p:nvSpPr>
        <p:spPr>
          <a:xfrm>
            <a:off x="868680" y="3904488"/>
            <a:ext cx="10241280" cy="548640"/>
          </a:xfrm>
          <a:prstGeom prst="rect">
            <a:avLst/>
          </a:prstGeom>
          <a:noFill/>
          <a:ln/>
        </p:spPr>
        <p:txBody>
          <a:bodyPr wrap="square" lIns="0" tIns="0" rIns="0" bIns="0" rtlCol="0" anchor="ctr"/>
          <a:lstStyle/>
          <a:p>
            <a:pPr marL="0" indent="0">
              <a:lnSpc>
                <a:spcPct val="115000"/>
              </a:lnSpc>
              <a:buNone/>
            </a:pPr>
            <a:r>
              <a:rPr lang="en-US" sz="1450" b="1" dirty="0">
                <a:solidFill>
                  <a:schemeClr val="bg1"/>
                </a:solidFill>
                <a:latin typeface="Calibri" pitchFamily="34" charset="0"/>
                <a:ea typeface="Calibri" pitchFamily="34" charset="-122"/>
                <a:cs typeface="Calibri" pitchFamily="34" charset="-120"/>
              </a:rPr>
              <a:t>Directly enabled modern computer vision — </a:t>
            </a:r>
            <a:r>
              <a:rPr lang="en-US" sz="1450" dirty="0">
                <a:solidFill>
                  <a:schemeClr val="bg1"/>
                </a:solidFill>
                <a:latin typeface="Calibri" pitchFamily="34" charset="0"/>
                <a:ea typeface="Calibri" pitchFamily="34" charset="-122"/>
                <a:cs typeface="Calibri" pitchFamily="34" charset="-120"/>
              </a:rPr>
              <a:t>Vision Transformers apply this exact encoder to image patches.</a:t>
            </a:r>
            <a:endParaRPr lang="en-US" sz="1450" dirty="0">
              <a:solidFill>
                <a:schemeClr val="bg1"/>
              </a:solidFill>
            </a:endParaRPr>
          </a:p>
        </p:txBody>
      </p:sp>
      <p:sp>
        <p:nvSpPr>
          <p:cNvPr id="12" name="Shape 10"/>
          <p:cNvSpPr/>
          <p:nvPr/>
        </p:nvSpPr>
        <p:spPr>
          <a:xfrm>
            <a:off x="548640" y="4718304"/>
            <a:ext cx="128016" cy="128016"/>
          </a:xfrm>
          <a:prstGeom prst="line">
            <a:avLst/>
          </a:prstGeom>
          <a:solidFill>
            <a:srgbClr val="D68910"/>
          </a:solidFill>
          <a:ln/>
        </p:spPr>
      </p:sp>
      <p:sp>
        <p:nvSpPr>
          <p:cNvPr id="13" name="Text 11"/>
          <p:cNvSpPr/>
          <p:nvPr/>
        </p:nvSpPr>
        <p:spPr>
          <a:xfrm>
            <a:off x="868680" y="4562856"/>
            <a:ext cx="10241280" cy="548640"/>
          </a:xfrm>
          <a:prstGeom prst="rect">
            <a:avLst/>
          </a:prstGeom>
          <a:noFill/>
          <a:ln/>
        </p:spPr>
        <p:txBody>
          <a:bodyPr wrap="square" lIns="0" tIns="0" rIns="0" bIns="0" rtlCol="0" anchor="ctr"/>
          <a:lstStyle/>
          <a:p>
            <a:pPr marL="0" indent="0">
              <a:lnSpc>
                <a:spcPct val="115000"/>
              </a:lnSpc>
              <a:buNone/>
            </a:pPr>
            <a:r>
              <a:rPr lang="en-US" sz="1450" b="1" dirty="0">
                <a:solidFill>
                  <a:schemeClr val="bg1"/>
                </a:solidFill>
                <a:latin typeface="Calibri" pitchFamily="34" charset="0"/>
                <a:ea typeface="Calibri" pitchFamily="34" charset="-122"/>
                <a:cs typeface="Calibri" pitchFamily="34" charset="-120"/>
              </a:rPr>
              <a:t>Powers today's multimodal AI — </a:t>
            </a:r>
            <a:r>
              <a:rPr lang="en-US" sz="1450" dirty="0">
                <a:solidFill>
                  <a:schemeClr val="bg1"/>
                </a:solidFill>
                <a:latin typeface="Calibri" pitchFamily="34" charset="0"/>
                <a:ea typeface="Calibri" pitchFamily="34" charset="-122"/>
                <a:cs typeface="Calibri" pitchFamily="34" charset="-120"/>
              </a:rPr>
              <a:t>CLIP and SAM both build on Transformer-style attention across modalities.</a:t>
            </a:r>
            <a:endParaRPr lang="en-US" sz="1450" dirty="0">
              <a:solidFill>
                <a:schemeClr val="bg1"/>
              </a:solidFill>
            </a:endParaRPr>
          </a:p>
        </p:txBody>
      </p:sp>
      <p:sp>
        <p:nvSpPr>
          <p:cNvPr id="14" name="Shape 12"/>
          <p:cNvSpPr/>
          <p:nvPr/>
        </p:nvSpPr>
        <p:spPr>
          <a:xfrm>
            <a:off x="548640" y="5486400"/>
            <a:ext cx="2926080" cy="0"/>
          </a:xfrm>
          <a:prstGeom prst="line">
            <a:avLst/>
          </a:prstGeom>
          <a:noFill/>
          <a:ln w="19050">
            <a:solidFill>
              <a:schemeClr val="accent2"/>
            </a:solidFill>
            <a:prstDash val="solid"/>
          </a:ln>
        </p:spPr>
      </p:sp>
      <p:sp>
        <p:nvSpPr>
          <p:cNvPr id="15" name="Text 13"/>
          <p:cNvSpPr/>
          <p:nvPr/>
        </p:nvSpPr>
        <p:spPr>
          <a:xfrm>
            <a:off x="548640" y="5669280"/>
            <a:ext cx="10241280" cy="822960"/>
          </a:xfrm>
          <a:prstGeom prst="rect">
            <a:avLst/>
          </a:prstGeom>
          <a:noFill/>
          <a:ln/>
        </p:spPr>
        <p:txBody>
          <a:bodyPr wrap="square" lIns="0" tIns="0" rIns="0" bIns="0" rtlCol="0" anchor="ctr"/>
          <a:lstStyle/>
          <a:p>
            <a:pPr marL="0" indent="0">
              <a:lnSpc>
                <a:spcPct val="125000"/>
              </a:lnSpc>
              <a:buNone/>
            </a:pPr>
            <a:r>
              <a:rPr lang="en-US" sz="1500" i="1" dirty="0">
                <a:solidFill>
                  <a:srgbClr val="FFFFFF"/>
                </a:solidFill>
                <a:latin typeface="Calibri" pitchFamily="34" charset="0"/>
                <a:ea typeface="Calibri" pitchFamily="34" charset="-122"/>
                <a:cs typeface="Calibri" pitchFamily="34" charset="-120"/>
              </a:rPr>
              <a:t>“Attention Is All You Need” didn't just propose a better translation model — it gave the field a single mechanism general enough to become the foundation for language, vision, and multimodal AI.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596</TotalTime>
  <Words>5985</Words>
  <Application>Microsoft Office PowerPoint</Application>
  <PresentationFormat>Widescreen</PresentationFormat>
  <Paragraphs>330</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Vardhan Velamakanni</cp:lastModifiedBy>
  <cp:revision>3</cp:revision>
  <dcterms:created xsi:type="dcterms:W3CDTF">2026-07-11T07:09:55Z</dcterms:created>
  <dcterms:modified xsi:type="dcterms:W3CDTF">2026-07-11T17:14:00Z</dcterms:modified>
</cp:coreProperties>
</file>